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We're Daniel and Mattias, and today we're going to present our project Förseningskartan — 'The Delay Map'. It's a web app that lets you explore public transport delays in Stockholm, both live departures and historical delay statistics. It's live right now at forseningskartan.web.app. We're honoured that it won a UX prize, and today we want to share the design choices and implementation decisions that helped us get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all been there — waiting at a bus stop, wondering: is this bus always late, or am I just unlucky? Stockholm's transit operator SL provides real-time departure boards, but there's no easy way to see if a route is systematically delayed — and there's certainly no tool that combines live departures with historical delay data. That's the gap Förseningskartan fills. We wanted to answer the question: What is happening right now, and what usually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app. At its core, Förseningskartan is a map-based interface. Every dot on the map is a transit stop point — colour-coded by mode: blue for metro, red for bus, green for tram, and so on. You can filter which modes to show, and even hide stops that currently have no departures. Clicking a stop opens a live departure panel showing upcoming arrivals with their delays. You can search and filter within the departure list, and you can favorite stops for quick access. But the real differentiator is the historical view. You can navigate to the route delay page to see how delayed a specific route has been historically — with both a leaderboard of the most delayed routes and a trend chart showing delays by day or by hour. The app supports three colour themes, two languages, user accounts with Google sign-in, and persisted preferences. It's also mobile-responsive.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three main components. First, the frontend — a React app built with TypeScript and Vite, using Material UI for components and Leaflet for the interactive map. State management is handled by Redux. Second, the backend — a Go API that serves aggregated historical delay data from a PostgreSQL database. It exposes endpoints for stop delays, route delays, delay trends, and available data dates. Third, the GTFS aggregation pipeline — another Go service running as a cron job. It downloads GTFS Realtime trip update data from SL, parses it, aggregates delay statistics per stop and per route, and writes the results to PostgreSQL. This runs daily so the historical data stays fresh. User authentication and preferences are handled by Firebase — Google sign-in, and Firestore for persisting things like favorite stops, theme, language, and search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our most important architecture decisions was adopting a strict Model–View–Presenter pattern — which was also a course requirement, but we took it seriously and iterated on it multiple times. The Model is the Redux store — the single source of truth. Presenters handle all the data fetching, API calls, and business logic. Views are pure rendering components — they receive props and callbacks from presenters and just display things. This might sound simple, but early on we had state and controller logic leaking into views. We created issues #94, #95, and #96 specifically to address this. Later, in issues #144 and #166, we did two more cleanup passes to tighten the MVP boundaries even further — removing view composition from presenters, moving all UI state to Redux, and ensuring views had zero side effects. Why this matters for UX: strict separation made the UI predictable. Users experience fewer bugs when state is centralized and views are pure.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map-first design was a deliberate UX choice. When you're wondering about delays, you think spatially — 'what's around me?' — not in terms of route numbers. So the map is the primary navigation tool. The search bar overlays the map rather than living on a separate page, which keeps the spatial context. Your recent searches are remembered and shown as suggestions. We also added a geolocation button so you can instantly centre the map on your location. Stop markers are colour-coded by transport mode, and you can filter by mode or hide stops with no departures — something users explicitly asked for. This reduces visual noise. We use progressive disclosure: the map → clicking a stop → the departure panel → and from there a button takes you to detailed route delay statistics. Each step reveals more detail without overwhelming the user upfront.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two formal user consultations — one during prototyping and one during evaluation — and both directly shaped the app. In the prototyping consultation, users said the departure list was too long and hard to scan. They suggested grouping by transport mode and adding filters. We implemented both in issue #43. They also wanted to see that departures were clickable — so we added visual affordances like arrows and hover states. In the evaluation consultation, we got six pieces of feedback. Let me highlight three: First, a user with a US keyboard searched for 'Fruangen' without the accent, and got no results. We implemented accent-insensitive search so 'Fruangen' now correctly shows 'Fruängen'. Second, a user noted that stop circles got absurdly small at high zoom levels. We added a minimum size. Third — and this was the big one — a user said 'mobile is pretty much unusable'. This kicked off issue #154, where we made the departure panel fullscreen on mobile, hid overlapping UI elements, stacked controls vertically, and adjusted the trend charts. The before/after images speak for themselves. Key takeaway: user consultations aren't a checkbox — they're a design tool. Every round of feedback led to measurable UX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Personalization was a major UX focus. Users can sign in with Google and get features like favorite stops — star a stop in the departure view and it appears in the sidebar for quick access. All preferences — theme, language, search history, map filters — are persisted to Firestore. This means your settings follow you across devices. We went even further with live persistence: if you change a preference in one browser tab, the change is instantly reflected in every other open tab via Firestore real-time listeners. This might sound like a small thing, but it makes the app feel modern and polished. We also added a first-visit intro guide that walks new users through the key features. It only shows once and the dismissal state is persisted, so returning users aren't bothered.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three full colour themes — light, dark, and a blue accent mode — using Material UI's theming system. Each theme is defined as a complete MUI theme object, so every component in the app respects the chosen palette consistently. We also implemented full Swedish and English translations. This is important for a Stockholm-focused app where the user base is bilingual. The language preference is of course persisted. These might seem like 'nice-to-haves', but in a UX prize context, they signal attention to detail and respect for user preferences.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more technically interesting parts of the project is the data pipeline. SL publishes GTFS Realtime data — a standard format with protobuf-encoded trip updates. Our Go aggregation pipeline downloads this data daily, parses it, and aggregates delay statistics per stop, per route, and per hour. This wasn't trivial. We hit a memory crash early on — the cron job ran out of memory processing large datasets, which we fixed by optimising data structures. We also had timezone bugs where by-hour data incorrectly included departures from the previous day. A major architectural shift happened mid-project: we initially stored aggregated data in Firestore, but the query limitations and cost made it impractical. So we migrated to a self-hosted PostgreSQL database with a Go REST API, which gave us far more powerful queries and better scalability. That was a four-issue refactor: issues #49 through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tracked all work using GitHub Issues and a project board. Over the project, we created about 170 issues — every feature, bug, refactor, and stretch goal was tracked. We used feature branches with pull requests and code review. GitHub Copilot helped as a first-pass reviewer, but we always did manual review to make sure we understood and agreed with every change. CI/CD ran via GitHub Actions — linting, testing, and formatting checks on every push. For local development, Docker Compose spins up the full stack: PostgreSQL, the aggregation pipeline, and the backend API. The project ran roughly from early March to mid-May, with distinct phases: foundation, core features, polish, and final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AI tools throughout the project — for code generation, merge conflict resolution, adding translations, and even architecture review. But the key principle was: AI as an accelerator, not an autopilot. Every piece of generated code was reviewed, understood, and often refactored to match our conventions. One interesting use was asking the AI to review our codebase for MVP architecture violations — it found real issues that we then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summary of the UX decisions that, together, made the experience feel polished and thoughtful. No single feature won the prize — it's the combination of all these decisions. Each one addresses a specific user need, and many came directly from user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wasn't smooth sailing. Our biggest mid-project challenge was realising Firestore couldn't handle the queries we needed for historical data, so we had to build a full Go backend and migrate to PostgreSQL. In hindsight, we should have evaluated storage requirements earlier. Timezone bugs bit us multiple times — the GTFS data is in UTC, SL's schedules use Stockholm time, and our cron job had its own timezone setting. Getting all three to agree took several debugging sessions. Mobile responsiveness was initially an afterthought. It took a user saying 'mobile is pretty much unusable' to prioritise it. Lesson learned: test on mobile early and often. And keeping strict MVP architecture discipline required constant effort. It's easy for a quick useState or API call to sneak into a view. We did five refactoring passes over the project to keep things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started over, we'd design mobile-first from day one, evaluate our data storage needs more carefully before committing to a stack, and invest more in automated and end-to-end testing early in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Förseningskartan! The app is live — feel free to try it out. The source code is on GitHub. Thank you for listening, and we're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6858000" y="-457200"/>
            <a:ext cx="2743200" cy="2743200"/>
          </a:xfrm>
          <a:prstGeom prst="ellipse">
            <a:avLst/>
          </a:prstGeom>
          <a:solidFill>
            <a:srgbClr val="38BDF8">
              <a:alpha val="10000"/>
            </a:srgbClr>
          </a:solidFill>
          <a:ln w="12700">
            <a:solidFill>
              <a:srgbClr val="333333"/>
            </a:solidFill>
            <a:prstDash val="solid"/>
          </a:ln>
        </p:spPr>
      </p:sp>
      <p:sp>
        <p:nvSpPr>
          <p:cNvPr id="3" name="Shape 1"/>
          <p:cNvSpPr/>
          <p:nvPr/>
        </p:nvSpPr>
        <p:spPr>
          <a:xfrm>
            <a:off x="7315200" y="0"/>
            <a:ext cx="1828800" cy="1828800"/>
          </a:xfrm>
          <a:prstGeom prst="ellipse">
            <a:avLst/>
          </a:prstGeom>
          <a:solidFill>
            <a:srgbClr val="38BDF8">
              <a:alpha val="15000"/>
            </a:srgbClr>
          </a:solidFill>
          <a:ln w="12700">
            <a:solidFill>
              <a:srgbClr val="333333"/>
            </a:solidFill>
            <a:prstDash val="solid"/>
          </a:ln>
        </p:spPr>
      </p:sp>
      <p:sp>
        <p:nvSpPr>
          <p:cNvPr id="4" name="Text 2"/>
          <p:cNvSpPr/>
          <p:nvPr/>
        </p:nvSpPr>
        <p:spPr>
          <a:xfrm>
            <a:off x="731520" y="1463040"/>
            <a:ext cx="6400800" cy="182880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FÖRSENINGSKARTAN
</a:t>
            </a:r>
            <a:endParaRPr lang="en-US" sz="4400" dirty="0"/>
          </a:p>
          <a:p>
            <a:pPr indent="0" marL="0">
              <a:buNone/>
            </a:pPr>
            <a:r>
              <a:rPr lang="en-US" sz="1800" b="1" dirty="0">
                <a:solidFill>
                  <a:srgbClr val="38BDF8"/>
                </a:solidFill>
                <a:latin typeface="Calibri" pitchFamily="34" charset="0"/>
                <a:ea typeface="Calibri" pitchFamily="34" charset="-122"/>
                <a:cs typeface="Calibri" pitchFamily="34" charset="-120"/>
              </a:rPr>
              <a:t>Exploring Public Transport Delays in Stockholm — Live &amp; Historical</a:t>
            </a:r>
            <a:endParaRPr lang="en-US" sz="4400" dirty="0"/>
          </a:p>
        </p:txBody>
      </p:sp>
      <p:sp>
        <p:nvSpPr>
          <p:cNvPr id="5" name="Text 3"/>
          <p:cNvSpPr/>
          <p:nvPr/>
        </p:nvSpPr>
        <p:spPr>
          <a:xfrm>
            <a:off x="731520" y="3291840"/>
            <a:ext cx="6400800" cy="1097280"/>
          </a:xfrm>
          <a:prstGeom prst="rect">
            <a:avLst/>
          </a:prstGeom>
          <a:noFill/>
          <a:ln/>
        </p:spPr>
        <p:txBody>
          <a:bodyPr wrap="square" lIns="0" tIns="0" rIns="0" bIns="0" rtlCol="0" anchor="ctr"/>
          <a:lstStyle/>
          <a:p>
            <a:pPr indent="0" marL="0">
              <a:buNone/>
            </a:pPr>
            <a:r>
              <a:rPr lang="en-US" sz="1200" b="1" dirty="0">
                <a:solidFill>
                  <a:srgbClr val="CBD5E1"/>
                </a:solidFill>
                <a:latin typeface="Calibri" pitchFamily="34" charset="0"/>
                <a:ea typeface="Calibri" pitchFamily="34" charset="-122"/>
                <a:cs typeface="Calibri" pitchFamily="34" charset="-120"/>
              </a:rPr>
              <a:t>Course: </a:t>
            </a:r>
            <a:pPr indent="0" marL="0">
              <a:buNone/>
            </a:pPr>
            <a:r>
              <a:rPr lang="en-US" sz="1200" dirty="0">
                <a:solidFill>
                  <a:srgbClr val="CBD5E1"/>
                </a:solidFill>
                <a:latin typeface="Calibri" pitchFamily="34" charset="0"/>
                <a:ea typeface="Calibri" pitchFamily="34" charset="-122"/>
                <a:cs typeface="Calibri" pitchFamily="34" charset="-120"/>
              </a:rPr>
              <a:t>Interaction Programming and the Dynamic Web (DH2642) @ KTH
</a:t>
            </a:r>
            <a:endParaRPr lang="en-US" sz="1200" dirty="0"/>
          </a:p>
          <a:p>
            <a:pPr indent="0" marL="0">
              <a:buNone/>
            </a:pPr>
            <a:r>
              <a:rPr lang="en-US" sz="1200" b="1" dirty="0">
                <a:solidFill>
                  <a:srgbClr val="CBD5E1"/>
                </a:solidFill>
                <a:latin typeface="Calibri" pitchFamily="34" charset="0"/>
                <a:ea typeface="Calibri" pitchFamily="34" charset="-122"/>
                <a:cs typeface="Calibri" pitchFamily="34" charset="-120"/>
              </a:rPr>
              <a:t>Authors: </a:t>
            </a:r>
            <a:pPr indent="0" marL="0">
              <a:buNone/>
            </a:pPr>
            <a:r>
              <a:rPr lang="en-US" sz="1200" dirty="0">
                <a:solidFill>
                  <a:srgbClr val="CBD5E1"/>
                </a:solidFill>
                <a:latin typeface="Calibri" pitchFamily="34" charset="0"/>
                <a:ea typeface="Calibri" pitchFamily="34" charset="-122"/>
                <a:cs typeface="Calibri" pitchFamily="34" charset="-120"/>
              </a:rPr>
              <a:t>Daniel Ruijs &amp; Mattias Kvist
</a:t>
            </a:r>
            <a:endParaRPr lang="en-US" sz="1200" dirty="0"/>
          </a:p>
          <a:p>
            <a:pPr indent="0" marL="0">
              <a:buNone/>
            </a:pPr>
            <a:r>
              <a:rPr lang="en-US" sz="1200" b="1" dirty="0">
                <a:solidFill>
                  <a:srgbClr val="CBD5E1"/>
                </a:solidFill>
                <a:latin typeface="Calibri" pitchFamily="34" charset="0"/>
                <a:ea typeface="Calibri" pitchFamily="34" charset="-122"/>
                <a:cs typeface="Calibri" pitchFamily="34" charset="-120"/>
              </a:rPr>
              <a:t>URL: </a:t>
            </a:r>
            <a:pPr indent="0" marL="0">
              <a:buNone/>
            </a:pPr>
            <a:r>
              <a:rPr lang="en-US" sz="1200" b="1" dirty="0">
                <a:solidFill>
                  <a:srgbClr val="38BDF8"/>
                </a:solidFill>
                <a:latin typeface="Calibri" pitchFamily="34" charset="0"/>
                <a:ea typeface="Calibri" pitchFamily="34" charset="-122"/>
                <a:cs typeface="Calibri" pitchFamily="34" charset="-120"/>
              </a:rPr>
              <a:t>forseningskartan.web.app</a:t>
            </a:r>
            <a:endParaRPr lang="en-US" sz="1200" dirty="0"/>
          </a:p>
        </p:txBody>
      </p:sp>
      <p:sp>
        <p:nvSpPr>
          <p:cNvPr id="6" name="Text 4"/>
          <p:cNvSpPr/>
          <p:nvPr/>
        </p:nvSpPr>
        <p:spPr>
          <a:xfrm>
            <a:off x="457200" y="4800600"/>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Förseningskartan | UX Prize Presentation</a:t>
            </a:r>
            <a:endParaRPr lang="en-US" sz="1000" dirty="0"/>
          </a:p>
        </p:txBody>
      </p:sp>
      <p:sp>
        <p:nvSpPr>
          <p:cNvPr id="7" name="Text 5"/>
          <p:cNvSpPr/>
          <p:nvPr/>
        </p:nvSpPr>
        <p:spPr>
          <a:xfrm>
            <a:off x="7315200" y="4800600"/>
            <a:ext cx="13716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Slide 1 of 16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28090"/>
                </a:solidFill>
                <a:latin typeface="Calibri" pitchFamily="34" charset="0"/>
                <a:ea typeface="Calibri" pitchFamily="34" charset="-122"/>
                <a:cs typeface="Calibri" pitchFamily="34" charset="-120"/>
              </a:rPr>
              <a:t>CONTEXT</a:t>
            </a:r>
            <a:endParaRPr lang="en-US" sz="1000" dirty="0"/>
          </a:p>
        </p:txBody>
      </p:sp>
      <p:sp>
        <p:nvSpPr>
          <p:cNvPr id="3" name="Text 1"/>
          <p:cNvSpPr/>
          <p:nvPr/>
        </p:nvSpPr>
        <p:spPr>
          <a:xfrm>
            <a:off x="457200" y="502920"/>
            <a:ext cx="8229600" cy="411480"/>
          </a:xfrm>
          <a:prstGeom prst="rect">
            <a:avLst/>
          </a:prstGeom>
          <a:noFill/>
          <a:ln/>
        </p:spPr>
        <p:txBody>
          <a:bodyPr wrap="square" lIns="0" tIns="0" rIns="0" bIns="0"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The Problem &amp; Motivation</a:t>
            </a:r>
            <a:endParaRPr lang="en-US" sz="2600" dirty="0"/>
          </a:p>
        </p:txBody>
      </p:sp>
      <p:sp>
        <p:nvSpPr>
          <p:cNvPr id="4" name="Text 2"/>
          <p:cNvSpPr/>
          <p:nvPr/>
        </p:nvSpPr>
        <p:spPr>
          <a:xfrm>
            <a:off x="457200" y="1097280"/>
            <a:ext cx="3840480" cy="137160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The Commuter's Dilemma
</a:t>
            </a:r>
            <a:endParaRPr lang="en-US" sz="1800" dirty="0"/>
          </a:p>
          <a:p>
            <a:pPr indent="0" marL="0">
              <a:buNone/>
            </a:pPr>
            <a:r>
              <a:rPr lang="en-US" sz="1300" dirty="0">
                <a:solidFill>
                  <a:srgbClr val="475569"/>
                </a:solidFill>
                <a:latin typeface="Calibri" pitchFamily="34" charset="0"/>
                <a:ea typeface="Calibri" pitchFamily="34" charset="-122"/>
                <a:cs typeface="Calibri" pitchFamily="34" charset="-120"/>
              </a:rPr>
              <a:t>We've all stood at a stop asking ourselves: Is this line always late? How late? Is it worse on Fridays or during rush hour?
</a:t>
            </a:r>
            <a:endParaRPr lang="en-US" sz="1800" dirty="0"/>
          </a:p>
          <a:p>
            <a:pPr indent="0" marL="0">
              <a:buNone/>
            </a:pPr>
            <a:r>
              <a:rPr lang="en-US" sz="1800" b="1" dirty="0">
                <a:solidFill>
                  <a:srgbClr val="0F172A"/>
                </a:solidFill>
                <a:latin typeface="Trebuchet MS" pitchFamily="34" charset="0"/>
                <a:ea typeface="Trebuchet MS" pitchFamily="34" charset="-122"/>
                <a:cs typeface="Trebuchet MS" pitchFamily="34" charset="-120"/>
              </a:rPr>
              <a:t>What's Missing in Existing Tools?</a:t>
            </a:r>
            <a:endParaRPr lang="en-US" sz="1800" dirty="0"/>
          </a:p>
        </p:txBody>
      </p:sp>
      <p:sp>
        <p:nvSpPr>
          <p:cNvPr id="5" name="Text 3"/>
          <p:cNvSpPr/>
          <p:nvPr/>
        </p:nvSpPr>
        <p:spPr>
          <a:xfrm>
            <a:off x="457200" y="2560320"/>
            <a:ext cx="3840480" cy="1828800"/>
          </a:xfrm>
          <a:prstGeom prst="rect">
            <a:avLst/>
          </a:prstGeom>
          <a:noFill/>
          <a:ln/>
        </p:spPr>
        <p:txBody>
          <a:bodyPr wrap="square" lIns="0" tIns="0" rIns="0" bIns="0" rtlCol="0" anchor="ctr"/>
          <a:lstStyle/>
          <a:p>
            <a:pPr marL="127000" indent="-127000">
              <a:spcAft>
                <a:spcPts val="800"/>
              </a:spcAft>
              <a:buSzPct val="100000"/>
              <a:buChar char="•"/>
            </a:pPr>
            <a:r>
              <a:rPr lang="en-US" sz="1300" dirty="0">
                <a:solidFill>
                  <a:srgbClr val="475569"/>
                </a:solidFill>
                <a:latin typeface="Calibri" pitchFamily="34" charset="0"/>
                <a:ea typeface="Calibri" pitchFamily="34" charset="-122"/>
                <a:cs typeface="Calibri" pitchFamily="34" charset="-120"/>
              </a:rPr>
              <a:t>SL provides real-time boards, but no historical data or patterns.</a:t>
            </a:r>
            <a:endParaRPr lang="en-US" sz="1300" dirty="0"/>
          </a:p>
          <a:p>
            <a:pPr marL="127000" indent="-127000">
              <a:spcAft>
                <a:spcPts val="800"/>
              </a:spcAft>
              <a:buSzPct val="100000"/>
              <a:buChar char="•"/>
            </a:pPr>
            <a:r>
              <a:rPr lang="en-US" sz="1300" dirty="0">
                <a:solidFill>
                  <a:srgbClr val="475569"/>
                </a:solidFill>
                <a:latin typeface="Calibri" pitchFamily="34" charset="0"/>
                <a:ea typeface="Calibri" pitchFamily="34" charset="-122"/>
                <a:cs typeface="Calibri" pitchFamily="34" charset="-120"/>
              </a:rPr>
              <a:t>Commuters have no way to know if delays are systematic.</a:t>
            </a:r>
            <a:endParaRPr lang="en-US" sz="1300" dirty="0"/>
          </a:p>
          <a:p>
            <a:pPr marL="127000" indent="-127000">
              <a:spcAft>
                <a:spcPts val="800"/>
              </a:spcAft>
              <a:buSzPct val="100000"/>
              <a:buChar char="•"/>
            </a:pPr>
            <a:r>
              <a:rPr lang="en-US" sz="1300" dirty="0">
                <a:solidFill>
                  <a:srgbClr val="475569"/>
                </a:solidFill>
                <a:latin typeface="Calibri" pitchFamily="34" charset="0"/>
                <a:ea typeface="Calibri" pitchFamily="34" charset="-122"/>
                <a:cs typeface="Calibri" pitchFamily="34" charset="-120"/>
              </a:rPr>
              <a:t>No existing tools combine live departures and historical statistics in one place.</a:t>
            </a:r>
            <a:endParaRPr lang="en-US" sz="1300" dirty="0"/>
          </a:p>
        </p:txBody>
      </p:sp>
      <p:sp>
        <p:nvSpPr>
          <p:cNvPr id="6" name="Shape 4"/>
          <p:cNvSpPr/>
          <p:nvPr/>
        </p:nvSpPr>
        <p:spPr>
          <a:xfrm>
            <a:off x="4754880" y="1097280"/>
            <a:ext cx="3931920" cy="3291840"/>
          </a:xfrm>
          <a:prstGeom prst="rect">
            <a:avLst/>
          </a:prstGeom>
          <a:solidFill>
            <a:srgbClr val="0F172A"/>
          </a:solidFill>
          <a:ln w="12700">
            <a:solidFill>
              <a:srgbClr val="333333"/>
            </a:solidFill>
            <a:prstDash val="solid"/>
          </a:ln>
          <a:effectLst>
            <a:outerShdw sx="100000" sy="100000" kx="0" ky="0" algn="bl" rotWithShape="0" blurRad="50800" dist="25400" dir="8100000">
              <a:srgbClr val="000000">
                <a:alpha val="12000"/>
              </a:srgbClr>
            </a:outerShdw>
          </a:effectLst>
        </p:spPr>
      </p:sp>
      <p:sp>
        <p:nvSpPr>
          <p:cNvPr id="7" name="Text 5"/>
          <p:cNvSpPr/>
          <p:nvPr/>
        </p:nvSpPr>
        <p:spPr>
          <a:xfrm>
            <a:off x="5029200" y="1371600"/>
            <a:ext cx="3383280" cy="2743200"/>
          </a:xfrm>
          <a:prstGeom prst="rect">
            <a:avLst/>
          </a:prstGeom>
          <a:noFill/>
          <a:ln/>
        </p:spPr>
        <p:txBody>
          <a:bodyPr wrap="square" lIns="0" tIns="0" rIns="0" bIns="0" rtlCol="0" anchor="ctr"/>
          <a:lstStyle/>
          <a:p>
            <a:pPr indent="0" marL="0">
              <a:buNone/>
            </a:pPr>
            <a:r>
              <a:rPr lang="en-US" sz="1200" b="1" spc="300" kern="0" dirty="0">
                <a:solidFill>
                  <a:srgbClr val="38BDF8"/>
                </a:solidFill>
                <a:latin typeface="Calibri" pitchFamily="34" charset="0"/>
                <a:ea typeface="Calibri" pitchFamily="34" charset="-122"/>
                <a:cs typeface="Calibri" pitchFamily="34" charset="-120"/>
              </a:rPr>
              <a:t>THE CORE QUESTION
</a:t>
            </a:r>
            <a:endParaRPr lang="en-US" sz="1200" dirty="0"/>
          </a:p>
          <a:p>
            <a:pPr indent="0" marL="0">
              <a:buNone/>
            </a:pPr>
            <a:r>
              <a:rPr lang="en-US" sz="2200" b="1" i="1" dirty="0">
                <a:solidFill>
                  <a:srgbClr val="FFFFFF"/>
                </a:solidFill>
                <a:latin typeface="Trebuchet MS" pitchFamily="34" charset="0"/>
                <a:ea typeface="Trebuchet MS" pitchFamily="34" charset="-122"/>
                <a:cs typeface="Trebuchet MS" pitchFamily="34" charset="-120"/>
              </a:rPr>
              <a:t>"Is my bus usually late? How late?
Is it worse at certain times?"
</a:t>
            </a:r>
            <a:endParaRPr lang="en-US" sz="1200" dirty="0"/>
          </a:p>
          <a:p>
            <a:pPr indent="0" marL="0">
              <a:buNone/>
            </a:pPr>
            <a:r>
              <a:rPr lang="en-US" sz="1300" dirty="0">
                <a:solidFill>
                  <a:srgbClr val="E0F2FE"/>
                </a:solidFill>
                <a:latin typeface="Calibri" pitchFamily="34" charset="0"/>
                <a:ea typeface="Calibri" pitchFamily="34" charset="-122"/>
                <a:cs typeface="Calibri" pitchFamily="34" charset="-120"/>
              </a:rPr>
              <a:t>Förseningskartan answers both: what is happening right now, and what usually happens.</a:t>
            </a:r>
            <a:endParaRPr lang="en-US" sz="1200" dirty="0"/>
          </a:p>
        </p:txBody>
      </p:sp>
      <p:sp>
        <p:nvSpPr>
          <p:cNvPr id="8" name="Text 6"/>
          <p:cNvSpPr/>
          <p:nvPr/>
        </p:nvSpPr>
        <p:spPr>
          <a:xfrm>
            <a:off x="457200" y="4800600"/>
            <a:ext cx="64008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Förseningskartan | UX Prize Presentation</a:t>
            </a:r>
            <a:endParaRPr lang="en-US" sz="1000" dirty="0"/>
          </a:p>
        </p:txBody>
      </p:sp>
      <p:sp>
        <p:nvSpPr>
          <p:cNvPr id="9" name="Text 7"/>
          <p:cNvSpPr/>
          <p:nvPr/>
        </p:nvSpPr>
        <p:spPr>
          <a:xfrm>
            <a:off x="7315200" y="4800600"/>
            <a:ext cx="13716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Slide 2 of 16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28090"/>
                </a:solidFill>
                <a:latin typeface="Calibri" pitchFamily="34" charset="0"/>
                <a:ea typeface="Calibri" pitchFamily="34" charset="-122"/>
                <a:cs typeface="Calibri" pitchFamily="34" charset="-120"/>
              </a:rPr>
              <a:t>LIVE DEMO</a:t>
            </a:r>
            <a:endParaRPr lang="en-US" sz="1000" dirty="0"/>
          </a:p>
        </p:txBody>
      </p:sp>
      <p:sp>
        <p:nvSpPr>
          <p:cNvPr id="3" name="Text 1"/>
          <p:cNvSpPr/>
          <p:nvPr/>
        </p:nvSpPr>
        <p:spPr>
          <a:xfrm>
            <a:off x="457200" y="502920"/>
            <a:ext cx="8229600" cy="411480"/>
          </a:xfrm>
          <a:prstGeom prst="rect">
            <a:avLst/>
          </a:prstGeom>
          <a:noFill/>
          <a:ln/>
        </p:spPr>
        <p:txBody>
          <a:bodyPr wrap="square" lIns="0" tIns="0" rIns="0" bIns="0"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App Tour: Combines Live &amp; Historical</a:t>
            </a:r>
            <a:endParaRPr lang="en-US" sz="2600" dirty="0"/>
          </a:p>
        </p:txBody>
      </p:sp>
      <p:sp>
        <p:nvSpPr>
          <p:cNvPr id="4" name="Shape 2"/>
          <p:cNvSpPr/>
          <p:nvPr/>
        </p:nvSpPr>
        <p:spPr>
          <a:xfrm>
            <a:off x="457200" y="1097280"/>
            <a:ext cx="2560320" cy="32918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5" name="Shape 3"/>
          <p:cNvSpPr/>
          <p:nvPr/>
        </p:nvSpPr>
        <p:spPr>
          <a:xfrm>
            <a:off x="457200" y="1097280"/>
            <a:ext cx="73152" cy="3291840"/>
          </a:xfrm>
          <a:prstGeom prst="rect">
            <a:avLst/>
          </a:prstGeom>
          <a:solidFill>
            <a:srgbClr val="1D4ED8"/>
          </a:solidFill>
          <a:ln w="12700">
            <a:solidFill>
              <a:srgbClr val="333333"/>
            </a:solidFill>
            <a:prstDash val="solid"/>
          </a:ln>
        </p:spPr>
      </p:sp>
      <p:sp>
        <p:nvSpPr>
          <p:cNvPr id="6" name="Text 4"/>
          <p:cNvSpPr/>
          <p:nvPr/>
        </p:nvSpPr>
        <p:spPr>
          <a:xfrm>
            <a:off x="640080" y="1280160"/>
            <a:ext cx="2286000" cy="45720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1. Map &amp; Search
</a:t>
            </a:r>
            <a:endParaRPr lang="en-US" sz="1600" dirty="0"/>
          </a:p>
        </p:txBody>
      </p:sp>
      <p:sp>
        <p:nvSpPr>
          <p:cNvPr id="7" name="Text 5"/>
          <p:cNvSpPr/>
          <p:nvPr/>
        </p:nvSpPr>
        <p:spPr>
          <a:xfrm>
            <a:off x="640080" y="1828800"/>
            <a:ext cx="2286000" cy="2377440"/>
          </a:xfrm>
          <a:prstGeom prst="rect">
            <a:avLst/>
          </a:prstGeom>
          <a:noFill/>
          <a:ln/>
        </p:spPr>
        <p:txBody>
          <a:bodyPr wrap="square" lIns="0" tIns="0" rIns="0" bIns="0" rtlCol="0" anchor="ctr"/>
          <a:lstStyle/>
          <a:p>
            <a:pPr marL="127000" indent="-1270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Interactive Leaflet Map containing SL transit stop points.</a:t>
            </a:r>
            <a:endParaRPr lang="en-US" sz="1200" dirty="0"/>
          </a:p>
          <a:p>
            <a:pPr marL="127000" indent="-1270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Stop markers color-coded by mode (Metro, Bus, Tram, Train).</a:t>
            </a:r>
            <a:endParaRPr lang="en-US" sz="1200" dirty="0"/>
          </a:p>
          <a:p>
            <a:pPr marL="127000" indent="-1270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Instant search bar with recent search history suggestion list.</a:t>
            </a:r>
            <a:endParaRPr lang="en-US" sz="1200" dirty="0"/>
          </a:p>
        </p:txBody>
      </p:sp>
      <p:sp>
        <p:nvSpPr>
          <p:cNvPr id="8" name="Shape 6"/>
          <p:cNvSpPr/>
          <p:nvPr/>
        </p:nvSpPr>
        <p:spPr>
          <a:xfrm>
            <a:off x="3291840" y="1097280"/>
            <a:ext cx="2560320" cy="32918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9" name="Shape 7"/>
          <p:cNvSpPr/>
          <p:nvPr/>
        </p:nvSpPr>
        <p:spPr>
          <a:xfrm>
            <a:off x="3291840" y="1097280"/>
            <a:ext cx="73152" cy="3291840"/>
          </a:xfrm>
          <a:prstGeom prst="rect">
            <a:avLst/>
          </a:prstGeom>
          <a:solidFill>
            <a:srgbClr val="DC2626"/>
          </a:solidFill>
          <a:ln w="12700">
            <a:solidFill>
              <a:srgbClr val="333333"/>
            </a:solidFill>
            <a:prstDash val="solid"/>
          </a:ln>
        </p:spPr>
      </p:sp>
      <p:sp>
        <p:nvSpPr>
          <p:cNvPr id="10" name="Text 8"/>
          <p:cNvSpPr/>
          <p:nvPr/>
        </p:nvSpPr>
        <p:spPr>
          <a:xfrm>
            <a:off x="3474720" y="1280160"/>
            <a:ext cx="2286000" cy="45720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2. Live Departures
</a:t>
            </a:r>
            <a:endParaRPr lang="en-US" sz="1600" dirty="0"/>
          </a:p>
        </p:txBody>
      </p:sp>
      <p:sp>
        <p:nvSpPr>
          <p:cNvPr id="11" name="Text 9"/>
          <p:cNvSpPr/>
          <p:nvPr/>
        </p:nvSpPr>
        <p:spPr>
          <a:xfrm>
            <a:off x="3474720" y="1828800"/>
            <a:ext cx="2286000" cy="2377440"/>
          </a:xfrm>
          <a:prstGeom prst="rect">
            <a:avLst/>
          </a:prstGeom>
          <a:noFill/>
          <a:ln/>
        </p:spPr>
        <p:txBody>
          <a:bodyPr wrap="square" lIns="0" tIns="0" rIns="0" bIns="0" rtlCol="0" anchor="ctr"/>
          <a:lstStyle/>
          <a:p>
            <a:pPr marL="127000" indent="-1270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Clicking stops opens a departure panel with real-time arrivals.</a:t>
            </a:r>
            <a:endParaRPr lang="en-US" sz="1200" dirty="0"/>
          </a:p>
          <a:p>
            <a:pPr marL="127000" indent="-1270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Filter departures by transport mode or specific lines.</a:t>
            </a:r>
            <a:endParaRPr lang="en-US" sz="1200" dirty="0"/>
          </a:p>
          <a:p>
            <a:pPr marL="127000" indent="-1270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Add frequently used stops to Google-persisted favorites list.</a:t>
            </a:r>
            <a:endParaRPr lang="en-US" sz="1200" dirty="0"/>
          </a:p>
        </p:txBody>
      </p:sp>
      <p:sp>
        <p:nvSpPr>
          <p:cNvPr id="12" name="Shape 10"/>
          <p:cNvSpPr/>
          <p:nvPr/>
        </p:nvSpPr>
        <p:spPr>
          <a:xfrm>
            <a:off x="6126480" y="1097280"/>
            <a:ext cx="2560320" cy="32918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13" name="Shape 11"/>
          <p:cNvSpPr/>
          <p:nvPr/>
        </p:nvSpPr>
        <p:spPr>
          <a:xfrm>
            <a:off x="6126480" y="1097280"/>
            <a:ext cx="73152" cy="3291840"/>
          </a:xfrm>
          <a:prstGeom prst="rect">
            <a:avLst/>
          </a:prstGeom>
          <a:solidFill>
            <a:srgbClr val="16A34A"/>
          </a:solidFill>
          <a:ln w="12700">
            <a:solidFill>
              <a:srgbClr val="333333"/>
            </a:solidFill>
            <a:prstDash val="solid"/>
          </a:ln>
        </p:spPr>
      </p:sp>
      <p:sp>
        <p:nvSpPr>
          <p:cNvPr id="14" name="Text 12"/>
          <p:cNvSpPr/>
          <p:nvPr/>
        </p:nvSpPr>
        <p:spPr>
          <a:xfrm>
            <a:off x="6309360" y="1280160"/>
            <a:ext cx="2286000" cy="45720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3. Delay Statistics
</a:t>
            </a:r>
            <a:endParaRPr lang="en-US" sz="1600" dirty="0"/>
          </a:p>
        </p:txBody>
      </p:sp>
      <p:sp>
        <p:nvSpPr>
          <p:cNvPr id="15" name="Text 13"/>
          <p:cNvSpPr/>
          <p:nvPr/>
        </p:nvSpPr>
        <p:spPr>
          <a:xfrm>
            <a:off x="6309360" y="1828800"/>
            <a:ext cx="2286000" cy="2377440"/>
          </a:xfrm>
          <a:prstGeom prst="rect">
            <a:avLst/>
          </a:prstGeom>
          <a:noFill/>
          <a:ln/>
        </p:spPr>
        <p:txBody>
          <a:bodyPr wrap="square" lIns="0" tIns="0" rIns="0" bIns="0" rtlCol="0" anchor="ctr"/>
          <a:lstStyle/>
          <a:p>
            <a:pPr marL="127000" indent="-1270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Historical statistics page displaying a route delay leaderboard.</a:t>
            </a:r>
            <a:endParaRPr lang="en-US" sz="1200" dirty="0"/>
          </a:p>
          <a:p>
            <a:pPr marL="127000" indent="-1270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Visual trend charts showing delay patterns by day or by hour.</a:t>
            </a:r>
            <a:endParaRPr lang="en-US" sz="1200" dirty="0"/>
          </a:p>
          <a:p>
            <a:pPr marL="127000" indent="-1270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Custom date range selections and filters for deeper exploration.</a:t>
            </a:r>
            <a:endParaRPr lang="en-US" sz="1200" dirty="0"/>
          </a:p>
        </p:txBody>
      </p:sp>
      <p:sp>
        <p:nvSpPr>
          <p:cNvPr id="16" name="Text 14"/>
          <p:cNvSpPr/>
          <p:nvPr/>
        </p:nvSpPr>
        <p:spPr>
          <a:xfrm>
            <a:off x="457200" y="4800600"/>
            <a:ext cx="64008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Förseningskartan | UX Prize Presentation</a:t>
            </a:r>
            <a:endParaRPr lang="en-US" sz="1000" dirty="0"/>
          </a:p>
        </p:txBody>
      </p:sp>
      <p:sp>
        <p:nvSpPr>
          <p:cNvPr id="17" name="Text 15"/>
          <p:cNvSpPr/>
          <p:nvPr/>
        </p:nvSpPr>
        <p:spPr>
          <a:xfrm>
            <a:off x="7315200" y="4800600"/>
            <a:ext cx="13716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Slide 3 of 16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28090"/>
                </a:solidFill>
                <a:latin typeface="Calibri" pitchFamily="34" charset="0"/>
                <a:ea typeface="Calibri" pitchFamily="34" charset="-122"/>
                <a:cs typeface="Calibri" pitchFamily="34" charset="-120"/>
              </a:rPr>
              <a:t>ARCHITECTURE</a:t>
            </a:r>
            <a:endParaRPr lang="en-US" sz="1000" dirty="0"/>
          </a:p>
        </p:txBody>
      </p:sp>
      <p:sp>
        <p:nvSpPr>
          <p:cNvPr id="3" name="Text 1"/>
          <p:cNvSpPr/>
          <p:nvPr/>
        </p:nvSpPr>
        <p:spPr>
          <a:xfrm>
            <a:off x="457200" y="502920"/>
            <a:ext cx="8229600" cy="411480"/>
          </a:xfrm>
          <a:prstGeom prst="rect">
            <a:avLst/>
          </a:prstGeom>
          <a:noFill/>
          <a:ln/>
        </p:spPr>
        <p:txBody>
          <a:bodyPr wrap="square" lIns="0" tIns="0" rIns="0" bIns="0"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System Architecture Overview</a:t>
            </a:r>
            <a:endParaRPr lang="en-US" sz="2600" dirty="0"/>
          </a:p>
        </p:txBody>
      </p:sp>
      <p:sp>
        <p:nvSpPr>
          <p:cNvPr id="4" name="Shape 2"/>
          <p:cNvSpPr/>
          <p:nvPr/>
        </p:nvSpPr>
        <p:spPr>
          <a:xfrm>
            <a:off x="457200" y="1188720"/>
            <a:ext cx="1828800" cy="91440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5" name="Shape 3"/>
          <p:cNvSpPr/>
          <p:nvPr/>
        </p:nvSpPr>
        <p:spPr>
          <a:xfrm>
            <a:off x="457200" y="1188720"/>
            <a:ext cx="54864" cy="914400"/>
          </a:xfrm>
          <a:prstGeom prst="rect">
            <a:avLst/>
          </a:prstGeom>
          <a:solidFill>
            <a:srgbClr val="028090"/>
          </a:solidFill>
          <a:ln w="12700">
            <a:solidFill>
              <a:srgbClr val="333333"/>
            </a:solidFill>
            <a:prstDash val="solid"/>
          </a:ln>
        </p:spPr>
      </p:sp>
      <p:sp>
        <p:nvSpPr>
          <p:cNvPr id="6" name="Text 4"/>
          <p:cNvSpPr/>
          <p:nvPr/>
        </p:nvSpPr>
        <p:spPr>
          <a:xfrm>
            <a:off x="566928" y="1261872"/>
            <a:ext cx="1664208" cy="768096"/>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Frontend Client
</a:t>
            </a:r>
            <a:endParaRPr lang="en-US" sz="1100" dirty="0"/>
          </a:p>
          <a:p>
            <a:pPr indent="0" marL="0">
              <a:buNone/>
            </a:pPr>
            <a:r>
              <a:rPr lang="en-US" sz="850" dirty="0">
                <a:solidFill>
                  <a:srgbClr val="475569"/>
                </a:solidFill>
                <a:latin typeface="Calibri" pitchFamily="34" charset="0"/>
                <a:ea typeface="Calibri" pitchFamily="34" charset="-122"/>
                <a:cs typeface="Calibri" pitchFamily="34" charset="-120"/>
              </a:rPr>
              <a:t>React, TypeScript, Vite, MUI</a:t>
            </a:r>
            <a:endParaRPr lang="en-US" sz="1100" dirty="0"/>
          </a:p>
          <a:p>
            <a:pPr indent="0" marL="0">
              <a:buNone/>
            </a:pPr>
            <a:r>
              <a:rPr lang="en-US" sz="850" dirty="0">
                <a:solidFill>
                  <a:srgbClr val="475569"/>
                </a:solidFill>
                <a:latin typeface="Calibri" pitchFamily="34" charset="0"/>
                <a:ea typeface="Calibri" pitchFamily="34" charset="-122"/>
                <a:cs typeface="Calibri" pitchFamily="34" charset="-120"/>
              </a:rPr>
              <a:t>Leaflet Map, Redux Store</a:t>
            </a:r>
            <a:endParaRPr lang="en-US" sz="1100" dirty="0"/>
          </a:p>
        </p:txBody>
      </p:sp>
      <p:sp>
        <p:nvSpPr>
          <p:cNvPr id="7" name="Shape 5"/>
          <p:cNvSpPr/>
          <p:nvPr/>
        </p:nvSpPr>
        <p:spPr>
          <a:xfrm>
            <a:off x="2651760" y="1188720"/>
            <a:ext cx="1737360" cy="91440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8" name="Shape 6"/>
          <p:cNvSpPr/>
          <p:nvPr/>
        </p:nvSpPr>
        <p:spPr>
          <a:xfrm>
            <a:off x="2651760" y="1188720"/>
            <a:ext cx="54864" cy="914400"/>
          </a:xfrm>
          <a:prstGeom prst="rect">
            <a:avLst/>
          </a:prstGeom>
          <a:solidFill>
            <a:srgbClr val="028090"/>
          </a:solidFill>
          <a:ln w="12700">
            <a:solidFill>
              <a:srgbClr val="333333"/>
            </a:solidFill>
            <a:prstDash val="solid"/>
          </a:ln>
        </p:spPr>
      </p:sp>
      <p:sp>
        <p:nvSpPr>
          <p:cNvPr id="9" name="Text 7"/>
          <p:cNvSpPr/>
          <p:nvPr/>
        </p:nvSpPr>
        <p:spPr>
          <a:xfrm>
            <a:off x="2761488" y="1261872"/>
            <a:ext cx="1572768" cy="768096"/>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Backend REST API
</a:t>
            </a:r>
            <a:endParaRPr lang="en-US" sz="1100" dirty="0"/>
          </a:p>
          <a:p>
            <a:pPr indent="0" marL="0">
              <a:buNone/>
            </a:pPr>
            <a:r>
              <a:rPr lang="en-US" sz="850" dirty="0">
                <a:solidFill>
                  <a:srgbClr val="475569"/>
                </a:solidFill>
                <a:latin typeface="Calibri" pitchFamily="34" charset="0"/>
                <a:ea typeface="Calibri" pitchFamily="34" charset="-122"/>
                <a:cs typeface="Calibri" pitchFamily="34" charset="-120"/>
              </a:rPr>
              <a:t>Go Service</a:t>
            </a:r>
            <a:endParaRPr lang="en-US" sz="1100" dirty="0"/>
          </a:p>
          <a:p>
            <a:pPr indent="0" marL="0">
              <a:buNone/>
            </a:pPr>
            <a:r>
              <a:rPr lang="en-US" sz="850" dirty="0">
                <a:solidFill>
                  <a:srgbClr val="475569"/>
                </a:solidFill>
                <a:latin typeface="Calibri" pitchFamily="34" charset="0"/>
                <a:ea typeface="Calibri" pitchFamily="34" charset="-122"/>
                <a:cs typeface="Calibri" pitchFamily="34" charset="-120"/>
              </a:rPr>
              <a:t>Serves aggregated delays</a:t>
            </a:r>
            <a:endParaRPr lang="en-US" sz="1100" dirty="0"/>
          </a:p>
        </p:txBody>
      </p:sp>
      <p:sp>
        <p:nvSpPr>
          <p:cNvPr id="10" name="Shape 8"/>
          <p:cNvSpPr/>
          <p:nvPr/>
        </p:nvSpPr>
        <p:spPr>
          <a:xfrm>
            <a:off x="2651760" y="2926080"/>
            <a:ext cx="1737360" cy="91440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11" name="Shape 9"/>
          <p:cNvSpPr/>
          <p:nvPr/>
        </p:nvSpPr>
        <p:spPr>
          <a:xfrm>
            <a:off x="2651760" y="2926080"/>
            <a:ext cx="54864" cy="914400"/>
          </a:xfrm>
          <a:prstGeom prst="rect">
            <a:avLst/>
          </a:prstGeom>
          <a:solidFill>
            <a:srgbClr val="028090"/>
          </a:solidFill>
          <a:ln w="12700">
            <a:solidFill>
              <a:srgbClr val="333333"/>
            </a:solidFill>
            <a:prstDash val="solid"/>
          </a:ln>
        </p:spPr>
      </p:sp>
      <p:sp>
        <p:nvSpPr>
          <p:cNvPr id="12" name="Text 10"/>
          <p:cNvSpPr/>
          <p:nvPr/>
        </p:nvSpPr>
        <p:spPr>
          <a:xfrm>
            <a:off x="2761488" y="2999232"/>
            <a:ext cx="1572768" cy="768096"/>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PostgreSQL Database
</a:t>
            </a:r>
            <a:endParaRPr lang="en-US" sz="1100" dirty="0"/>
          </a:p>
          <a:p>
            <a:pPr indent="0" marL="0">
              <a:buNone/>
            </a:pPr>
            <a:r>
              <a:rPr lang="en-US" sz="850" dirty="0">
                <a:solidFill>
                  <a:srgbClr val="475569"/>
                </a:solidFill>
                <a:latin typeface="Calibri" pitchFamily="34" charset="0"/>
                <a:ea typeface="Calibri" pitchFamily="34" charset="-122"/>
                <a:cs typeface="Calibri" pitchFamily="34" charset="-120"/>
              </a:rPr>
              <a:t>Historical delay tables</a:t>
            </a:r>
            <a:endParaRPr lang="en-US" sz="1100" dirty="0"/>
          </a:p>
          <a:p>
            <a:pPr indent="0" marL="0">
              <a:buNone/>
            </a:pPr>
            <a:r>
              <a:rPr lang="en-US" sz="850" dirty="0">
                <a:solidFill>
                  <a:srgbClr val="475569"/>
                </a:solidFill>
                <a:latin typeface="Calibri" pitchFamily="34" charset="0"/>
                <a:ea typeface="Calibri" pitchFamily="34" charset="-122"/>
                <a:cs typeface="Calibri" pitchFamily="34" charset="-120"/>
              </a:rPr>
              <a:t>Per-stop/per-route metrics</a:t>
            </a:r>
            <a:endParaRPr lang="en-US" sz="1100" dirty="0"/>
          </a:p>
        </p:txBody>
      </p:sp>
      <p:sp>
        <p:nvSpPr>
          <p:cNvPr id="13" name="Shape 11"/>
          <p:cNvSpPr/>
          <p:nvPr/>
        </p:nvSpPr>
        <p:spPr>
          <a:xfrm>
            <a:off x="457200" y="2926080"/>
            <a:ext cx="1828800" cy="91440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14" name="Shape 12"/>
          <p:cNvSpPr/>
          <p:nvPr/>
        </p:nvSpPr>
        <p:spPr>
          <a:xfrm>
            <a:off x="457200" y="2926080"/>
            <a:ext cx="54864" cy="914400"/>
          </a:xfrm>
          <a:prstGeom prst="rect">
            <a:avLst/>
          </a:prstGeom>
          <a:solidFill>
            <a:srgbClr val="028090"/>
          </a:solidFill>
          <a:ln w="12700">
            <a:solidFill>
              <a:srgbClr val="333333"/>
            </a:solidFill>
            <a:prstDash val="solid"/>
          </a:ln>
        </p:spPr>
      </p:sp>
      <p:sp>
        <p:nvSpPr>
          <p:cNvPr id="15" name="Text 13"/>
          <p:cNvSpPr/>
          <p:nvPr/>
        </p:nvSpPr>
        <p:spPr>
          <a:xfrm>
            <a:off x="566928" y="2999232"/>
            <a:ext cx="1664208" cy="768096"/>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GTFS Realtime Pipeline
</a:t>
            </a:r>
            <a:endParaRPr lang="en-US" sz="1100" dirty="0"/>
          </a:p>
          <a:p>
            <a:pPr indent="0" marL="0">
              <a:buNone/>
            </a:pPr>
            <a:r>
              <a:rPr lang="en-US" sz="850" dirty="0">
                <a:solidFill>
                  <a:srgbClr val="475569"/>
                </a:solidFill>
                <a:latin typeface="Calibri" pitchFamily="34" charset="0"/>
                <a:ea typeface="Calibri" pitchFamily="34" charset="-122"/>
                <a:cs typeface="Calibri" pitchFamily="34" charset="-120"/>
              </a:rPr>
              <a:t>Daily Go Aggregator cron</a:t>
            </a:r>
            <a:endParaRPr lang="en-US" sz="1100" dirty="0"/>
          </a:p>
          <a:p>
            <a:pPr indent="0" marL="0">
              <a:buNone/>
            </a:pPr>
            <a:r>
              <a:rPr lang="en-US" sz="850" dirty="0">
                <a:solidFill>
                  <a:srgbClr val="475569"/>
                </a:solidFill>
                <a:latin typeface="Calibri" pitchFamily="34" charset="0"/>
                <a:ea typeface="Calibri" pitchFamily="34" charset="-122"/>
                <a:cs typeface="Calibri" pitchFamily="34" charset="-120"/>
              </a:rPr>
              <a:t>Downloads &amp; parses Protobuf</a:t>
            </a:r>
            <a:endParaRPr lang="en-US" sz="1100" dirty="0"/>
          </a:p>
        </p:txBody>
      </p:sp>
      <p:sp>
        <p:nvSpPr>
          <p:cNvPr id="16" name="Shape 14"/>
          <p:cNvSpPr/>
          <p:nvPr/>
        </p:nvSpPr>
        <p:spPr>
          <a:xfrm>
            <a:off x="457200" y="2240280"/>
            <a:ext cx="1828800" cy="548640"/>
          </a:xfrm>
          <a:prstGeom prst="rect">
            <a:avLst/>
          </a:prstGeom>
          <a:solidFill>
            <a:srgbClr val="F1F5F9"/>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17" name="Shape 15"/>
          <p:cNvSpPr/>
          <p:nvPr/>
        </p:nvSpPr>
        <p:spPr>
          <a:xfrm>
            <a:off x="457200" y="2240280"/>
            <a:ext cx="54864" cy="548640"/>
          </a:xfrm>
          <a:prstGeom prst="rect">
            <a:avLst/>
          </a:prstGeom>
          <a:solidFill>
            <a:srgbClr val="028090"/>
          </a:solidFill>
          <a:ln w="12700">
            <a:solidFill>
              <a:srgbClr val="333333"/>
            </a:solidFill>
            <a:prstDash val="solid"/>
          </a:ln>
        </p:spPr>
      </p:sp>
      <p:sp>
        <p:nvSpPr>
          <p:cNvPr id="18" name="Text 16"/>
          <p:cNvSpPr/>
          <p:nvPr/>
        </p:nvSpPr>
        <p:spPr>
          <a:xfrm>
            <a:off x="566928" y="2313432"/>
            <a:ext cx="1664208" cy="402336"/>
          </a:xfrm>
          <a:prstGeom prst="rect">
            <a:avLst/>
          </a:prstGeom>
          <a:noFill/>
          <a:ln/>
        </p:spPr>
        <p:txBody>
          <a:bodyPr wrap="square" lIns="0" tIns="0" rIns="0" bIns="0" rtlCol="0" anchor="ctr"/>
          <a:lstStyle/>
          <a:p>
            <a:pPr indent="0" marL="0">
              <a:buNone/>
            </a:pPr>
            <a:r>
              <a:rPr lang="en-US" sz="1100" b="1" dirty="0">
                <a:solidFill>
                  <a:srgbClr val="475569"/>
                </a:solidFill>
                <a:latin typeface="Calibri" pitchFamily="34" charset="0"/>
                <a:ea typeface="Calibri" pitchFamily="34" charset="-122"/>
                <a:cs typeface="Calibri" pitchFamily="34" charset="-120"/>
              </a:rPr>
              <a:t>SL Realtime API
</a:t>
            </a:r>
            <a:endParaRPr lang="en-US" sz="1100" dirty="0"/>
          </a:p>
          <a:p>
            <a:pPr indent="0" marL="0">
              <a:buNone/>
            </a:pPr>
            <a:r>
              <a:rPr lang="en-US" sz="850" dirty="0">
                <a:solidFill>
                  <a:srgbClr val="64748B"/>
                </a:solidFill>
                <a:latin typeface="Calibri" pitchFamily="34" charset="0"/>
                <a:ea typeface="Calibri" pitchFamily="34" charset="-122"/>
                <a:cs typeface="Calibri" pitchFamily="34" charset="-120"/>
              </a:rPr>
              <a:t>Live Departures Feed</a:t>
            </a:r>
            <a:endParaRPr lang="en-US" sz="1100" dirty="0"/>
          </a:p>
        </p:txBody>
      </p:sp>
      <p:sp>
        <p:nvSpPr>
          <p:cNvPr id="19" name="Shape 17"/>
          <p:cNvSpPr/>
          <p:nvPr/>
        </p:nvSpPr>
        <p:spPr>
          <a:xfrm>
            <a:off x="2651760" y="2240280"/>
            <a:ext cx="1737360" cy="548640"/>
          </a:xfrm>
          <a:prstGeom prst="rect">
            <a:avLst/>
          </a:prstGeom>
          <a:solidFill>
            <a:srgbClr val="F1F5F9"/>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20" name="Shape 18"/>
          <p:cNvSpPr/>
          <p:nvPr/>
        </p:nvSpPr>
        <p:spPr>
          <a:xfrm>
            <a:off x="2651760" y="2240280"/>
            <a:ext cx="54864" cy="548640"/>
          </a:xfrm>
          <a:prstGeom prst="rect">
            <a:avLst/>
          </a:prstGeom>
          <a:solidFill>
            <a:srgbClr val="028090"/>
          </a:solidFill>
          <a:ln w="12700">
            <a:solidFill>
              <a:srgbClr val="333333"/>
            </a:solidFill>
            <a:prstDash val="solid"/>
          </a:ln>
        </p:spPr>
      </p:sp>
      <p:sp>
        <p:nvSpPr>
          <p:cNvPr id="21" name="Text 19"/>
          <p:cNvSpPr/>
          <p:nvPr/>
        </p:nvSpPr>
        <p:spPr>
          <a:xfrm>
            <a:off x="2761488" y="2313432"/>
            <a:ext cx="1572768" cy="402336"/>
          </a:xfrm>
          <a:prstGeom prst="rect">
            <a:avLst/>
          </a:prstGeom>
          <a:noFill/>
          <a:ln/>
        </p:spPr>
        <p:txBody>
          <a:bodyPr wrap="square" lIns="0" tIns="0" rIns="0" bIns="0" rtlCol="0" anchor="ctr"/>
          <a:lstStyle/>
          <a:p>
            <a:pPr indent="0" marL="0">
              <a:buNone/>
            </a:pPr>
            <a:r>
              <a:rPr lang="en-US" sz="1100" b="1" dirty="0">
                <a:solidFill>
                  <a:srgbClr val="475569"/>
                </a:solidFill>
                <a:latin typeface="Calibri" pitchFamily="34" charset="0"/>
                <a:ea typeface="Calibri" pitchFamily="34" charset="-122"/>
                <a:cs typeface="Calibri" pitchFamily="34" charset="-120"/>
              </a:rPr>
              <a:t>Firebase / Firestore
</a:t>
            </a:r>
            <a:endParaRPr lang="en-US" sz="1100" dirty="0"/>
          </a:p>
          <a:p>
            <a:pPr indent="0" marL="0">
              <a:buNone/>
            </a:pPr>
            <a:r>
              <a:rPr lang="en-US" sz="850" dirty="0">
                <a:solidFill>
                  <a:srgbClr val="64748B"/>
                </a:solidFill>
                <a:latin typeface="Calibri" pitchFamily="34" charset="0"/>
                <a:ea typeface="Calibri" pitchFamily="34" charset="-122"/>
                <a:cs typeface="Calibri" pitchFamily="34" charset="-120"/>
              </a:rPr>
              <a:t>Auth, Favorites &amp; Preferences</a:t>
            </a:r>
            <a:endParaRPr lang="en-US" sz="1100" dirty="0"/>
          </a:p>
        </p:txBody>
      </p:sp>
      <p:sp>
        <p:nvSpPr>
          <p:cNvPr id="22" name="Shape 20"/>
          <p:cNvSpPr/>
          <p:nvPr/>
        </p:nvSpPr>
        <p:spPr>
          <a:xfrm>
            <a:off x="1371600" y="2103120"/>
            <a:ext cx="0" cy="137160"/>
          </a:xfrm>
          <a:prstGeom prst="line">
            <a:avLst/>
          </a:prstGeom>
          <a:noFill/>
          <a:ln w="19050">
            <a:solidFill>
              <a:srgbClr val="94A3B8"/>
            </a:solidFill>
            <a:prstDash val="dash"/>
          </a:ln>
        </p:spPr>
      </p:sp>
      <p:sp>
        <p:nvSpPr>
          <p:cNvPr id="23" name="Shape 21"/>
          <p:cNvSpPr/>
          <p:nvPr/>
        </p:nvSpPr>
        <p:spPr>
          <a:xfrm>
            <a:off x="2286000" y="1645920"/>
            <a:ext cx="365760" cy="0"/>
          </a:xfrm>
          <a:prstGeom prst="line">
            <a:avLst/>
          </a:prstGeom>
          <a:noFill/>
          <a:ln w="19050">
            <a:solidFill>
              <a:srgbClr val="94A3B8"/>
            </a:solidFill>
            <a:prstDash val="dash"/>
          </a:ln>
        </p:spPr>
      </p:sp>
      <p:sp>
        <p:nvSpPr>
          <p:cNvPr id="24" name="Shape 22"/>
          <p:cNvSpPr/>
          <p:nvPr/>
        </p:nvSpPr>
        <p:spPr>
          <a:xfrm>
            <a:off x="2286000" y="2514600"/>
            <a:ext cx="365760" cy="0"/>
          </a:xfrm>
          <a:prstGeom prst="line">
            <a:avLst/>
          </a:prstGeom>
          <a:noFill/>
          <a:ln w="19050">
            <a:solidFill>
              <a:srgbClr val="94A3B8"/>
            </a:solidFill>
            <a:prstDash val="dash"/>
          </a:ln>
        </p:spPr>
      </p:sp>
      <p:sp>
        <p:nvSpPr>
          <p:cNvPr id="25" name="Shape 23"/>
          <p:cNvSpPr/>
          <p:nvPr/>
        </p:nvSpPr>
        <p:spPr>
          <a:xfrm>
            <a:off x="1371600" y="2788920"/>
            <a:ext cx="0" cy="137160"/>
          </a:xfrm>
          <a:prstGeom prst="line">
            <a:avLst/>
          </a:prstGeom>
          <a:noFill/>
          <a:ln w="19050">
            <a:solidFill>
              <a:srgbClr val="94A3B8"/>
            </a:solidFill>
            <a:prstDash val="dash"/>
          </a:ln>
        </p:spPr>
      </p:sp>
      <p:sp>
        <p:nvSpPr>
          <p:cNvPr id="26" name="Shape 24"/>
          <p:cNvSpPr/>
          <p:nvPr/>
        </p:nvSpPr>
        <p:spPr>
          <a:xfrm>
            <a:off x="2286000" y="3383280"/>
            <a:ext cx="365760" cy="0"/>
          </a:xfrm>
          <a:prstGeom prst="line">
            <a:avLst/>
          </a:prstGeom>
          <a:noFill/>
          <a:ln w="19050">
            <a:solidFill>
              <a:srgbClr val="94A3B8"/>
            </a:solidFill>
            <a:prstDash val="dash"/>
          </a:ln>
        </p:spPr>
      </p:sp>
      <p:sp>
        <p:nvSpPr>
          <p:cNvPr id="27" name="Shape 25"/>
          <p:cNvSpPr/>
          <p:nvPr/>
        </p:nvSpPr>
        <p:spPr>
          <a:xfrm>
            <a:off x="3520440" y="2103120"/>
            <a:ext cx="0" cy="822960"/>
          </a:xfrm>
          <a:prstGeom prst="line">
            <a:avLst/>
          </a:prstGeom>
          <a:noFill/>
          <a:ln w="19050">
            <a:solidFill>
              <a:srgbClr val="94A3B8"/>
            </a:solidFill>
            <a:prstDash val="dash"/>
          </a:ln>
        </p:spPr>
      </p:sp>
      <p:sp>
        <p:nvSpPr>
          <p:cNvPr id="28" name="Shape 26"/>
          <p:cNvSpPr/>
          <p:nvPr/>
        </p:nvSpPr>
        <p:spPr>
          <a:xfrm>
            <a:off x="4754880" y="1188720"/>
            <a:ext cx="3931920" cy="320040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29" name="Shape 27"/>
          <p:cNvSpPr/>
          <p:nvPr/>
        </p:nvSpPr>
        <p:spPr>
          <a:xfrm>
            <a:off x="4754880" y="1188720"/>
            <a:ext cx="73152" cy="3200400"/>
          </a:xfrm>
          <a:prstGeom prst="rect">
            <a:avLst/>
          </a:prstGeom>
          <a:solidFill>
            <a:srgbClr val="028090"/>
          </a:solidFill>
          <a:ln w="12700">
            <a:solidFill>
              <a:srgbClr val="333333"/>
            </a:solidFill>
            <a:prstDash val="solid"/>
          </a:ln>
        </p:spPr>
      </p:sp>
      <p:sp>
        <p:nvSpPr>
          <p:cNvPr id="30" name="Text 28"/>
          <p:cNvSpPr/>
          <p:nvPr/>
        </p:nvSpPr>
        <p:spPr>
          <a:xfrm>
            <a:off x="4937760" y="1371600"/>
            <a:ext cx="3566160" cy="36576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Technology Stack Summary
</a:t>
            </a:r>
            <a:endParaRPr lang="en-US" sz="1600" dirty="0"/>
          </a:p>
        </p:txBody>
      </p:sp>
      <p:sp>
        <p:nvSpPr>
          <p:cNvPr id="31" name="Text 29"/>
          <p:cNvSpPr/>
          <p:nvPr/>
        </p:nvSpPr>
        <p:spPr>
          <a:xfrm>
            <a:off x="4937760" y="1737360"/>
            <a:ext cx="3566160" cy="2560320"/>
          </a:xfrm>
          <a:prstGeom prst="rect">
            <a:avLst/>
          </a:prstGeom>
          <a:noFill/>
          <a:ln/>
        </p:spPr>
        <p:txBody>
          <a:bodyPr wrap="square" lIns="0" tIns="0" rIns="0" bIns="0" rtlCol="0" anchor="ctr"/>
          <a:lstStyle/>
          <a:p>
            <a:pPr indent="0" marL="0">
              <a:spcAft>
                <a:spcPts val="600"/>
              </a:spcAft>
              <a:buNone/>
            </a:pPr>
            <a:r>
              <a:rPr lang="en-US" sz="1100" b="1" dirty="0">
                <a:solidFill>
                  <a:srgbClr val="0F172A"/>
                </a:solidFill>
                <a:latin typeface="Calibri" pitchFamily="34" charset="0"/>
                <a:ea typeface="Calibri" pitchFamily="34" charset="-122"/>
                <a:cs typeface="Calibri" pitchFamily="34" charset="-120"/>
              </a:rPr>
              <a:t>Frontend: </a:t>
            </a:r>
            <a:pPr indent="0" marL="0">
              <a:spcAft>
                <a:spcPts val="600"/>
              </a:spcAft>
              <a:buNone/>
            </a:pPr>
            <a:r>
              <a:rPr lang="en-US" sz="1100" dirty="0">
                <a:solidFill>
                  <a:srgbClr val="475569"/>
                </a:solidFill>
                <a:latin typeface="Calibri" pitchFamily="34" charset="0"/>
                <a:ea typeface="Calibri" pitchFamily="34" charset="-122"/>
                <a:cs typeface="Calibri" pitchFamily="34" charset="-120"/>
              </a:rPr>
              <a:t>React + TS + Vite, MUI components, Leaflet maps, Redux Toolkit for state management.
</a:t>
            </a:r>
            <a:endParaRPr lang="en-US" sz="1100" dirty="0"/>
          </a:p>
          <a:p>
            <a:pPr indent="0" marL="0">
              <a:spcAft>
                <a:spcPts val="600"/>
              </a:spcAft>
              <a:buNone/>
            </a:pPr>
            <a:r>
              <a:rPr lang="en-US" sz="1100" b="1" dirty="0">
                <a:solidFill>
                  <a:srgbClr val="0F172A"/>
                </a:solidFill>
                <a:latin typeface="Calibri" pitchFamily="34" charset="0"/>
                <a:ea typeface="Calibri" pitchFamily="34" charset="-122"/>
                <a:cs typeface="Calibri" pitchFamily="34" charset="-120"/>
              </a:rPr>
              <a:t>Backend &amp; Pipeline: </a:t>
            </a:r>
            <a:pPr indent="0" marL="0">
              <a:spcAft>
                <a:spcPts val="600"/>
              </a:spcAft>
              <a:buNone/>
            </a:pPr>
            <a:r>
              <a:rPr lang="en-US" sz="1100" dirty="0">
                <a:solidFill>
                  <a:srgbClr val="475569"/>
                </a:solidFill>
                <a:latin typeface="Calibri" pitchFamily="34" charset="0"/>
                <a:ea typeface="Calibri" pitchFamily="34" charset="-122"/>
                <a:cs typeface="Calibri" pitchFamily="34" charset="-120"/>
              </a:rPr>
              <a:t>Go HTTP Server (REST API) + Go Protobuf parsing engine running daily as a systemd-timer.
</a:t>
            </a:r>
            <a:endParaRPr lang="en-US" sz="1100" dirty="0"/>
          </a:p>
          <a:p>
            <a:pPr indent="0" marL="0">
              <a:spcAft>
                <a:spcPts val="600"/>
              </a:spcAft>
              <a:buNone/>
            </a:pPr>
            <a:r>
              <a:rPr lang="en-US" sz="1100" b="1" dirty="0">
                <a:solidFill>
                  <a:srgbClr val="0F172A"/>
                </a:solidFill>
                <a:latin typeface="Calibri" pitchFamily="34" charset="0"/>
                <a:ea typeface="Calibri" pitchFamily="34" charset="-122"/>
                <a:cs typeface="Calibri" pitchFamily="34" charset="-120"/>
              </a:rPr>
              <a:t>Database: </a:t>
            </a:r>
            <a:pPr indent="0" marL="0">
              <a:spcAft>
                <a:spcPts val="600"/>
              </a:spcAft>
              <a:buNone/>
            </a:pPr>
            <a:r>
              <a:rPr lang="en-US" sz="1100" dirty="0">
                <a:solidFill>
                  <a:srgbClr val="475569"/>
                </a:solidFill>
                <a:latin typeface="Calibri" pitchFamily="34" charset="0"/>
                <a:ea typeface="Calibri" pitchFamily="34" charset="-122"/>
                <a:cs typeface="Calibri" pitchFamily="34" charset="-120"/>
              </a:rPr>
              <a:t>PostgreSQL 16 relational database hosted on a VPS.
</a:t>
            </a:r>
            <a:endParaRPr lang="en-US" sz="1100" dirty="0"/>
          </a:p>
          <a:p>
            <a:pPr indent="0" marL="0">
              <a:spcAft>
                <a:spcPts val="600"/>
              </a:spcAft>
              <a:buNone/>
            </a:pPr>
            <a:r>
              <a:rPr lang="en-US" sz="1100" b="1" dirty="0">
                <a:solidFill>
                  <a:srgbClr val="0F172A"/>
                </a:solidFill>
                <a:latin typeface="Calibri" pitchFamily="34" charset="0"/>
                <a:ea typeface="Calibri" pitchFamily="34" charset="-122"/>
                <a:cs typeface="Calibri" pitchFamily="34" charset="-120"/>
              </a:rPr>
              <a:t>Auth &amp; Sync: </a:t>
            </a:r>
            <a:pPr indent="0" marL="0">
              <a:spcAft>
                <a:spcPts val="600"/>
              </a:spcAft>
              <a:buNone/>
            </a:pPr>
            <a:r>
              <a:rPr lang="en-US" sz="1100" dirty="0">
                <a:solidFill>
                  <a:srgbClr val="475569"/>
                </a:solidFill>
                <a:latin typeface="Calibri" pitchFamily="34" charset="0"/>
                <a:ea typeface="Calibri" pitchFamily="34" charset="-122"/>
                <a:cs typeface="Calibri" pitchFamily="34" charset="-120"/>
              </a:rPr>
              <a:t>Firebase Auth + cloud Firestore listeners for instant preference sync.</a:t>
            </a:r>
            <a:endParaRPr lang="en-US" sz="1100" dirty="0"/>
          </a:p>
        </p:txBody>
      </p:sp>
      <p:sp>
        <p:nvSpPr>
          <p:cNvPr id="32" name="Text 30"/>
          <p:cNvSpPr/>
          <p:nvPr/>
        </p:nvSpPr>
        <p:spPr>
          <a:xfrm>
            <a:off x="457200" y="4800600"/>
            <a:ext cx="64008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Förseningskartan | UX Prize Presentation</a:t>
            </a:r>
            <a:endParaRPr lang="en-US" sz="1000" dirty="0"/>
          </a:p>
        </p:txBody>
      </p:sp>
      <p:sp>
        <p:nvSpPr>
          <p:cNvPr id="33" name="Text 31"/>
          <p:cNvSpPr/>
          <p:nvPr/>
        </p:nvSpPr>
        <p:spPr>
          <a:xfrm>
            <a:off x="7315200" y="4800600"/>
            <a:ext cx="13716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Slide 4 of 16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28090"/>
                </a:solidFill>
                <a:latin typeface="Calibri" pitchFamily="34" charset="0"/>
                <a:ea typeface="Calibri" pitchFamily="34" charset="-122"/>
                <a:cs typeface="Calibri" pitchFamily="34" charset="-120"/>
              </a:rPr>
              <a:t>DESIGN DECISION 1</a:t>
            </a:r>
            <a:endParaRPr lang="en-US" sz="1000" dirty="0"/>
          </a:p>
        </p:txBody>
      </p:sp>
      <p:sp>
        <p:nvSpPr>
          <p:cNvPr id="3" name="Text 1"/>
          <p:cNvSpPr/>
          <p:nvPr/>
        </p:nvSpPr>
        <p:spPr>
          <a:xfrm>
            <a:off x="457200" y="502920"/>
            <a:ext cx="8229600" cy="411480"/>
          </a:xfrm>
          <a:prstGeom prst="rect">
            <a:avLst/>
          </a:prstGeom>
          <a:noFill/>
          <a:ln/>
        </p:spPr>
        <p:txBody>
          <a:bodyPr wrap="square" lIns="0" tIns="0" rIns="0" bIns="0"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MVP (Model-Presenter-View) Architecture</a:t>
            </a:r>
            <a:endParaRPr lang="en-US" sz="2600" dirty="0"/>
          </a:p>
        </p:txBody>
      </p:sp>
      <p:sp>
        <p:nvSpPr>
          <p:cNvPr id="4" name="Shape 2"/>
          <p:cNvSpPr/>
          <p:nvPr/>
        </p:nvSpPr>
        <p:spPr>
          <a:xfrm>
            <a:off x="457200" y="1645920"/>
            <a:ext cx="1280160" cy="731520"/>
          </a:xfrm>
          <a:prstGeom prst="rect">
            <a:avLst/>
          </a:prstGeom>
          <a:solidFill>
            <a:srgbClr val="F1F5F9"/>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5" name="Shape 3"/>
          <p:cNvSpPr/>
          <p:nvPr/>
        </p:nvSpPr>
        <p:spPr>
          <a:xfrm>
            <a:off x="457200" y="1645920"/>
            <a:ext cx="54864" cy="731520"/>
          </a:xfrm>
          <a:prstGeom prst="rect">
            <a:avLst/>
          </a:prstGeom>
          <a:solidFill>
            <a:srgbClr val="028090"/>
          </a:solidFill>
          <a:ln w="12700">
            <a:solidFill>
              <a:srgbClr val="333333"/>
            </a:solidFill>
            <a:prstDash val="solid"/>
          </a:ln>
        </p:spPr>
      </p:sp>
      <p:sp>
        <p:nvSpPr>
          <p:cNvPr id="6" name="Text 4"/>
          <p:cNvSpPr/>
          <p:nvPr/>
        </p:nvSpPr>
        <p:spPr>
          <a:xfrm>
            <a:off x="566928" y="1719072"/>
            <a:ext cx="1115568" cy="585216"/>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Model
</a:t>
            </a:r>
            <a:endParaRPr lang="en-US" sz="1100" dirty="0"/>
          </a:p>
          <a:p>
            <a:pPr indent="0" marL="0">
              <a:buNone/>
            </a:pPr>
            <a:r>
              <a:rPr lang="en-US" sz="850" dirty="0">
                <a:solidFill>
                  <a:srgbClr val="475569"/>
                </a:solidFill>
                <a:latin typeface="Calibri" pitchFamily="34" charset="0"/>
                <a:ea typeface="Calibri" pitchFamily="34" charset="-122"/>
                <a:cs typeface="Calibri" pitchFamily="34" charset="-120"/>
              </a:rPr>
              <a:t>Redux Store</a:t>
            </a:r>
            <a:endParaRPr lang="en-US" sz="1100" dirty="0"/>
          </a:p>
          <a:p>
            <a:pPr indent="0" marL="0">
              <a:buNone/>
            </a:pPr>
            <a:r>
              <a:rPr lang="en-US" sz="850" dirty="0">
                <a:solidFill>
                  <a:srgbClr val="475569"/>
                </a:solidFill>
                <a:latin typeface="Calibri" pitchFamily="34" charset="0"/>
                <a:ea typeface="Calibri" pitchFamily="34" charset="-122"/>
                <a:cs typeface="Calibri" pitchFamily="34" charset="-120"/>
              </a:rPr>
              <a:t>State &amp; data caches</a:t>
            </a:r>
            <a:endParaRPr lang="en-US" sz="1100" dirty="0"/>
          </a:p>
        </p:txBody>
      </p:sp>
      <p:sp>
        <p:nvSpPr>
          <p:cNvPr id="7" name="Shape 5"/>
          <p:cNvSpPr/>
          <p:nvPr/>
        </p:nvSpPr>
        <p:spPr>
          <a:xfrm>
            <a:off x="2057400" y="1645920"/>
            <a:ext cx="1280160" cy="73152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8" name="Shape 6"/>
          <p:cNvSpPr/>
          <p:nvPr/>
        </p:nvSpPr>
        <p:spPr>
          <a:xfrm>
            <a:off x="2057400" y="1645920"/>
            <a:ext cx="54864" cy="731520"/>
          </a:xfrm>
          <a:prstGeom prst="rect">
            <a:avLst/>
          </a:prstGeom>
          <a:solidFill>
            <a:srgbClr val="028090"/>
          </a:solidFill>
          <a:ln w="12700">
            <a:solidFill>
              <a:srgbClr val="333333"/>
            </a:solidFill>
            <a:prstDash val="solid"/>
          </a:ln>
        </p:spPr>
      </p:sp>
      <p:sp>
        <p:nvSpPr>
          <p:cNvPr id="9" name="Text 7"/>
          <p:cNvSpPr/>
          <p:nvPr/>
        </p:nvSpPr>
        <p:spPr>
          <a:xfrm>
            <a:off x="2167128" y="1719072"/>
            <a:ext cx="1115568" cy="585216"/>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Presenter
</a:t>
            </a:r>
            <a:endParaRPr lang="en-US" sz="1100" dirty="0"/>
          </a:p>
          <a:p>
            <a:pPr indent="0" marL="0">
              <a:buNone/>
            </a:pPr>
            <a:r>
              <a:rPr lang="en-US" sz="850" dirty="0">
                <a:solidFill>
                  <a:srgbClr val="475569"/>
                </a:solidFill>
                <a:latin typeface="Calibri" pitchFamily="34" charset="0"/>
                <a:ea typeface="Calibri" pitchFamily="34" charset="-122"/>
                <a:cs typeface="Calibri" pitchFamily="34" charset="-120"/>
              </a:rPr>
              <a:t>React Hook/Component</a:t>
            </a:r>
            <a:endParaRPr lang="en-US" sz="1100" dirty="0"/>
          </a:p>
          <a:p>
            <a:pPr indent="0" marL="0">
              <a:buNone/>
            </a:pPr>
            <a:r>
              <a:rPr lang="en-US" sz="850" dirty="0">
                <a:solidFill>
                  <a:srgbClr val="475569"/>
                </a:solidFill>
                <a:latin typeface="Calibri" pitchFamily="34" charset="0"/>
                <a:ea typeface="Calibri" pitchFamily="34" charset="-122"/>
                <a:cs typeface="Calibri" pitchFamily="34" charset="-120"/>
              </a:rPr>
              <a:t>Fetches data, holds logic</a:t>
            </a:r>
            <a:endParaRPr lang="en-US" sz="1100" dirty="0"/>
          </a:p>
        </p:txBody>
      </p:sp>
      <p:sp>
        <p:nvSpPr>
          <p:cNvPr id="10" name="Shape 8"/>
          <p:cNvSpPr/>
          <p:nvPr/>
        </p:nvSpPr>
        <p:spPr>
          <a:xfrm>
            <a:off x="3657600" y="1645920"/>
            <a:ext cx="1280160" cy="731520"/>
          </a:xfrm>
          <a:prstGeom prst="rect">
            <a:avLst/>
          </a:prstGeom>
          <a:solidFill>
            <a:srgbClr val="F1F5F9"/>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11" name="Shape 9"/>
          <p:cNvSpPr/>
          <p:nvPr/>
        </p:nvSpPr>
        <p:spPr>
          <a:xfrm>
            <a:off x="3657600" y="1645920"/>
            <a:ext cx="54864" cy="731520"/>
          </a:xfrm>
          <a:prstGeom prst="rect">
            <a:avLst/>
          </a:prstGeom>
          <a:solidFill>
            <a:srgbClr val="028090"/>
          </a:solidFill>
          <a:ln w="12700">
            <a:solidFill>
              <a:srgbClr val="333333"/>
            </a:solidFill>
            <a:prstDash val="solid"/>
          </a:ln>
        </p:spPr>
      </p:sp>
      <p:sp>
        <p:nvSpPr>
          <p:cNvPr id="12" name="Text 10"/>
          <p:cNvSpPr/>
          <p:nvPr/>
        </p:nvSpPr>
        <p:spPr>
          <a:xfrm>
            <a:off x="3767328" y="1719072"/>
            <a:ext cx="1115568" cy="585216"/>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View
</a:t>
            </a:r>
            <a:endParaRPr lang="en-US" sz="1100" dirty="0"/>
          </a:p>
          <a:p>
            <a:pPr indent="0" marL="0">
              <a:buNone/>
            </a:pPr>
            <a:r>
              <a:rPr lang="en-US" sz="850" dirty="0">
                <a:solidFill>
                  <a:srgbClr val="475569"/>
                </a:solidFill>
                <a:latin typeface="Calibri" pitchFamily="34" charset="0"/>
                <a:ea typeface="Calibri" pitchFamily="34" charset="-122"/>
                <a:cs typeface="Calibri" pitchFamily="34" charset="-120"/>
              </a:rPr>
              <a:t>Pure React View</a:t>
            </a:r>
            <a:endParaRPr lang="en-US" sz="1100" dirty="0"/>
          </a:p>
          <a:p>
            <a:pPr indent="0" marL="0">
              <a:buNone/>
            </a:pPr>
            <a:r>
              <a:rPr lang="en-US" sz="850" dirty="0">
                <a:solidFill>
                  <a:srgbClr val="475569"/>
                </a:solidFill>
                <a:latin typeface="Calibri" pitchFamily="34" charset="0"/>
                <a:ea typeface="Calibri" pitchFamily="34" charset="-122"/>
                <a:cs typeface="Calibri" pitchFamily="34" charset="-120"/>
              </a:rPr>
              <a:t>Renders UI, emits events</a:t>
            </a:r>
            <a:endParaRPr lang="en-US" sz="1100" dirty="0"/>
          </a:p>
        </p:txBody>
      </p:sp>
      <p:sp>
        <p:nvSpPr>
          <p:cNvPr id="13" name="Shape 11"/>
          <p:cNvSpPr/>
          <p:nvPr/>
        </p:nvSpPr>
        <p:spPr>
          <a:xfrm>
            <a:off x="1737360" y="1828800"/>
            <a:ext cx="320040" cy="0"/>
          </a:xfrm>
          <a:prstGeom prst="line">
            <a:avLst/>
          </a:prstGeom>
          <a:noFill/>
          <a:ln w="19050">
            <a:solidFill>
              <a:srgbClr val="94A3B8"/>
            </a:solidFill>
            <a:prstDash val="dash"/>
          </a:ln>
        </p:spPr>
      </p:sp>
      <p:sp>
        <p:nvSpPr>
          <p:cNvPr id="14" name="Shape 12"/>
          <p:cNvSpPr/>
          <p:nvPr/>
        </p:nvSpPr>
        <p:spPr>
          <a:xfrm>
            <a:off x="1737360" y="2103120"/>
            <a:ext cx="320040" cy="0"/>
          </a:xfrm>
          <a:prstGeom prst="line">
            <a:avLst/>
          </a:prstGeom>
          <a:noFill/>
          <a:ln w="19050">
            <a:solidFill>
              <a:srgbClr val="94A3B8"/>
            </a:solidFill>
            <a:prstDash val="dash"/>
          </a:ln>
        </p:spPr>
      </p:sp>
      <p:sp>
        <p:nvSpPr>
          <p:cNvPr id="15" name="Shape 13"/>
          <p:cNvSpPr/>
          <p:nvPr/>
        </p:nvSpPr>
        <p:spPr>
          <a:xfrm>
            <a:off x="3337560" y="1828800"/>
            <a:ext cx="320040" cy="0"/>
          </a:xfrm>
          <a:prstGeom prst="line">
            <a:avLst/>
          </a:prstGeom>
          <a:noFill/>
          <a:ln w="19050">
            <a:solidFill>
              <a:srgbClr val="94A3B8"/>
            </a:solidFill>
            <a:prstDash val="dash"/>
          </a:ln>
        </p:spPr>
      </p:sp>
      <p:sp>
        <p:nvSpPr>
          <p:cNvPr id="16" name="Shape 14"/>
          <p:cNvSpPr/>
          <p:nvPr/>
        </p:nvSpPr>
        <p:spPr>
          <a:xfrm>
            <a:off x="3337560" y="2103120"/>
            <a:ext cx="320040" cy="0"/>
          </a:xfrm>
          <a:prstGeom prst="line">
            <a:avLst/>
          </a:prstGeom>
          <a:noFill/>
          <a:ln w="19050">
            <a:solidFill>
              <a:srgbClr val="94A3B8"/>
            </a:solidFill>
            <a:prstDash val="dash"/>
          </a:ln>
        </p:spPr>
      </p:sp>
      <p:sp>
        <p:nvSpPr>
          <p:cNvPr id="17" name="Text 15"/>
          <p:cNvSpPr/>
          <p:nvPr/>
        </p:nvSpPr>
        <p:spPr>
          <a:xfrm>
            <a:off x="1737360" y="1508760"/>
            <a:ext cx="320040" cy="137160"/>
          </a:xfrm>
          <a:prstGeom prst="rect">
            <a:avLst/>
          </a:prstGeom>
          <a:noFill/>
          <a:ln/>
        </p:spPr>
        <p:txBody>
          <a:bodyPr wrap="square" lIns="0" tIns="0" rIns="0" bIns="0" rtlCol="0" anchor="ctr"/>
          <a:lstStyle/>
          <a:p>
            <a:pPr algn="ctr" indent="0" marL="0">
              <a:buNone/>
            </a:pPr>
            <a:r>
              <a:rPr lang="en-US" sz="800" i="1" dirty="0">
                <a:solidFill>
                  <a:srgbClr val="475569"/>
                </a:solidFill>
                <a:latin typeface="Calibri" pitchFamily="34" charset="0"/>
                <a:ea typeface="Calibri" pitchFamily="34" charset="-122"/>
                <a:cs typeface="Calibri" pitchFamily="34" charset="-120"/>
              </a:rPr>
              <a:t>Data</a:t>
            </a:r>
            <a:endParaRPr lang="en-US" sz="800" dirty="0"/>
          </a:p>
        </p:txBody>
      </p:sp>
      <p:sp>
        <p:nvSpPr>
          <p:cNvPr id="18" name="Text 16"/>
          <p:cNvSpPr/>
          <p:nvPr/>
        </p:nvSpPr>
        <p:spPr>
          <a:xfrm>
            <a:off x="3337560" y="2240280"/>
            <a:ext cx="320040" cy="137160"/>
          </a:xfrm>
          <a:prstGeom prst="rect">
            <a:avLst/>
          </a:prstGeom>
          <a:noFill/>
          <a:ln/>
        </p:spPr>
        <p:txBody>
          <a:bodyPr wrap="square" lIns="0" tIns="0" rIns="0" bIns="0" rtlCol="0" anchor="ctr"/>
          <a:lstStyle/>
          <a:p>
            <a:pPr algn="ctr" indent="0" marL="0">
              <a:buNone/>
            </a:pPr>
            <a:r>
              <a:rPr lang="en-US" sz="800" i="1" dirty="0">
                <a:solidFill>
                  <a:srgbClr val="475569"/>
                </a:solidFill>
                <a:latin typeface="Calibri" pitchFamily="34" charset="0"/>
                <a:ea typeface="Calibri" pitchFamily="34" charset="-122"/>
                <a:cs typeface="Calibri" pitchFamily="34" charset="-120"/>
              </a:rPr>
              <a:t>Events</a:t>
            </a:r>
            <a:endParaRPr lang="en-US" sz="800" dirty="0"/>
          </a:p>
        </p:txBody>
      </p:sp>
      <p:sp>
        <p:nvSpPr>
          <p:cNvPr id="19" name="Shape 17"/>
          <p:cNvSpPr/>
          <p:nvPr/>
        </p:nvSpPr>
        <p:spPr>
          <a:xfrm>
            <a:off x="457200" y="2651760"/>
            <a:ext cx="4389120" cy="173736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20" name="Shape 18"/>
          <p:cNvSpPr/>
          <p:nvPr/>
        </p:nvSpPr>
        <p:spPr>
          <a:xfrm>
            <a:off x="457200" y="2651760"/>
            <a:ext cx="73152" cy="1737360"/>
          </a:xfrm>
          <a:prstGeom prst="rect">
            <a:avLst/>
          </a:prstGeom>
          <a:solidFill>
            <a:srgbClr val="1D4ED8"/>
          </a:solidFill>
          <a:ln w="12700">
            <a:solidFill>
              <a:srgbClr val="333333"/>
            </a:solidFill>
            <a:prstDash val="solid"/>
          </a:ln>
        </p:spPr>
      </p:sp>
      <p:sp>
        <p:nvSpPr>
          <p:cNvPr id="21" name="Text 19"/>
          <p:cNvSpPr/>
          <p:nvPr/>
        </p:nvSpPr>
        <p:spPr>
          <a:xfrm>
            <a:off x="640080" y="2834640"/>
            <a:ext cx="4023360" cy="146304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Why MVP Matters for User Experience
</a:t>
            </a:r>
            <a:endParaRPr lang="en-US" sz="1400" dirty="0"/>
          </a:p>
          <a:p>
            <a:pPr indent="0" marL="0">
              <a:buNone/>
            </a:pPr>
            <a:r>
              <a:rPr lang="en-US" sz="1100" dirty="0">
                <a:solidFill>
                  <a:srgbClr val="475569"/>
                </a:solidFill>
                <a:latin typeface="Calibri" pitchFamily="34" charset="0"/>
                <a:ea typeface="Calibri" pitchFamily="34" charset="-122"/>
                <a:cs typeface="Calibri" pitchFamily="34" charset="-120"/>
              </a:rPr>
              <a:t>Predictable state transitions prevent UI glitching or half-loaded screens. Decoupling view layouts from logic makes UI refactoring fast and bug-free. In case of API failures, the presenter handles errors gracefully and view renders a fallback placeholder without crashing.</a:t>
            </a:r>
            <a:endParaRPr lang="en-US" sz="1400" dirty="0"/>
          </a:p>
        </p:txBody>
      </p:sp>
      <p:sp>
        <p:nvSpPr>
          <p:cNvPr id="22" name="Shape 20"/>
          <p:cNvSpPr/>
          <p:nvPr/>
        </p:nvSpPr>
        <p:spPr>
          <a:xfrm>
            <a:off x="5120640" y="1188720"/>
            <a:ext cx="3566160" cy="320040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23" name="Shape 21"/>
          <p:cNvSpPr/>
          <p:nvPr/>
        </p:nvSpPr>
        <p:spPr>
          <a:xfrm>
            <a:off x="5120640" y="1188720"/>
            <a:ext cx="73152" cy="3200400"/>
          </a:xfrm>
          <a:prstGeom prst="rect">
            <a:avLst/>
          </a:prstGeom>
          <a:solidFill>
            <a:srgbClr val="028090"/>
          </a:solidFill>
          <a:ln w="12700">
            <a:solidFill>
              <a:srgbClr val="333333"/>
            </a:solidFill>
            <a:prstDash val="solid"/>
          </a:ln>
        </p:spPr>
      </p:sp>
      <p:sp>
        <p:nvSpPr>
          <p:cNvPr id="24" name="Text 22"/>
          <p:cNvSpPr/>
          <p:nvPr/>
        </p:nvSpPr>
        <p:spPr>
          <a:xfrm>
            <a:off x="5303520" y="1371600"/>
            <a:ext cx="3200400" cy="36576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MVP Rigor &amp; Refactoring Iterations
</a:t>
            </a:r>
            <a:endParaRPr lang="en-US" sz="1600" dirty="0"/>
          </a:p>
        </p:txBody>
      </p:sp>
      <p:sp>
        <p:nvSpPr>
          <p:cNvPr id="25" name="Text 23"/>
          <p:cNvSpPr/>
          <p:nvPr/>
        </p:nvSpPr>
        <p:spPr>
          <a:xfrm>
            <a:off x="5303520" y="1737360"/>
            <a:ext cx="3200400" cy="2560320"/>
          </a:xfrm>
          <a:prstGeom prst="rect">
            <a:avLst/>
          </a:prstGeom>
          <a:noFill/>
          <a:ln/>
        </p:spPr>
        <p:txBody>
          <a:bodyPr wrap="square" lIns="0" tIns="0" rIns="0" bIns="0" rtlCol="0" anchor="ctr"/>
          <a:lstStyle/>
          <a:p>
            <a:pPr indent="0" marL="0">
              <a:spcAft>
                <a:spcPts val="500"/>
              </a:spcAft>
              <a:buNone/>
            </a:pPr>
            <a:r>
              <a:rPr lang="en-US" sz="1100" b="1" dirty="0">
                <a:solidFill>
                  <a:srgbClr val="0F172A"/>
                </a:solidFill>
                <a:latin typeface="Calibri" pitchFamily="34" charset="0"/>
                <a:ea typeface="Calibri" pitchFamily="34" charset="-122"/>
                <a:cs typeface="Calibri" pitchFamily="34" charset="-120"/>
              </a:rPr>
              <a:t>Pure Views: </a:t>
            </a:r>
            <a:pPr indent="0" marL="0">
              <a:spcAft>
                <a:spcPts val="500"/>
              </a:spcAft>
              <a:buNone/>
            </a:pPr>
            <a:r>
              <a:rPr lang="en-US" sz="1100" dirty="0">
                <a:solidFill>
                  <a:srgbClr val="475569"/>
                </a:solidFill>
                <a:latin typeface="Calibri" pitchFamily="34" charset="0"/>
                <a:ea typeface="Calibri" pitchFamily="34" charset="-122"/>
                <a:cs typeface="Calibri" pitchFamily="34" charset="-120"/>
              </a:rPr>
              <a:t>Zero state management, side-effects, or direct API communication. Views only render props.
</a:t>
            </a:r>
            <a:endParaRPr lang="en-US" sz="1100" dirty="0"/>
          </a:p>
          <a:p>
            <a:pPr indent="0" marL="0">
              <a:spcAft>
                <a:spcPts val="500"/>
              </a:spcAft>
              <a:buNone/>
            </a:pPr>
            <a:r>
              <a:rPr lang="en-US" sz="1100" b="1" dirty="0">
                <a:solidFill>
                  <a:srgbClr val="0F172A"/>
                </a:solidFill>
                <a:latin typeface="Calibri" pitchFamily="34" charset="0"/>
                <a:ea typeface="Calibri" pitchFamily="34" charset="-122"/>
                <a:cs typeface="Calibri" pitchFamily="34" charset="-120"/>
              </a:rPr>
              <a:t>Presenter Decoupling: </a:t>
            </a:r>
            <a:pPr indent="0" marL="0">
              <a:spcAft>
                <a:spcPts val="500"/>
              </a:spcAft>
              <a:buNone/>
            </a:pPr>
            <a:r>
              <a:rPr lang="en-US" sz="1100" dirty="0">
                <a:solidFill>
                  <a:srgbClr val="475569"/>
                </a:solidFill>
                <a:latin typeface="Calibri" pitchFamily="34" charset="0"/>
                <a:ea typeface="Calibri" pitchFamily="34" charset="-122"/>
                <a:cs typeface="Calibri" pitchFamily="34" charset="-120"/>
              </a:rPr>
              <a:t>Hooks handle API, storage, and state. They expose clean API interfaces to JSX components.
</a:t>
            </a:r>
            <a:endParaRPr lang="en-US" sz="1100" dirty="0"/>
          </a:p>
          <a:p>
            <a:pPr indent="0" marL="0">
              <a:spcAft>
                <a:spcPts val="500"/>
              </a:spcAft>
              <a:buNone/>
            </a:pPr>
            <a:r>
              <a:rPr lang="en-US" sz="1100" b="1" dirty="0">
                <a:solidFill>
                  <a:srgbClr val="0F172A"/>
                </a:solidFill>
                <a:latin typeface="Calibri" pitchFamily="34" charset="0"/>
                <a:ea typeface="Calibri" pitchFamily="34" charset="-122"/>
                <a:cs typeface="Calibri" pitchFamily="34" charset="-120"/>
              </a:rPr>
              <a:t>Rounds of Cleanup: </a:t>
            </a:r>
            <a:pPr indent="0" marL="0">
              <a:spcAft>
                <a:spcPts val="500"/>
              </a:spcAft>
              <a:buNone/>
            </a:pPr>
            <a:r>
              <a:rPr lang="en-US" sz="1100" dirty="0">
                <a:solidFill>
                  <a:srgbClr val="475569"/>
                </a:solidFill>
                <a:latin typeface="Calibri" pitchFamily="34" charset="0"/>
                <a:ea typeface="Calibri" pitchFamily="34" charset="-122"/>
                <a:cs typeface="Calibri" pitchFamily="34" charset="-120"/>
              </a:rPr>
              <a:t>Refactored continuously to remove view-leaked states in issues </a:t>
            </a:r>
            <a:pPr indent="0" marL="0">
              <a:spcAft>
                <a:spcPts val="500"/>
              </a:spcAft>
              <a:buNone/>
            </a:pPr>
            <a:r>
              <a:rPr lang="en-US" sz="1100" b="1" dirty="0">
                <a:solidFill>
                  <a:srgbClr val="1D4ED8"/>
                </a:solidFill>
                <a:latin typeface="Calibri" pitchFamily="34" charset="0"/>
                <a:ea typeface="Calibri" pitchFamily="34" charset="-122"/>
                <a:cs typeface="Calibri" pitchFamily="34" charset="-120"/>
              </a:rPr>
              <a:t>#94</a:t>
            </a:r>
            <a:pPr indent="0" marL="0">
              <a:spcAft>
                <a:spcPts val="500"/>
              </a:spcAft>
              <a:buNone/>
            </a:pPr>
            <a:r>
              <a:rPr lang="en-US" sz="1100" dirty="0">
                <a:solidFill>
                  <a:srgbClr val="475569"/>
                </a:solidFill>
                <a:latin typeface="Calibri" pitchFamily="34" charset="0"/>
                <a:ea typeface="Calibri" pitchFamily="34" charset="-122"/>
                <a:cs typeface="Calibri" pitchFamily="34" charset="-120"/>
              </a:rPr>
              <a:t> (single-purpose views), </a:t>
            </a:r>
            <a:pPr indent="0" marL="0">
              <a:spcAft>
                <a:spcPts val="500"/>
              </a:spcAft>
              <a:buNone/>
            </a:pPr>
            <a:r>
              <a:rPr lang="en-US" sz="1100" b="1" dirty="0">
                <a:solidFill>
                  <a:srgbClr val="1D4ED8"/>
                </a:solidFill>
                <a:latin typeface="Calibri" pitchFamily="34" charset="0"/>
                <a:ea typeface="Calibri" pitchFamily="34" charset="-122"/>
                <a:cs typeface="Calibri" pitchFamily="34" charset="-120"/>
              </a:rPr>
              <a:t>#95</a:t>
            </a:r>
            <a:pPr indent="0" marL="0">
              <a:spcAft>
                <a:spcPts val="500"/>
              </a:spcAft>
              <a:buNone/>
            </a:pPr>
            <a:r>
              <a:rPr lang="en-US" sz="1100" dirty="0">
                <a:solidFill>
                  <a:srgbClr val="475569"/>
                </a:solidFill>
                <a:latin typeface="Calibri" pitchFamily="34" charset="0"/>
                <a:ea typeface="Calibri" pitchFamily="34" charset="-122"/>
                <a:cs typeface="Calibri" pitchFamily="34" charset="-120"/>
              </a:rPr>
              <a:t> (separation), </a:t>
            </a:r>
            <a:pPr indent="0" marL="0">
              <a:spcAft>
                <a:spcPts val="500"/>
              </a:spcAft>
              <a:buNone/>
            </a:pPr>
            <a:r>
              <a:rPr lang="en-US" sz="1100" b="1" dirty="0">
                <a:solidFill>
                  <a:srgbClr val="1D4ED8"/>
                </a:solidFill>
                <a:latin typeface="Calibri" pitchFamily="34" charset="0"/>
                <a:ea typeface="Calibri" pitchFamily="34" charset="-122"/>
                <a:cs typeface="Calibri" pitchFamily="34" charset="-120"/>
              </a:rPr>
              <a:t>#96</a:t>
            </a:r>
            <a:pPr indent="0" marL="0">
              <a:spcAft>
                <a:spcPts val="500"/>
              </a:spcAft>
              <a:buNone/>
            </a:pPr>
            <a:r>
              <a:rPr lang="en-US" sz="1100" dirty="0">
                <a:solidFill>
                  <a:srgbClr val="475569"/>
                </a:solidFill>
                <a:latin typeface="Calibri" pitchFamily="34" charset="0"/>
                <a:ea typeface="Calibri" pitchFamily="34" charset="-122"/>
                <a:cs typeface="Calibri" pitchFamily="34" charset="-120"/>
              </a:rPr>
              <a:t> (view clean), </a:t>
            </a:r>
            <a:pPr indent="0" marL="0">
              <a:spcAft>
                <a:spcPts val="500"/>
              </a:spcAft>
              <a:buNone/>
            </a:pPr>
            <a:r>
              <a:rPr lang="en-US" sz="1100" b="1" dirty="0">
                <a:solidFill>
                  <a:srgbClr val="1D4ED8"/>
                </a:solidFill>
                <a:latin typeface="Calibri" pitchFamily="34" charset="0"/>
                <a:ea typeface="Calibri" pitchFamily="34" charset="-122"/>
                <a:cs typeface="Calibri" pitchFamily="34" charset="-120"/>
              </a:rPr>
              <a:t>#144</a:t>
            </a:r>
            <a:pPr indent="0" marL="0">
              <a:spcAft>
                <a:spcPts val="500"/>
              </a:spcAft>
              <a:buNone/>
            </a:pPr>
            <a:r>
              <a:rPr lang="en-US" sz="1100" dirty="0">
                <a:solidFill>
                  <a:srgbClr val="475569"/>
                </a:solidFill>
                <a:latin typeface="Calibri" pitchFamily="34" charset="0"/>
                <a:ea typeface="Calibri" pitchFamily="34" charset="-122"/>
                <a:cs typeface="Calibri" pitchFamily="34" charset="-120"/>
              </a:rPr>
              <a:t> (separation cleanup), and </a:t>
            </a:r>
            <a:pPr indent="0" marL="0">
              <a:spcAft>
                <a:spcPts val="500"/>
              </a:spcAft>
              <a:buNone/>
            </a:pPr>
            <a:r>
              <a:rPr lang="en-US" sz="1100" b="1" dirty="0">
                <a:solidFill>
                  <a:srgbClr val="1D4ED8"/>
                </a:solidFill>
                <a:latin typeface="Calibri" pitchFamily="34" charset="0"/>
                <a:ea typeface="Calibri" pitchFamily="34" charset="-122"/>
                <a:cs typeface="Calibri" pitchFamily="34" charset="-120"/>
              </a:rPr>
              <a:t>#166</a:t>
            </a:r>
            <a:pPr indent="0" marL="0">
              <a:spcAft>
                <a:spcPts val="500"/>
              </a:spcAft>
              <a:buNone/>
            </a:pPr>
            <a:r>
              <a:rPr lang="en-US" sz="1100" dirty="0">
                <a:solidFill>
                  <a:srgbClr val="475569"/>
                </a:solidFill>
                <a:latin typeface="Calibri" pitchFamily="34" charset="0"/>
                <a:ea typeface="Calibri" pitchFamily="34" charset="-122"/>
                <a:cs typeface="Calibri" pitchFamily="34" charset="-120"/>
              </a:rPr>
              <a:t> (final MVP audit).</a:t>
            </a:r>
            <a:endParaRPr lang="en-US" sz="1100" dirty="0"/>
          </a:p>
        </p:txBody>
      </p:sp>
      <p:sp>
        <p:nvSpPr>
          <p:cNvPr id="26" name="Text 24"/>
          <p:cNvSpPr/>
          <p:nvPr/>
        </p:nvSpPr>
        <p:spPr>
          <a:xfrm>
            <a:off x="457200" y="4800600"/>
            <a:ext cx="64008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Förseningskartan | UX Prize Presentation</a:t>
            </a:r>
            <a:endParaRPr lang="en-US" sz="1000" dirty="0"/>
          </a:p>
        </p:txBody>
      </p:sp>
      <p:sp>
        <p:nvSpPr>
          <p:cNvPr id="27" name="Text 25"/>
          <p:cNvSpPr/>
          <p:nvPr/>
        </p:nvSpPr>
        <p:spPr>
          <a:xfrm>
            <a:off x="7315200" y="4800600"/>
            <a:ext cx="13716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Slide 5 of 16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28090"/>
                </a:solidFill>
                <a:latin typeface="Calibri" pitchFamily="34" charset="0"/>
                <a:ea typeface="Calibri" pitchFamily="34" charset="-122"/>
                <a:cs typeface="Calibri" pitchFamily="34" charset="-120"/>
              </a:rPr>
              <a:t>DESIGN DECISION 2</a:t>
            </a:r>
            <a:endParaRPr lang="en-US" sz="1000" dirty="0"/>
          </a:p>
        </p:txBody>
      </p:sp>
      <p:sp>
        <p:nvSpPr>
          <p:cNvPr id="3" name="Text 1"/>
          <p:cNvSpPr/>
          <p:nvPr/>
        </p:nvSpPr>
        <p:spPr>
          <a:xfrm>
            <a:off x="457200" y="502920"/>
            <a:ext cx="8229600" cy="411480"/>
          </a:xfrm>
          <a:prstGeom prst="rect">
            <a:avLst/>
          </a:prstGeom>
          <a:noFill/>
          <a:ln/>
        </p:spPr>
        <p:txBody>
          <a:bodyPr wrap="square" lIns="0" tIns="0" rIns="0" bIns="0"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The Map-First Interface</a:t>
            </a:r>
            <a:endParaRPr lang="en-US" sz="2600" dirty="0"/>
          </a:p>
        </p:txBody>
      </p:sp>
      <p:sp>
        <p:nvSpPr>
          <p:cNvPr id="4" name="Shape 2"/>
          <p:cNvSpPr/>
          <p:nvPr/>
        </p:nvSpPr>
        <p:spPr>
          <a:xfrm>
            <a:off x="457200" y="1188720"/>
            <a:ext cx="3931920" cy="14630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5" name="Shape 3"/>
          <p:cNvSpPr/>
          <p:nvPr/>
        </p:nvSpPr>
        <p:spPr>
          <a:xfrm>
            <a:off x="457200" y="1188720"/>
            <a:ext cx="73152" cy="1463040"/>
          </a:xfrm>
          <a:prstGeom prst="rect">
            <a:avLst/>
          </a:prstGeom>
          <a:solidFill>
            <a:srgbClr val="1D4ED8"/>
          </a:solidFill>
          <a:ln w="12700">
            <a:solidFill>
              <a:srgbClr val="333333"/>
            </a:solidFill>
            <a:prstDash val="solid"/>
          </a:ln>
        </p:spPr>
      </p:sp>
      <p:sp>
        <p:nvSpPr>
          <p:cNvPr id="6" name="Shape 4"/>
          <p:cNvSpPr/>
          <p:nvPr/>
        </p:nvSpPr>
        <p:spPr>
          <a:xfrm>
            <a:off x="685800" y="1371600"/>
            <a:ext cx="320040" cy="320040"/>
          </a:xfrm>
          <a:prstGeom prst="ellipse">
            <a:avLst/>
          </a:prstGeom>
          <a:solidFill>
            <a:srgbClr val="1D4ED8"/>
          </a:solidFill>
          <a:ln w="12700">
            <a:solidFill>
              <a:srgbClr val="333333"/>
            </a:solidFill>
            <a:prstDash val="solid"/>
          </a:ln>
        </p:spPr>
      </p:sp>
      <p:sp>
        <p:nvSpPr>
          <p:cNvPr id="7" name="Text 5"/>
          <p:cNvSpPr/>
          <p:nvPr/>
        </p:nvSpPr>
        <p:spPr>
          <a:xfrm>
            <a:off x="1143000" y="1371600"/>
            <a:ext cx="3108960" cy="109728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1. Spatial Context
</a:t>
            </a:r>
            <a:endParaRPr lang="en-US" sz="1400" dirty="0"/>
          </a:p>
          <a:p>
            <a:pPr indent="0" marL="0">
              <a:buNone/>
            </a:pPr>
            <a:r>
              <a:rPr lang="en-US" sz="1100" dirty="0">
                <a:solidFill>
                  <a:srgbClr val="475569"/>
                </a:solidFill>
                <a:latin typeface="Calibri" pitchFamily="34" charset="0"/>
                <a:ea typeface="Calibri" pitchFamily="34" charset="-122"/>
                <a:cs typeface="Calibri" pitchFamily="34" charset="-120"/>
              </a:rPr>
              <a:t>Commuters think geographically. Showing delay markers on an interactive map gives instant neighborhood delay status without lists.</a:t>
            </a:r>
            <a:endParaRPr lang="en-US" sz="1400" dirty="0"/>
          </a:p>
        </p:txBody>
      </p:sp>
      <p:sp>
        <p:nvSpPr>
          <p:cNvPr id="8" name="Shape 6"/>
          <p:cNvSpPr/>
          <p:nvPr/>
        </p:nvSpPr>
        <p:spPr>
          <a:xfrm>
            <a:off x="4754880" y="1188720"/>
            <a:ext cx="3931920" cy="14630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9" name="Shape 7"/>
          <p:cNvSpPr/>
          <p:nvPr/>
        </p:nvSpPr>
        <p:spPr>
          <a:xfrm>
            <a:off x="4754880" y="1188720"/>
            <a:ext cx="73152" cy="1463040"/>
          </a:xfrm>
          <a:prstGeom prst="rect">
            <a:avLst/>
          </a:prstGeom>
          <a:solidFill>
            <a:srgbClr val="DC2626"/>
          </a:solidFill>
          <a:ln w="12700">
            <a:solidFill>
              <a:srgbClr val="333333"/>
            </a:solidFill>
            <a:prstDash val="solid"/>
          </a:ln>
        </p:spPr>
      </p:sp>
      <p:sp>
        <p:nvSpPr>
          <p:cNvPr id="10" name="Shape 8"/>
          <p:cNvSpPr/>
          <p:nvPr/>
        </p:nvSpPr>
        <p:spPr>
          <a:xfrm>
            <a:off x="4983480" y="1371600"/>
            <a:ext cx="320040" cy="320040"/>
          </a:xfrm>
          <a:prstGeom prst="ellipse">
            <a:avLst/>
          </a:prstGeom>
          <a:solidFill>
            <a:srgbClr val="DC2626"/>
          </a:solidFill>
          <a:ln w="12700">
            <a:solidFill>
              <a:srgbClr val="333333"/>
            </a:solidFill>
            <a:prstDash val="solid"/>
          </a:ln>
        </p:spPr>
      </p:sp>
      <p:sp>
        <p:nvSpPr>
          <p:cNvPr id="11" name="Text 9"/>
          <p:cNvSpPr/>
          <p:nvPr/>
        </p:nvSpPr>
        <p:spPr>
          <a:xfrm>
            <a:off x="5440680" y="1371600"/>
            <a:ext cx="3108960" cy="109728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2. Overlay Search
</a:t>
            </a:r>
            <a:endParaRPr lang="en-US" sz="1400" dirty="0"/>
          </a:p>
          <a:p>
            <a:pPr indent="0" marL="0">
              <a:buNone/>
            </a:pPr>
            <a:r>
              <a:rPr lang="en-US" sz="1100" dirty="0">
                <a:solidFill>
                  <a:srgbClr val="475569"/>
                </a:solidFill>
                <a:latin typeface="Calibri" pitchFamily="34" charset="0"/>
                <a:ea typeface="Calibri" pitchFamily="34" charset="-122"/>
                <a:cs typeface="Calibri" pitchFamily="34" charset="-120"/>
              </a:rPr>
              <a:t>The search box overlays the map directly. Users search and see results without losing spatial context. Remembers recent history.</a:t>
            </a:r>
            <a:endParaRPr lang="en-US" sz="1400" dirty="0"/>
          </a:p>
        </p:txBody>
      </p:sp>
      <p:sp>
        <p:nvSpPr>
          <p:cNvPr id="12" name="Shape 10"/>
          <p:cNvSpPr/>
          <p:nvPr/>
        </p:nvSpPr>
        <p:spPr>
          <a:xfrm>
            <a:off x="457200" y="2926080"/>
            <a:ext cx="3931920" cy="14630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13" name="Shape 11"/>
          <p:cNvSpPr/>
          <p:nvPr/>
        </p:nvSpPr>
        <p:spPr>
          <a:xfrm>
            <a:off x="457200" y="2926080"/>
            <a:ext cx="73152" cy="1463040"/>
          </a:xfrm>
          <a:prstGeom prst="rect">
            <a:avLst/>
          </a:prstGeom>
          <a:solidFill>
            <a:srgbClr val="028090"/>
          </a:solidFill>
          <a:ln w="12700">
            <a:solidFill>
              <a:srgbClr val="333333"/>
            </a:solidFill>
            <a:prstDash val="solid"/>
          </a:ln>
        </p:spPr>
      </p:sp>
      <p:sp>
        <p:nvSpPr>
          <p:cNvPr id="14" name="Shape 12"/>
          <p:cNvSpPr/>
          <p:nvPr/>
        </p:nvSpPr>
        <p:spPr>
          <a:xfrm>
            <a:off x="685800" y="3108960"/>
            <a:ext cx="320040" cy="320040"/>
          </a:xfrm>
          <a:prstGeom prst="ellipse">
            <a:avLst/>
          </a:prstGeom>
          <a:solidFill>
            <a:srgbClr val="028090"/>
          </a:solidFill>
          <a:ln w="12700">
            <a:solidFill>
              <a:srgbClr val="333333"/>
            </a:solidFill>
            <a:prstDash val="solid"/>
          </a:ln>
        </p:spPr>
      </p:sp>
      <p:sp>
        <p:nvSpPr>
          <p:cNvPr id="15" name="Text 13"/>
          <p:cNvSpPr/>
          <p:nvPr/>
        </p:nvSpPr>
        <p:spPr>
          <a:xfrm>
            <a:off x="1143000" y="3108960"/>
            <a:ext cx="3108960" cy="109728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3. Quick Geolocation
</a:t>
            </a:r>
            <a:endParaRPr lang="en-US" sz="1400" dirty="0"/>
          </a:p>
          <a:p>
            <a:pPr indent="0" marL="0">
              <a:buNone/>
            </a:pPr>
            <a:r>
              <a:rPr lang="en-US" sz="1100" dirty="0">
                <a:solidFill>
                  <a:srgbClr val="475569"/>
                </a:solidFill>
                <a:latin typeface="Calibri" pitchFamily="34" charset="0"/>
                <a:ea typeface="Calibri" pitchFamily="34" charset="-122"/>
                <a:cs typeface="Calibri" pitchFamily="34" charset="-120"/>
              </a:rPr>
              <a:t>A dedicated geolocation floating button automatically pans the map to the user's current physical coordinates for immediate nearby stops.</a:t>
            </a:r>
            <a:endParaRPr lang="en-US" sz="1400" dirty="0"/>
          </a:p>
        </p:txBody>
      </p:sp>
      <p:sp>
        <p:nvSpPr>
          <p:cNvPr id="16" name="Shape 14"/>
          <p:cNvSpPr/>
          <p:nvPr/>
        </p:nvSpPr>
        <p:spPr>
          <a:xfrm>
            <a:off x="4754880" y="2926080"/>
            <a:ext cx="3931920" cy="14630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17" name="Shape 15"/>
          <p:cNvSpPr/>
          <p:nvPr/>
        </p:nvSpPr>
        <p:spPr>
          <a:xfrm>
            <a:off x="4754880" y="2926080"/>
            <a:ext cx="73152" cy="1463040"/>
          </a:xfrm>
          <a:prstGeom prst="rect">
            <a:avLst/>
          </a:prstGeom>
          <a:solidFill>
            <a:srgbClr val="16A34A"/>
          </a:solidFill>
          <a:ln w="12700">
            <a:solidFill>
              <a:srgbClr val="333333"/>
            </a:solidFill>
            <a:prstDash val="solid"/>
          </a:ln>
        </p:spPr>
      </p:sp>
      <p:sp>
        <p:nvSpPr>
          <p:cNvPr id="18" name="Shape 16"/>
          <p:cNvSpPr/>
          <p:nvPr/>
        </p:nvSpPr>
        <p:spPr>
          <a:xfrm>
            <a:off x="4983480" y="3108960"/>
            <a:ext cx="320040" cy="320040"/>
          </a:xfrm>
          <a:prstGeom prst="ellipse">
            <a:avLst/>
          </a:prstGeom>
          <a:solidFill>
            <a:srgbClr val="16A34A"/>
          </a:solidFill>
          <a:ln w="12700">
            <a:solidFill>
              <a:srgbClr val="333333"/>
            </a:solidFill>
            <a:prstDash val="solid"/>
          </a:ln>
        </p:spPr>
      </p:sp>
      <p:sp>
        <p:nvSpPr>
          <p:cNvPr id="19" name="Text 17"/>
          <p:cNvSpPr/>
          <p:nvPr/>
        </p:nvSpPr>
        <p:spPr>
          <a:xfrm>
            <a:off x="5440680" y="3108960"/>
            <a:ext cx="3108960" cy="109728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4. Progressive Disclosure
</a:t>
            </a:r>
            <a:endParaRPr lang="en-US" sz="1400" dirty="0"/>
          </a:p>
          <a:p>
            <a:pPr indent="0" marL="0">
              <a:buNone/>
            </a:pPr>
            <a:r>
              <a:rPr lang="en-US" sz="1100" dirty="0">
                <a:solidFill>
                  <a:srgbClr val="475569"/>
                </a:solidFill>
                <a:latin typeface="Calibri" pitchFamily="34" charset="0"/>
                <a:ea typeface="Calibri" pitchFamily="34" charset="-122"/>
                <a:cs typeface="Calibri" pitchFamily="34" charset="-120"/>
              </a:rPr>
              <a:t>Clean map layout hides noisy stop markers. User clicks a stop -&gt; views live departures -&gt; taps a line -&gt; inspects historical trends.</a:t>
            </a:r>
            <a:endParaRPr lang="en-US" sz="1400" dirty="0"/>
          </a:p>
        </p:txBody>
      </p:sp>
      <p:sp>
        <p:nvSpPr>
          <p:cNvPr id="20" name="Text 18"/>
          <p:cNvSpPr/>
          <p:nvPr/>
        </p:nvSpPr>
        <p:spPr>
          <a:xfrm>
            <a:off x="457200" y="4800600"/>
            <a:ext cx="64008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Förseningskartan | UX Prize Presentation</a:t>
            </a:r>
            <a:endParaRPr lang="en-US" sz="1000" dirty="0"/>
          </a:p>
        </p:txBody>
      </p:sp>
      <p:sp>
        <p:nvSpPr>
          <p:cNvPr id="21" name="Text 19"/>
          <p:cNvSpPr/>
          <p:nvPr/>
        </p:nvSpPr>
        <p:spPr>
          <a:xfrm>
            <a:off x="7315200" y="4800600"/>
            <a:ext cx="13716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Slide 6 of 16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28090"/>
                </a:solidFill>
                <a:latin typeface="Calibri" pitchFamily="34" charset="0"/>
                <a:ea typeface="Calibri" pitchFamily="34" charset="-122"/>
                <a:cs typeface="Calibri" pitchFamily="34" charset="-120"/>
              </a:rPr>
              <a:t>DESIGN DECISION 3</a:t>
            </a:r>
            <a:endParaRPr lang="en-US" sz="1000" dirty="0"/>
          </a:p>
        </p:txBody>
      </p:sp>
      <p:sp>
        <p:nvSpPr>
          <p:cNvPr id="3" name="Text 1"/>
          <p:cNvSpPr/>
          <p:nvPr/>
        </p:nvSpPr>
        <p:spPr>
          <a:xfrm>
            <a:off x="457200" y="502920"/>
            <a:ext cx="8229600" cy="411480"/>
          </a:xfrm>
          <a:prstGeom prst="rect">
            <a:avLst/>
          </a:prstGeom>
          <a:noFill/>
          <a:ln/>
        </p:spPr>
        <p:txBody>
          <a:bodyPr wrap="square" lIns="0" tIns="0" rIns="0" bIns="0"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User Consultations: Iterating on Feedback</a:t>
            </a:r>
            <a:endParaRPr lang="en-US" sz="2600" dirty="0"/>
          </a:p>
        </p:txBody>
      </p:sp>
      <p:sp>
        <p:nvSpPr>
          <p:cNvPr id="4" name="Shape 2"/>
          <p:cNvSpPr/>
          <p:nvPr/>
        </p:nvSpPr>
        <p:spPr>
          <a:xfrm>
            <a:off x="914400" y="1371600"/>
            <a:ext cx="7315200" cy="54864"/>
          </a:xfrm>
          <a:prstGeom prst="rect">
            <a:avLst/>
          </a:prstGeom>
          <a:solidFill>
            <a:srgbClr val="94A3B8"/>
          </a:solidFill>
          <a:ln w="12700">
            <a:solidFill>
              <a:srgbClr val="333333"/>
            </a:solidFill>
            <a:prstDash val="solid"/>
          </a:ln>
        </p:spPr>
      </p:sp>
      <p:sp>
        <p:nvSpPr>
          <p:cNvPr id="5" name="Shape 3"/>
          <p:cNvSpPr/>
          <p:nvPr/>
        </p:nvSpPr>
        <p:spPr>
          <a:xfrm>
            <a:off x="457200" y="1645920"/>
            <a:ext cx="3840480" cy="274320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6" name="Shape 4"/>
          <p:cNvSpPr/>
          <p:nvPr/>
        </p:nvSpPr>
        <p:spPr>
          <a:xfrm>
            <a:off x="457200" y="1645920"/>
            <a:ext cx="73152" cy="2743200"/>
          </a:xfrm>
          <a:prstGeom prst="rect">
            <a:avLst/>
          </a:prstGeom>
          <a:solidFill>
            <a:srgbClr val="028090"/>
          </a:solidFill>
          <a:ln w="12700">
            <a:solidFill>
              <a:srgbClr val="333333"/>
            </a:solidFill>
            <a:prstDash val="solid"/>
          </a:ln>
        </p:spPr>
      </p:sp>
      <p:sp>
        <p:nvSpPr>
          <p:cNvPr id="7" name="Text 5"/>
          <p:cNvSpPr/>
          <p:nvPr/>
        </p:nvSpPr>
        <p:spPr>
          <a:xfrm>
            <a:off x="640080" y="1828800"/>
            <a:ext cx="3474720" cy="54864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PROTOTYPING STAGE CONSULTATION
</a:t>
            </a:r>
            <a:endParaRPr lang="en-US" sz="1300" dirty="0"/>
          </a:p>
          <a:p>
            <a:pPr indent="0" marL="0">
              <a:buNone/>
            </a:pPr>
            <a:r>
              <a:rPr lang="en-US" sz="1000" i="1" dirty="0">
                <a:solidFill>
                  <a:srgbClr val="475569"/>
                </a:solidFill>
                <a:latin typeface="Calibri" pitchFamily="34" charset="0"/>
                <a:ea typeface="Calibri" pitchFamily="34" charset="-122"/>
                <a:cs typeface="Calibri" pitchFamily="34" charset="-120"/>
              </a:rPr>
              <a:t>Date: March 21 (Issue #30) | Focus: Layout &amp; Scanning
</a:t>
            </a:r>
            <a:endParaRPr lang="en-US" sz="1300" dirty="0"/>
          </a:p>
        </p:txBody>
      </p:sp>
      <p:sp>
        <p:nvSpPr>
          <p:cNvPr id="8" name="Text 6"/>
          <p:cNvSpPr/>
          <p:nvPr/>
        </p:nvSpPr>
        <p:spPr>
          <a:xfrm>
            <a:off x="640080" y="2377440"/>
            <a:ext cx="3474720" cy="1828800"/>
          </a:xfrm>
          <a:prstGeom prst="rect">
            <a:avLst/>
          </a:prstGeom>
          <a:noFill/>
          <a:ln/>
        </p:spPr>
        <p:txBody>
          <a:bodyPr wrap="square" lIns="0" tIns="0" rIns="0" bIns="0" rtlCol="0" anchor="ctr"/>
          <a:lstStyle/>
          <a:p>
            <a:pPr indent="0" marL="0">
              <a:spcAft>
                <a:spcPts val="400"/>
              </a:spcAft>
              <a:buNone/>
            </a:pPr>
            <a:r>
              <a:rPr lang="en-US" sz="1100" b="1" dirty="0">
                <a:solidFill>
                  <a:srgbClr val="0F172A"/>
                </a:solidFill>
                <a:latin typeface="Calibri" pitchFamily="34" charset="0"/>
                <a:ea typeface="Calibri" pitchFamily="34" charset="-122"/>
                <a:cs typeface="Calibri" pitchFamily="34" charset="-120"/>
              </a:rPr>
              <a:t>Feedback: </a:t>
            </a:r>
            <a:pPr indent="0" marL="0">
              <a:spcAft>
                <a:spcPts val="400"/>
              </a:spcAft>
              <a:buNone/>
            </a:pPr>
            <a:r>
              <a:rPr lang="en-US" sz="1100" dirty="0">
                <a:solidFill>
                  <a:srgbClr val="475569"/>
                </a:solidFill>
                <a:latin typeface="Calibri" pitchFamily="34" charset="0"/>
                <a:ea typeface="Calibri" pitchFamily="34" charset="-122"/>
                <a:cs typeface="Calibri" pitchFamily="34" charset="-120"/>
              </a:rPr>
              <a:t>Departure list was too long and confusing. Users struggled to scan multiple modes of transit at once.
</a:t>
            </a:r>
            <a:endParaRPr lang="en-US" sz="1100" dirty="0"/>
          </a:p>
          <a:p>
            <a:pPr indent="0" marL="0">
              <a:spcAft>
                <a:spcPts val="400"/>
              </a:spcAft>
              <a:buNone/>
            </a:pPr>
            <a:r>
              <a:rPr lang="en-US" sz="1100" b="1" dirty="0">
                <a:solidFill>
                  <a:srgbClr val="0F172A"/>
                </a:solidFill>
                <a:latin typeface="Calibri" pitchFamily="34" charset="0"/>
                <a:ea typeface="Calibri" pitchFamily="34" charset="-122"/>
                <a:cs typeface="Calibri" pitchFamily="34" charset="-120"/>
              </a:rPr>
              <a:t>Resolution: </a:t>
            </a:r>
            <a:pPr indent="0" marL="0">
              <a:spcAft>
                <a:spcPts val="400"/>
              </a:spcAft>
              <a:buNone/>
            </a:pPr>
            <a:r>
              <a:rPr lang="en-US" sz="1100" dirty="0">
                <a:solidFill>
                  <a:srgbClr val="475569"/>
                </a:solidFill>
                <a:latin typeface="Calibri" pitchFamily="34" charset="0"/>
                <a:ea typeface="Calibri" pitchFamily="34" charset="-122"/>
                <a:cs typeface="Calibri" pitchFamily="34" charset="-120"/>
              </a:rPr>
              <a:t>Grouped departures by mode (metro, bus). Added mode toggle pills to filter out unwanted lists (Issue #43).</a:t>
            </a:r>
            <a:endParaRPr lang="en-US" sz="1100" dirty="0"/>
          </a:p>
        </p:txBody>
      </p:sp>
      <p:sp>
        <p:nvSpPr>
          <p:cNvPr id="9" name="Shape 7"/>
          <p:cNvSpPr/>
          <p:nvPr/>
        </p:nvSpPr>
        <p:spPr>
          <a:xfrm>
            <a:off x="4846320" y="1645920"/>
            <a:ext cx="3840480" cy="274320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10" name="Shape 8"/>
          <p:cNvSpPr/>
          <p:nvPr/>
        </p:nvSpPr>
        <p:spPr>
          <a:xfrm>
            <a:off x="4846320" y="1645920"/>
            <a:ext cx="73152" cy="2743200"/>
          </a:xfrm>
          <a:prstGeom prst="rect">
            <a:avLst/>
          </a:prstGeom>
          <a:solidFill>
            <a:srgbClr val="1D4ED8"/>
          </a:solidFill>
          <a:ln w="12700">
            <a:solidFill>
              <a:srgbClr val="333333"/>
            </a:solidFill>
            <a:prstDash val="solid"/>
          </a:ln>
        </p:spPr>
      </p:sp>
      <p:sp>
        <p:nvSpPr>
          <p:cNvPr id="11" name="Text 9"/>
          <p:cNvSpPr/>
          <p:nvPr/>
        </p:nvSpPr>
        <p:spPr>
          <a:xfrm>
            <a:off x="5029200" y="1828800"/>
            <a:ext cx="3474720" cy="54864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EVALUATION STAGE CONSULTATION
</a:t>
            </a:r>
            <a:endParaRPr lang="en-US" sz="1300" dirty="0"/>
          </a:p>
          <a:p>
            <a:pPr indent="0" marL="0">
              <a:buNone/>
            </a:pPr>
            <a:r>
              <a:rPr lang="en-US" sz="1000" i="1" dirty="0">
                <a:solidFill>
                  <a:srgbClr val="475569"/>
                </a:solidFill>
                <a:latin typeface="Calibri" pitchFamily="34" charset="0"/>
                <a:ea typeface="Calibri" pitchFamily="34" charset="-122"/>
                <a:cs typeface="Calibri" pitchFamily="34" charset="-120"/>
              </a:rPr>
              <a:t>Date: May 11 (Issue #31) | Focus: Usability &amp; Details
</a:t>
            </a:r>
            <a:endParaRPr lang="en-US" sz="1300" dirty="0"/>
          </a:p>
        </p:txBody>
      </p:sp>
      <p:sp>
        <p:nvSpPr>
          <p:cNvPr id="12" name="Text 10"/>
          <p:cNvSpPr/>
          <p:nvPr/>
        </p:nvSpPr>
        <p:spPr>
          <a:xfrm>
            <a:off x="5029200" y="2377440"/>
            <a:ext cx="3474720" cy="1828800"/>
          </a:xfrm>
          <a:prstGeom prst="rect">
            <a:avLst/>
          </a:prstGeom>
          <a:noFill/>
          <a:ln/>
        </p:spPr>
        <p:txBody>
          <a:bodyPr wrap="square" lIns="0" tIns="0" rIns="0" bIns="0" rtlCol="0" anchor="ctr"/>
          <a:lstStyle/>
          <a:p>
            <a:pPr indent="0" marL="0">
              <a:spcAft>
                <a:spcPts val="400"/>
              </a:spcAft>
              <a:buNone/>
            </a:pPr>
            <a:r>
              <a:rPr lang="en-US" sz="1100" b="1" dirty="0">
                <a:solidFill>
                  <a:srgbClr val="0F172A"/>
                </a:solidFill>
                <a:latin typeface="Calibri" pitchFamily="34" charset="0"/>
                <a:ea typeface="Calibri" pitchFamily="34" charset="-122"/>
                <a:cs typeface="Calibri" pitchFamily="34" charset="-120"/>
              </a:rPr>
              <a:t>Feedback: </a:t>
            </a:r>
            <a:pPr indent="0" marL="0">
              <a:spcAft>
                <a:spcPts val="400"/>
              </a:spcAft>
              <a:buNone/>
            </a:pPr>
            <a:r>
              <a:rPr lang="en-US" sz="1100" dirty="0">
                <a:solidFill>
                  <a:srgbClr val="475569"/>
                </a:solidFill>
                <a:latin typeface="Calibri" pitchFamily="34" charset="0"/>
                <a:ea typeface="Calibri" pitchFamily="34" charset="-122"/>
                <a:cs typeface="Calibri" pitchFamily="34" charset="-120"/>
              </a:rPr>
              <a:t>No results for searches without Swedish accents (e.g., 'Fruangen'). Mobile panels blocked map entirely.
</a:t>
            </a:r>
            <a:endParaRPr lang="en-US" sz="1100" dirty="0"/>
          </a:p>
          <a:p>
            <a:pPr indent="0" marL="0">
              <a:spcAft>
                <a:spcPts val="400"/>
              </a:spcAft>
              <a:buNone/>
            </a:pPr>
            <a:r>
              <a:rPr lang="en-US" sz="1100" b="1" dirty="0">
                <a:solidFill>
                  <a:srgbClr val="0F172A"/>
                </a:solidFill>
                <a:latin typeface="Calibri" pitchFamily="34" charset="0"/>
                <a:ea typeface="Calibri" pitchFamily="34" charset="-122"/>
                <a:cs typeface="Calibri" pitchFamily="34" charset="-120"/>
              </a:rPr>
              <a:t>Resolution: </a:t>
            </a:r>
            <a:pPr indent="0" marL="0">
              <a:spcAft>
                <a:spcPts val="400"/>
              </a:spcAft>
              <a:buNone/>
            </a:pPr>
            <a:r>
              <a:rPr lang="en-US" sz="1100" dirty="0">
                <a:solidFill>
                  <a:srgbClr val="475569"/>
                </a:solidFill>
                <a:latin typeface="Calibri" pitchFamily="34" charset="0"/>
                <a:ea typeface="Calibri" pitchFamily="34" charset="-122"/>
                <a:cs typeface="Calibri" pitchFamily="34" charset="-120"/>
              </a:rPr>
              <a:t>Implemented accent-insensitive search. Engineered fullscreen bottom sheets for mobile devices (Issue #153, #154).</a:t>
            </a:r>
            <a:endParaRPr lang="en-US" sz="1100" dirty="0"/>
          </a:p>
        </p:txBody>
      </p:sp>
      <p:sp>
        <p:nvSpPr>
          <p:cNvPr id="13" name="Shape 11"/>
          <p:cNvSpPr/>
          <p:nvPr/>
        </p:nvSpPr>
        <p:spPr>
          <a:xfrm>
            <a:off x="2263140" y="1280160"/>
            <a:ext cx="228600" cy="228600"/>
          </a:xfrm>
          <a:prstGeom prst="ellipse">
            <a:avLst/>
          </a:prstGeom>
          <a:solidFill>
            <a:srgbClr val="028090"/>
          </a:solidFill>
          <a:ln w="12700">
            <a:solidFill>
              <a:srgbClr val="333333"/>
            </a:solidFill>
            <a:prstDash val="solid"/>
          </a:ln>
        </p:spPr>
      </p:sp>
      <p:sp>
        <p:nvSpPr>
          <p:cNvPr id="14" name="Shape 12"/>
          <p:cNvSpPr/>
          <p:nvPr/>
        </p:nvSpPr>
        <p:spPr>
          <a:xfrm>
            <a:off x="6652260" y="1280160"/>
            <a:ext cx="228600" cy="228600"/>
          </a:xfrm>
          <a:prstGeom prst="ellipse">
            <a:avLst/>
          </a:prstGeom>
          <a:solidFill>
            <a:srgbClr val="1D4ED8"/>
          </a:solidFill>
          <a:ln w="12700">
            <a:solidFill>
              <a:srgbClr val="333333"/>
            </a:solidFill>
            <a:prstDash val="solid"/>
          </a:ln>
        </p:spPr>
      </p:sp>
      <p:sp>
        <p:nvSpPr>
          <p:cNvPr id="15" name="Text 13"/>
          <p:cNvSpPr/>
          <p:nvPr/>
        </p:nvSpPr>
        <p:spPr>
          <a:xfrm>
            <a:off x="457200" y="4800600"/>
            <a:ext cx="64008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Förseningskartan | UX Prize Presentation</a:t>
            </a:r>
            <a:endParaRPr lang="en-US" sz="1000" dirty="0"/>
          </a:p>
        </p:txBody>
      </p:sp>
      <p:sp>
        <p:nvSpPr>
          <p:cNvPr id="16" name="Text 14"/>
          <p:cNvSpPr/>
          <p:nvPr/>
        </p:nvSpPr>
        <p:spPr>
          <a:xfrm>
            <a:off x="7315200" y="4800600"/>
            <a:ext cx="13716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Slide 7 of 16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28090"/>
                </a:solidFill>
                <a:latin typeface="Calibri" pitchFamily="34" charset="0"/>
                <a:ea typeface="Calibri" pitchFamily="34" charset="-122"/>
                <a:cs typeface="Calibri" pitchFamily="34" charset="-120"/>
              </a:rPr>
              <a:t>DESIGN DECISION 4</a:t>
            </a:r>
            <a:endParaRPr lang="en-US" sz="1000" dirty="0"/>
          </a:p>
        </p:txBody>
      </p:sp>
      <p:sp>
        <p:nvSpPr>
          <p:cNvPr id="3" name="Text 1"/>
          <p:cNvSpPr/>
          <p:nvPr/>
        </p:nvSpPr>
        <p:spPr>
          <a:xfrm>
            <a:off x="457200" y="502920"/>
            <a:ext cx="8229600" cy="411480"/>
          </a:xfrm>
          <a:prstGeom prst="rect">
            <a:avLst/>
          </a:prstGeom>
          <a:noFill/>
          <a:ln/>
        </p:spPr>
        <p:txBody>
          <a:bodyPr wrap="square" lIns="0" tIns="0" rIns="0" bIns="0"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Personalization &amp; Persistence</a:t>
            </a:r>
            <a:endParaRPr lang="en-US" sz="2600" dirty="0"/>
          </a:p>
        </p:txBody>
      </p:sp>
      <p:sp>
        <p:nvSpPr>
          <p:cNvPr id="4" name="Shape 2"/>
          <p:cNvSpPr/>
          <p:nvPr/>
        </p:nvSpPr>
        <p:spPr>
          <a:xfrm>
            <a:off x="457200" y="1188720"/>
            <a:ext cx="2560320" cy="320040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5" name="Shape 3"/>
          <p:cNvSpPr/>
          <p:nvPr/>
        </p:nvSpPr>
        <p:spPr>
          <a:xfrm>
            <a:off x="457200" y="1188720"/>
            <a:ext cx="73152" cy="3200400"/>
          </a:xfrm>
          <a:prstGeom prst="rect">
            <a:avLst/>
          </a:prstGeom>
          <a:solidFill>
            <a:srgbClr val="1D4ED8"/>
          </a:solidFill>
          <a:ln w="12700">
            <a:solidFill>
              <a:srgbClr val="333333"/>
            </a:solidFill>
            <a:prstDash val="solid"/>
          </a:ln>
        </p:spPr>
      </p:sp>
      <p:sp>
        <p:nvSpPr>
          <p:cNvPr id="6" name="Text 4"/>
          <p:cNvSpPr/>
          <p:nvPr/>
        </p:nvSpPr>
        <p:spPr>
          <a:xfrm>
            <a:off x="640080" y="1371600"/>
            <a:ext cx="2194560" cy="45720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1. Google Sign-In &amp; Auth
</a:t>
            </a:r>
            <a:endParaRPr lang="en-US" sz="1400" dirty="0"/>
          </a:p>
        </p:txBody>
      </p:sp>
      <p:sp>
        <p:nvSpPr>
          <p:cNvPr id="7" name="Text 5"/>
          <p:cNvSpPr/>
          <p:nvPr/>
        </p:nvSpPr>
        <p:spPr>
          <a:xfrm>
            <a:off x="640080" y="2011680"/>
            <a:ext cx="2194560" cy="2194560"/>
          </a:xfrm>
          <a:prstGeom prst="rect">
            <a:avLst/>
          </a:prstGeom>
          <a:noFill/>
          <a:ln/>
        </p:spPr>
        <p:txBody>
          <a:bodyPr wrap="square" lIns="0" tIns="0" rIns="0" bIns="0" rtlCol="0" anchor="ctr"/>
          <a:lstStyle/>
          <a:p>
            <a:pPr marL="127000" indent="-127000">
              <a:spcAft>
                <a:spcPts val="800"/>
              </a:spcAft>
              <a:buSzPct val="100000"/>
              <a:buChar char="•"/>
            </a:pPr>
            <a:r>
              <a:rPr lang="en-US" sz="1200" dirty="0">
                <a:solidFill>
                  <a:srgbClr val="475569"/>
                </a:solidFill>
                <a:latin typeface="Calibri" pitchFamily="34" charset="0"/>
                <a:ea typeface="Calibri" pitchFamily="34" charset="-122"/>
                <a:cs typeface="Calibri" pitchFamily="34" charset="-120"/>
              </a:rPr>
              <a:t>Integrated Firebase Auth seamlessly for user logins.</a:t>
            </a:r>
            <a:endParaRPr lang="en-US" sz="1200" dirty="0"/>
          </a:p>
          <a:p>
            <a:pPr marL="127000" indent="-127000">
              <a:spcAft>
                <a:spcPts val="800"/>
              </a:spcAft>
              <a:buSzPct val="100000"/>
              <a:buChar char="•"/>
            </a:pPr>
            <a:r>
              <a:rPr lang="en-US" sz="1200" dirty="0">
                <a:solidFill>
                  <a:srgbClr val="475569"/>
                </a:solidFill>
                <a:latin typeface="Calibri" pitchFamily="34" charset="0"/>
                <a:ea typeface="Calibri" pitchFamily="34" charset="-122"/>
                <a:cs typeface="Calibri" pitchFamily="34" charset="-120"/>
              </a:rPr>
              <a:t>Syncs preferences and lists instantly to the cloud.</a:t>
            </a:r>
            <a:endParaRPr lang="en-US" sz="1200" dirty="0"/>
          </a:p>
          <a:p>
            <a:pPr marL="127000" indent="-127000">
              <a:spcAft>
                <a:spcPts val="800"/>
              </a:spcAft>
              <a:buSzPct val="100000"/>
              <a:buChar char="•"/>
            </a:pPr>
            <a:r>
              <a:rPr lang="en-US" sz="1200" dirty="0">
                <a:solidFill>
                  <a:srgbClr val="475569"/>
                </a:solidFill>
                <a:latin typeface="Calibri" pitchFamily="34" charset="0"/>
                <a:ea typeface="Calibri" pitchFamily="34" charset="-122"/>
                <a:cs typeface="Calibri" pitchFamily="34" charset="-120"/>
              </a:rPr>
              <a:t>Maintains standard security standards on web client.</a:t>
            </a:r>
            <a:endParaRPr lang="en-US" sz="1200" dirty="0"/>
          </a:p>
        </p:txBody>
      </p:sp>
      <p:sp>
        <p:nvSpPr>
          <p:cNvPr id="8" name="Shape 6"/>
          <p:cNvSpPr/>
          <p:nvPr/>
        </p:nvSpPr>
        <p:spPr>
          <a:xfrm>
            <a:off x="3291840" y="1188720"/>
            <a:ext cx="2560320" cy="320040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9" name="Shape 7"/>
          <p:cNvSpPr/>
          <p:nvPr/>
        </p:nvSpPr>
        <p:spPr>
          <a:xfrm>
            <a:off x="3291840" y="1188720"/>
            <a:ext cx="73152" cy="3200400"/>
          </a:xfrm>
          <a:prstGeom prst="rect">
            <a:avLst/>
          </a:prstGeom>
          <a:solidFill>
            <a:srgbClr val="028090"/>
          </a:solidFill>
          <a:ln w="12700">
            <a:solidFill>
              <a:srgbClr val="333333"/>
            </a:solidFill>
            <a:prstDash val="solid"/>
          </a:ln>
        </p:spPr>
      </p:sp>
      <p:sp>
        <p:nvSpPr>
          <p:cNvPr id="10" name="Text 8"/>
          <p:cNvSpPr/>
          <p:nvPr/>
        </p:nvSpPr>
        <p:spPr>
          <a:xfrm>
            <a:off x="3474720" y="1371600"/>
            <a:ext cx="2194560" cy="45720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2. Cloud Favorite Stops
</a:t>
            </a:r>
            <a:endParaRPr lang="en-US" sz="1400" dirty="0"/>
          </a:p>
        </p:txBody>
      </p:sp>
      <p:sp>
        <p:nvSpPr>
          <p:cNvPr id="11" name="Text 9"/>
          <p:cNvSpPr/>
          <p:nvPr/>
        </p:nvSpPr>
        <p:spPr>
          <a:xfrm>
            <a:off x="3474720" y="2011680"/>
            <a:ext cx="2194560" cy="2194560"/>
          </a:xfrm>
          <a:prstGeom prst="rect">
            <a:avLst/>
          </a:prstGeom>
          <a:noFill/>
          <a:ln/>
        </p:spPr>
        <p:txBody>
          <a:bodyPr wrap="square" lIns="0" tIns="0" rIns="0" bIns="0" rtlCol="0" anchor="ctr"/>
          <a:lstStyle/>
          <a:p>
            <a:pPr marL="127000" indent="-127000">
              <a:spcAft>
                <a:spcPts val="800"/>
              </a:spcAft>
              <a:buSzPct val="100000"/>
              <a:buChar char="•"/>
            </a:pPr>
            <a:r>
              <a:rPr lang="en-US" sz="1200" dirty="0">
                <a:solidFill>
                  <a:srgbClr val="475569"/>
                </a:solidFill>
                <a:latin typeface="Calibri" pitchFamily="34" charset="0"/>
                <a:ea typeface="Calibri" pitchFamily="34" charset="-122"/>
                <a:cs typeface="Calibri" pitchFamily="34" charset="-120"/>
              </a:rPr>
              <a:t>Star stops in map views or departure details panels.</a:t>
            </a:r>
            <a:endParaRPr lang="en-US" sz="1200" dirty="0"/>
          </a:p>
          <a:p>
            <a:pPr marL="127000" indent="-127000">
              <a:spcAft>
                <a:spcPts val="800"/>
              </a:spcAft>
              <a:buSzPct val="100000"/>
              <a:buChar char="•"/>
            </a:pPr>
            <a:r>
              <a:rPr lang="en-US" sz="1200" dirty="0">
                <a:solidFill>
                  <a:srgbClr val="475569"/>
                </a:solidFill>
                <a:latin typeface="Calibri" pitchFamily="34" charset="0"/>
                <a:ea typeface="Calibri" pitchFamily="34" charset="-122"/>
                <a:cs typeface="Calibri" pitchFamily="34" charset="-120"/>
              </a:rPr>
              <a:t>Populates favorites automatically in the sidebar.</a:t>
            </a:r>
            <a:endParaRPr lang="en-US" sz="1200" dirty="0"/>
          </a:p>
          <a:p>
            <a:pPr marL="127000" indent="-127000">
              <a:spcAft>
                <a:spcPts val="800"/>
              </a:spcAft>
              <a:buSzPct val="100000"/>
              <a:buChar char="•"/>
            </a:pPr>
            <a:r>
              <a:rPr lang="en-US" sz="1200" dirty="0">
                <a:solidFill>
                  <a:srgbClr val="475569"/>
                </a:solidFill>
                <a:latin typeface="Calibri" pitchFamily="34" charset="0"/>
                <a:ea typeface="Calibri" pitchFamily="34" charset="-122"/>
                <a:cs typeface="Calibri" pitchFamily="34" charset="-120"/>
              </a:rPr>
              <a:t>Synchronizes instantly across devices for logged-in users.</a:t>
            </a:r>
            <a:endParaRPr lang="en-US" sz="1200" dirty="0"/>
          </a:p>
        </p:txBody>
      </p:sp>
      <p:sp>
        <p:nvSpPr>
          <p:cNvPr id="12" name="Shape 10"/>
          <p:cNvSpPr/>
          <p:nvPr/>
        </p:nvSpPr>
        <p:spPr>
          <a:xfrm>
            <a:off x="6126480" y="1188720"/>
            <a:ext cx="2560320" cy="320040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13" name="Shape 11"/>
          <p:cNvSpPr/>
          <p:nvPr/>
        </p:nvSpPr>
        <p:spPr>
          <a:xfrm>
            <a:off x="6126480" y="1188720"/>
            <a:ext cx="73152" cy="3200400"/>
          </a:xfrm>
          <a:prstGeom prst="rect">
            <a:avLst/>
          </a:prstGeom>
          <a:solidFill>
            <a:srgbClr val="16A34A"/>
          </a:solidFill>
          <a:ln w="12700">
            <a:solidFill>
              <a:srgbClr val="333333"/>
            </a:solidFill>
            <a:prstDash val="solid"/>
          </a:ln>
        </p:spPr>
      </p:sp>
      <p:sp>
        <p:nvSpPr>
          <p:cNvPr id="14" name="Text 12"/>
          <p:cNvSpPr/>
          <p:nvPr/>
        </p:nvSpPr>
        <p:spPr>
          <a:xfrm>
            <a:off x="6309360" y="1371600"/>
            <a:ext cx="2194560" cy="45720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3. Live Cross-Tab Sync
</a:t>
            </a:r>
            <a:endParaRPr lang="en-US" sz="1400" dirty="0"/>
          </a:p>
        </p:txBody>
      </p:sp>
      <p:sp>
        <p:nvSpPr>
          <p:cNvPr id="15" name="Text 13"/>
          <p:cNvSpPr/>
          <p:nvPr/>
        </p:nvSpPr>
        <p:spPr>
          <a:xfrm>
            <a:off x="6309360" y="2011680"/>
            <a:ext cx="2194560" cy="2194560"/>
          </a:xfrm>
          <a:prstGeom prst="rect">
            <a:avLst/>
          </a:prstGeom>
          <a:noFill/>
          <a:ln/>
        </p:spPr>
        <p:txBody>
          <a:bodyPr wrap="square" lIns="0" tIns="0" rIns="0" bIns="0" rtlCol="0" anchor="ctr"/>
          <a:lstStyle/>
          <a:p>
            <a:pPr marL="127000" indent="-127000">
              <a:spcAft>
                <a:spcPts val="800"/>
              </a:spcAft>
              <a:buSzPct val="100000"/>
              <a:buChar char="•"/>
            </a:pPr>
            <a:r>
              <a:rPr lang="en-US" sz="1200" dirty="0">
                <a:solidFill>
                  <a:srgbClr val="475569"/>
                </a:solidFill>
                <a:latin typeface="Calibri" pitchFamily="34" charset="0"/>
                <a:ea typeface="Calibri" pitchFamily="34" charset="-122"/>
                <a:cs typeface="Calibri" pitchFamily="34" charset="-120"/>
              </a:rPr>
              <a:t>Configured active Firestore listeners inside Redux hooks.</a:t>
            </a:r>
            <a:endParaRPr lang="en-US" sz="1200" dirty="0"/>
          </a:p>
          <a:p>
            <a:pPr marL="127000" indent="-127000">
              <a:spcAft>
                <a:spcPts val="800"/>
              </a:spcAft>
              <a:buSzPct val="100000"/>
              <a:buChar char="•"/>
            </a:pPr>
            <a:r>
              <a:rPr lang="en-US" sz="1200" dirty="0">
                <a:solidFill>
                  <a:srgbClr val="475569"/>
                </a:solidFill>
                <a:latin typeface="Calibri" pitchFamily="34" charset="0"/>
                <a:ea typeface="Calibri" pitchFamily="34" charset="-122"/>
                <a:cs typeface="Calibri" pitchFamily="34" charset="-120"/>
              </a:rPr>
              <a:t>Altering preferences in one tab updates all other tabs instantly.</a:t>
            </a:r>
            <a:endParaRPr lang="en-US" sz="1200" dirty="0"/>
          </a:p>
          <a:p>
            <a:pPr marL="127000" indent="-127000">
              <a:spcAft>
                <a:spcPts val="800"/>
              </a:spcAft>
              <a:buSzPct val="100000"/>
              <a:buChar char="•"/>
            </a:pPr>
            <a:r>
              <a:rPr lang="en-US" sz="1200" dirty="0">
                <a:solidFill>
                  <a:srgbClr val="475569"/>
                </a:solidFill>
                <a:latin typeface="Calibri" pitchFamily="34" charset="0"/>
                <a:ea typeface="Calibri" pitchFamily="34" charset="-122"/>
                <a:cs typeface="Calibri" pitchFamily="34" charset="-120"/>
              </a:rPr>
              <a:t>Provides seamless transitions between mobile and desktop.</a:t>
            </a:r>
            <a:endParaRPr lang="en-US" sz="1200" dirty="0"/>
          </a:p>
        </p:txBody>
      </p:sp>
      <p:sp>
        <p:nvSpPr>
          <p:cNvPr id="16" name="Text 14"/>
          <p:cNvSpPr/>
          <p:nvPr/>
        </p:nvSpPr>
        <p:spPr>
          <a:xfrm>
            <a:off x="457200" y="4800600"/>
            <a:ext cx="64008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Förseningskartan | UX Prize Presentation</a:t>
            </a:r>
            <a:endParaRPr lang="en-US" sz="1000" dirty="0"/>
          </a:p>
        </p:txBody>
      </p:sp>
      <p:sp>
        <p:nvSpPr>
          <p:cNvPr id="17" name="Text 15"/>
          <p:cNvSpPr/>
          <p:nvPr/>
        </p:nvSpPr>
        <p:spPr>
          <a:xfrm>
            <a:off x="7315200" y="4800600"/>
            <a:ext cx="13716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Slide 8 of 16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28090"/>
                </a:solidFill>
                <a:latin typeface="Calibri" pitchFamily="34" charset="0"/>
                <a:ea typeface="Calibri" pitchFamily="34" charset="-122"/>
                <a:cs typeface="Calibri" pitchFamily="34" charset="-120"/>
              </a:rPr>
              <a:t>DESIGN DECISION 5</a:t>
            </a:r>
            <a:endParaRPr lang="en-US" sz="1000" dirty="0"/>
          </a:p>
        </p:txBody>
      </p:sp>
      <p:sp>
        <p:nvSpPr>
          <p:cNvPr id="3" name="Text 1"/>
          <p:cNvSpPr/>
          <p:nvPr/>
        </p:nvSpPr>
        <p:spPr>
          <a:xfrm>
            <a:off x="457200" y="502920"/>
            <a:ext cx="8229600" cy="411480"/>
          </a:xfrm>
          <a:prstGeom prst="rect">
            <a:avLst/>
          </a:prstGeom>
          <a:noFill/>
          <a:ln/>
        </p:spPr>
        <p:txBody>
          <a:bodyPr wrap="square" lIns="0" tIns="0" rIns="0" bIns="0"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Visual Polish: Theming &amp; Translations</a:t>
            </a:r>
            <a:endParaRPr lang="en-US" sz="2600" dirty="0"/>
          </a:p>
        </p:txBody>
      </p:sp>
      <p:sp>
        <p:nvSpPr>
          <p:cNvPr id="4" name="Shape 2"/>
          <p:cNvSpPr/>
          <p:nvPr/>
        </p:nvSpPr>
        <p:spPr>
          <a:xfrm>
            <a:off x="457200" y="1188720"/>
            <a:ext cx="2560320" cy="201168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5" name="Shape 3"/>
          <p:cNvSpPr/>
          <p:nvPr/>
        </p:nvSpPr>
        <p:spPr>
          <a:xfrm>
            <a:off x="457200" y="1188720"/>
            <a:ext cx="73152" cy="2011680"/>
          </a:xfrm>
          <a:prstGeom prst="rect">
            <a:avLst/>
          </a:prstGeom>
          <a:solidFill>
            <a:srgbClr val="0D9488"/>
          </a:solidFill>
          <a:ln w="12700">
            <a:solidFill>
              <a:srgbClr val="333333"/>
            </a:solidFill>
            <a:prstDash val="solid"/>
          </a:ln>
        </p:spPr>
      </p:sp>
      <p:sp>
        <p:nvSpPr>
          <p:cNvPr id="6" name="Text 4"/>
          <p:cNvSpPr/>
          <p:nvPr/>
        </p:nvSpPr>
        <p:spPr>
          <a:xfrm>
            <a:off x="640080" y="1463040"/>
            <a:ext cx="2194560" cy="1463040"/>
          </a:xfrm>
          <a:prstGeom prst="rect">
            <a:avLst/>
          </a:prstGeom>
          <a:noFill/>
          <a:ln/>
        </p:spPr>
        <p:txBody>
          <a:bodyPr wrap="square" lIns="0" tIns="0" rIns="0" bIns="0" rtlCol="0" anchor="ctr"/>
          <a:lstStyle/>
          <a:p>
            <a:pPr indent="0" marL="0">
              <a:buNone/>
            </a:pPr>
            <a:r>
              <a:rPr lang="en-US" sz="1600" b="1" dirty="0">
                <a:solidFill>
                  <a:srgbClr val="1E293B"/>
                </a:solidFill>
                <a:latin typeface="Trebuchet MS" pitchFamily="34" charset="0"/>
                <a:ea typeface="Trebuchet MS" pitchFamily="34" charset="-122"/>
                <a:cs typeface="Trebuchet MS" pitchFamily="34" charset="-120"/>
              </a:rPr>
              <a:t>Light Theme
</a:t>
            </a:r>
            <a:endParaRPr lang="en-US" sz="1600" dirty="0"/>
          </a:p>
          <a:p>
            <a:pPr indent="0" marL="0">
              <a:buNone/>
            </a:pPr>
            <a:r>
              <a:rPr lang="en-US" sz="1100" i="1" dirty="0">
                <a:solidFill>
                  <a:srgbClr val="475569"/>
                </a:solidFill>
                <a:latin typeface="Calibri" pitchFamily="34" charset="0"/>
                <a:ea typeface="Calibri" pitchFamily="34" charset="-122"/>
                <a:cs typeface="Calibri" pitchFamily="34" charset="-120"/>
              </a:rPr>
              <a:t>Clean &amp; readable
</a:t>
            </a:r>
            <a:endParaRPr lang="en-US" sz="1600" dirty="0"/>
          </a:p>
          <a:p>
            <a:pPr indent="0" marL="0">
              <a:buNone/>
            </a:pPr>
            <a:r>
              <a:rPr lang="en-US" sz="1000" b="1" dirty="0">
                <a:solidFill>
                  <a:srgbClr val="0D9488"/>
                </a:solidFill>
                <a:latin typeface="Calibri" pitchFamily="34" charset="0"/>
                <a:ea typeface="Calibri" pitchFamily="34" charset="-122"/>
                <a:cs typeface="Calibri" pitchFamily="34" charset="-120"/>
              </a:rPr>
              <a:t>Theme color mode preview</a:t>
            </a:r>
            <a:endParaRPr lang="en-US" sz="1600" dirty="0"/>
          </a:p>
        </p:txBody>
      </p:sp>
      <p:sp>
        <p:nvSpPr>
          <p:cNvPr id="7" name="Shape 5"/>
          <p:cNvSpPr/>
          <p:nvPr/>
        </p:nvSpPr>
        <p:spPr>
          <a:xfrm>
            <a:off x="3291840" y="1188720"/>
            <a:ext cx="2560320" cy="2011680"/>
          </a:xfrm>
          <a:prstGeom prst="rect">
            <a:avLst/>
          </a:prstGeom>
          <a:solidFill>
            <a:srgbClr val="0F172A"/>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8" name="Shape 6"/>
          <p:cNvSpPr/>
          <p:nvPr/>
        </p:nvSpPr>
        <p:spPr>
          <a:xfrm>
            <a:off x="3291840" y="1188720"/>
            <a:ext cx="73152" cy="2011680"/>
          </a:xfrm>
          <a:prstGeom prst="rect">
            <a:avLst/>
          </a:prstGeom>
          <a:solidFill>
            <a:srgbClr val="38BDF8"/>
          </a:solidFill>
          <a:ln w="12700">
            <a:solidFill>
              <a:srgbClr val="333333"/>
            </a:solidFill>
            <a:prstDash val="solid"/>
          </a:ln>
        </p:spPr>
      </p:sp>
      <p:sp>
        <p:nvSpPr>
          <p:cNvPr id="9" name="Text 7"/>
          <p:cNvSpPr/>
          <p:nvPr/>
        </p:nvSpPr>
        <p:spPr>
          <a:xfrm>
            <a:off x="3474720" y="1463040"/>
            <a:ext cx="2194560" cy="1463040"/>
          </a:xfrm>
          <a:prstGeom prst="rect">
            <a:avLst/>
          </a:prstGeom>
          <a:noFill/>
          <a:ln/>
        </p:spPr>
        <p:txBody>
          <a:bodyPr wrap="square" lIns="0" tIns="0" rIns="0" bIns="0" rtlCol="0" anchor="ctr"/>
          <a:lstStyle/>
          <a:p>
            <a:pPr indent="0" marL="0">
              <a:buNone/>
            </a:pPr>
            <a:r>
              <a:rPr lang="en-US" sz="1600" b="1" dirty="0">
                <a:solidFill>
                  <a:srgbClr val="F8FAFC"/>
                </a:solidFill>
                <a:latin typeface="Trebuchet MS" pitchFamily="34" charset="0"/>
                <a:ea typeface="Trebuchet MS" pitchFamily="34" charset="-122"/>
                <a:cs typeface="Trebuchet MS" pitchFamily="34" charset="-120"/>
              </a:rPr>
              <a:t>Dark Theme
</a:t>
            </a:r>
            <a:endParaRPr lang="en-US" sz="1600" dirty="0"/>
          </a:p>
          <a:p>
            <a:pPr indent="0" marL="0">
              <a:buNone/>
            </a:pPr>
            <a:r>
              <a:rPr lang="en-US" sz="1100" i="1" dirty="0">
                <a:solidFill>
                  <a:srgbClr val="94A3B8"/>
                </a:solidFill>
                <a:latin typeface="Calibri" pitchFamily="34" charset="0"/>
                <a:ea typeface="Calibri" pitchFamily="34" charset="-122"/>
                <a:cs typeface="Calibri" pitchFamily="34" charset="-120"/>
              </a:rPr>
              <a:t>Comfortable at night
</a:t>
            </a:r>
            <a:endParaRPr lang="en-US" sz="1600" dirty="0"/>
          </a:p>
          <a:p>
            <a:pPr indent="0" marL="0">
              <a:buNone/>
            </a:pPr>
            <a:r>
              <a:rPr lang="en-US" sz="1000" b="1" dirty="0">
                <a:solidFill>
                  <a:srgbClr val="F8FAFC"/>
                </a:solidFill>
                <a:latin typeface="Calibri" pitchFamily="34" charset="0"/>
                <a:ea typeface="Calibri" pitchFamily="34" charset="-122"/>
                <a:cs typeface="Calibri" pitchFamily="34" charset="-120"/>
              </a:rPr>
              <a:t>Theme color mode preview</a:t>
            </a:r>
            <a:endParaRPr lang="en-US" sz="1600" dirty="0"/>
          </a:p>
        </p:txBody>
      </p:sp>
      <p:sp>
        <p:nvSpPr>
          <p:cNvPr id="10" name="Shape 8"/>
          <p:cNvSpPr/>
          <p:nvPr/>
        </p:nvSpPr>
        <p:spPr>
          <a:xfrm>
            <a:off x="6126480" y="1188720"/>
            <a:ext cx="2560320" cy="2011680"/>
          </a:xfrm>
          <a:prstGeom prst="rect">
            <a:avLst/>
          </a:prstGeom>
          <a:solidFill>
            <a:srgbClr val="1E3A8A"/>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11" name="Shape 9"/>
          <p:cNvSpPr/>
          <p:nvPr/>
        </p:nvSpPr>
        <p:spPr>
          <a:xfrm>
            <a:off x="6126480" y="1188720"/>
            <a:ext cx="73152" cy="2011680"/>
          </a:xfrm>
          <a:prstGeom prst="rect">
            <a:avLst/>
          </a:prstGeom>
          <a:solidFill>
            <a:srgbClr val="FBBF24"/>
          </a:solidFill>
          <a:ln w="12700">
            <a:solidFill>
              <a:srgbClr val="333333"/>
            </a:solidFill>
            <a:prstDash val="solid"/>
          </a:ln>
        </p:spPr>
      </p:sp>
      <p:sp>
        <p:nvSpPr>
          <p:cNvPr id="12" name="Text 10"/>
          <p:cNvSpPr/>
          <p:nvPr/>
        </p:nvSpPr>
        <p:spPr>
          <a:xfrm>
            <a:off x="6309360" y="1463040"/>
            <a:ext cx="2194560" cy="146304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Transit Blue Theme
</a:t>
            </a:r>
            <a:endParaRPr lang="en-US" sz="1600" dirty="0"/>
          </a:p>
          <a:p>
            <a:pPr indent="0" marL="0">
              <a:buNone/>
            </a:pPr>
            <a:r>
              <a:rPr lang="en-US" sz="1100" i="1" dirty="0">
                <a:solidFill>
                  <a:srgbClr val="94A3B8"/>
                </a:solidFill>
                <a:latin typeface="Calibri" pitchFamily="34" charset="0"/>
                <a:ea typeface="Calibri" pitchFamily="34" charset="-122"/>
                <a:cs typeface="Calibri" pitchFamily="34" charset="-120"/>
              </a:rPr>
              <a:t>SL Stockholm branding
</a:t>
            </a:r>
            <a:endParaRPr lang="en-US" sz="1600" dirty="0"/>
          </a:p>
          <a:p>
            <a:pPr indent="0" marL="0">
              <a:buNone/>
            </a:pPr>
            <a:r>
              <a:rPr lang="en-US" sz="1000" b="1" dirty="0">
                <a:solidFill>
                  <a:srgbClr val="FBBF24"/>
                </a:solidFill>
                <a:latin typeface="Calibri" pitchFamily="34" charset="0"/>
                <a:ea typeface="Calibri" pitchFamily="34" charset="-122"/>
                <a:cs typeface="Calibri" pitchFamily="34" charset="-120"/>
              </a:rPr>
              <a:t>Theme color mode preview</a:t>
            </a:r>
            <a:endParaRPr lang="en-US" sz="1600" dirty="0"/>
          </a:p>
        </p:txBody>
      </p:sp>
      <p:sp>
        <p:nvSpPr>
          <p:cNvPr id="13" name="Shape 11"/>
          <p:cNvSpPr/>
          <p:nvPr/>
        </p:nvSpPr>
        <p:spPr>
          <a:xfrm>
            <a:off x="457200" y="3474720"/>
            <a:ext cx="8229600" cy="10058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14" name="Shape 12"/>
          <p:cNvSpPr/>
          <p:nvPr/>
        </p:nvSpPr>
        <p:spPr>
          <a:xfrm>
            <a:off x="457200" y="3474720"/>
            <a:ext cx="73152" cy="1005840"/>
          </a:xfrm>
          <a:prstGeom prst="rect">
            <a:avLst/>
          </a:prstGeom>
          <a:solidFill>
            <a:srgbClr val="028090"/>
          </a:solidFill>
          <a:ln w="12700">
            <a:solidFill>
              <a:srgbClr val="333333"/>
            </a:solidFill>
            <a:prstDash val="solid"/>
          </a:ln>
        </p:spPr>
      </p:sp>
      <p:sp>
        <p:nvSpPr>
          <p:cNvPr id="15" name="Text 13"/>
          <p:cNvSpPr/>
          <p:nvPr/>
        </p:nvSpPr>
        <p:spPr>
          <a:xfrm>
            <a:off x="640080" y="3657600"/>
            <a:ext cx="7863840" cy="7315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Internationalization (i18n) &amp; MUI Theme Engine
</a:t>
            </a:r>
            <a:endParaRPr lang="en-US" sz="1400" dirty="0"/>
          </a:p>
          <a:p>
            <a:pPr indent="0" marL="0">
              <a:buNone/>
            </a:pPr>
            <a:r>
              <a:rPr lang="en-US" sz="1100" dirty="0">
                <a:solidFill>
                  <a:srgbClr val="475569"/>
                </a:solidFill>
                <a:latin typeface="Calibri" pitchFamily="34" charset="0"/>
                <a:ea typeface="Calibri" pitchFamily="34" charset="-122"/>
                <a:cs typeface="Calibri" pitchFamily="34" charset="-120"/>
              </a:rPr>
              <a:t>Bilingual support (English ↔ Swedish) localized at all levels. Uses custom Material UI theme objects (`frontend/src/theme/`) ensuring clean components inherit colors globally without styles polluting components. Theme preferences are persisted in cloud storage.</a:t>
            </a:r>
            <a:endParaRPr lang="en-US" sz="1400" dirty="0"/>
          </a:p>
        </p:txBody>
      </p:sp>
      <p:sp>
        <p:nvSpPr>
          <p:cNvPr id="16" name="Text 14"/>
          <p:cNvSpPr/>
          <p:nvPr/>
        </p:nvSpPr>
        <p:spPr>
          <a:xfrm>
            <a:off x="457200" y="4800600"/>
            <a:ext cx="64008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Förseningskartan | UX Prize Presentation</a:t>
            </a:r>
            <a:endParaRPr lang="en-US" sz="1000" dirty="0"/>
          </a:p>
        </p:txBody>
      </p:sp>
      <p:sp>
        <p:nvSpPr>
          <p:cNvPr id="17" name="Text 15"/>
          <p:cNvSpPr/>
          <p:nvPr/>
        </p:nvSpPr>
        <p:spPr>
          <a:xfrm>
            <a:off x="7315200" y="4800600"/>
            <a:ext cx="13716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Slide 9 of 16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28090"/>
                </a:solidFill>
                <a:latin typeface="Calibri" pitchFamily="34" charset="0"/>
                <a:ea typeface="Calibri" pitchFamily="34" charset="-122"/>
                <a:cs typeface="Calibri" pitchFamily="34" charset="-120"/>
              </a:rPr>
              <a:t>PIPELINE</a:t>
            </a:r>
            <a:endParaRPr lang="en-US" sz="1000" dirty="0"/>
          </a:p>
        </p:txBody>
      </p:sp>
      <p:sp>
        <p:nvSpPr>
          <p:cNvPr id="3" name="Text 1"/>
          <p:cNvSpPr/>
          <p:nvPr/>
        </p:nvSpPr>
        <p:spPr>
          <a:xfrm>
            <a:off x="457200" y="502920"/>
            <a:ext cx="8229600" cy="411480"/>
          </a:xfrm>
          <a:prstGeom prst="rect">
            <a:avLst/>
          </a:prstGeom>
          <a:noFill/>
          <a:ln/>
        </p:spPr>
        <p:txBody>
          <a:bodyPr wrap="square" lIns="0" tIns="0" rIns="0" bIns="0"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Data Pipeline: Raw GTFS to Insight</a:t>
            </a:r>
            <a:endParaRPr lang="en-US" sz="2600" dirty="0"/>
          </a:p>
        </p:txBody>
      </p:sp>
      <p:sp>
        <p:nvSpPr>
          <p:cNvPr id="4" name="Shape 2"/>
          <p:cNvSpPr/>
          <p:nvPr/>
        </p:nvSpPr>
        <p:spPr>
          <a:xfrm>
            <a:off x="457200" y="1463040"/>
            <a:ext cx="1371600" cy="73152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5" name="Shape 3"/>
          <p:cNvSpPr/>
          <p:nvPr/>
        </p:nvSpPr>
        <p:spPr>
          <a:xfrm>
            <a:off x="457200" y="1463040"/>
            <a:ext cx="73152" cy="731520"/>
          </a:xfrm>
          <a:prstGeom prst="rect">
            <a:avLst/>
          </a:prstGeom>
          <a:solidFill>
            <a:srgbClr val="028090"/>
          </a:solidFill>
          <a:ln w="12700">
            <a:solidFill>
              <a:srgbClr val="333333"/>
            </a:solidFill>
            <a:prstDash val="solid"/>
          </a:ln>
        </p:spPr>
      </p:sp>
      <p:sp>
        <p:nvSpPr>
          <p:cNvPr id="6" name="Text 4"/>
          <p:cNvSpPr/>
          <p:nvPr/>
        </p:nvSpPr>
        <p:spPr>
          <a:xfrm>
            <a:off x="566928" y="1572768"/>
            <a:ext cx="1188720" cy="512064"/>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1. SL API
</a:t>
            </a:r>
            <a:endParaRPr lang="en-US" sz="1100" dirty="0"/>
          </a:p>
          <a:p>
            <a:pPr algn="ctr" indent="0" marL="0">
              <a:buNone/>
            </a:pPr>
            <a:r>
              <a:rPr lang="en-US" sz="800" dirty="0">
                <a:solidFill>
                  <a:srgbClr val="475569"/>
                </a:solidFill>
                <a:latin typeface="Calibri" pitchFamily="34" charset="0"/>
                <a:ea typeface="Calibri" pitchFamily="34" charset="-122"/>
                <a:cs typeface="Calibri" pitchFamily="34" charset="-120"/>
              </a:rPr>
              <a:t>GTFS Realtime Feed</a:t>
            </a:r>
            <a:endParaRPr lang="en-US" sz="1100" dirty="0"/>
          </a:p>
        </p:txBody>
      </p:sp>
      <p:sp>
        <p:nvSpPr>
          <p:cNvPr id="7" name="Shape 5"/>
          <p:cNvSpPr/>
          <p:nvPr/>
        </p:nvSpPr>
        <p:spPr>
          <a:xfrm>
            <a:off x="1828800" y="1828800"/>
            <a:ext cx="365760" cy="0"/>
          </a:xfrm>
          <a:prstGeom prst="line">
            <a:avLst/>
          </a:prstGeom>
          <a:noFill/>
          <a:ln w="19050">
            <a:solidFill>
              <a:srgbClr val="94A3B8"/>
            </a:solidFill>
            <a:prstDash val="dash"/>
          </a:ln>
        </p:spPr>
      </p:sp>
      <p:sp>
        <p:nvSpPr>
          <p:cNvPr id="8" name="Shape 6"/>
          <p:cNvSpPr/>
          <p:nvPr/>
        </p:nvSpPr>
        <p:spPr>
          <a:xfrm>
            <a:off x="2194560" y="1463040"/>
            <a:ext cx="1371600" cy="73152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9" name="Shape 7"/>
          <p:cNvSpPr/>
          <p:nvPr/>
        </p:nvSpPr>
        <p:spPr>
          <a:xfrm>
            <a:off x="2194560" y="1463040"/>
            <a:ext cx="73152" cy="731520"/>
          </a:xfrm>
          <a:prstGeom prst="rect">
            <a:avLst/>
          </a:prstGeom>
          <a:solidFill>
            <a:srgbClr val="028090"/>
          </a:solidFill>
          <a:ln w="12700">
            <a:solidFill>
              <a:srgbClr val="333333"/>
            </a:solidFill>
            <a:prstDash val="solid"/>
          </a:ln>
        </p:spPr>
      </p:sp>
      <p:sp>
        <p:nvSpPr>
          <p:cNvPr id="10" name="Text 8"/>
          <p:cNvSpPr/>
          <p:nvPr/>
        </p:nvSpPr>
        <p:spPr>
          <a:xfrm>
            <a:off x="2304288" y="1572768"/>
            <a:ext cx="1188720" cy="512064"/>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2. Aggregator
</a:t>
            </a:r>
            <a:endParaRPr lang="en-US" sz="1100" dirty="0"/>
          </a:p>
          <a:p>
            <a:pPr algn="ctr" indent="0" marL="0">
              <a:buNone/>
            </a:pPr>
            <a:r>
              <a:rPr lang="en-US" sz="800" dirty="0">
                <a:solidFill>
                  <a:srgbClr val="475569"/>
                </a:solidFill>
                <a:latin typeface="Calibri" pitchFamily="34" charset="0"/>
                <a:ea typeface="Calibri" pitchFamily="34" charset="-122"/>
                <a:cs typeface="Calibri" pitchFamily="34" charset="-120"/>
              </a:rPr>
              <a:t>Daily Go script</a:t>
            </a:r>
            <a:endParaRPr lang="en-US" sz="1100" dirty="0"/>
          </a:p>
        </p:txBody>
      </p:sp>
      <p:sp>
        <p:nvSpPr>
          <p:cNvPr id="11" name="Shape 9"/>
          <p:cNvSpPr/>
          <p:nvPr/>
        </p:nvSpPr>
        <p:spPr>
          <a:xfrm>
            <a:off x="3566160" y="1828800"/>
            <a:ext cx="365760" cy="0"/>
          </a:xfrm>
          <a:prstGeom prst="line">
            <a:avLst/>
          </a:prstGeom>
          <a:noFill/>
          <a:ln w="19050">
            <a:solidFill>
              <a:srgbClr val="94A3B8"/>
            </a:solidFill>
            <a:prstDash val="dash"/>
          </a:ln>
        </p:spPr>
      </p:sp>
      <p:sp>
        <p:nvSpPr>
          <p:cNvPr id="12" name="Shape 10"/>
          <p:cNvSpPr/>
          <p:nvPr/>
        </p:nvSpPr>
        <p:spPr>
          <a:xfrm>
            <a:off x="3931920" y="1463040"/>
            <a:ext cx="1371600" cy="73152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13" name="Shape 11"/>
          <p:cNvSpPr/>
          <p:nvPr/>
        </p:nvSpPr>
        <p:spPr>
          <a:xfrm>
            <a:off x="3931920" y="1463040"/>
            <a:ext cx="73152" cy="731520"/>
          </a:xfrm>
          <a:prstGeom prst="rect">
            <a:avLst/>
          </a:prstGeom>
          <a:solidFill>
            <a:srgbClr val="028090"/>
          </a:solidFill>
          <a:ln w="12700">
            <a:solidFill>
              <a:srgbClr val="333333"/>
            </a:solidFill>
            <a:prstDash val="solid"/>
          </a:ln>
        </p:spPr>
      </p:sp>
      <p:sp>
        <p:nvSpPr>
          <p:cNvPr id="14" name="Text 12"/>
          <p:cNvSpPr/>
          <p:nvPr/>
        </p:nvSpPr>
        <p:spPr>
          <a:xfrm>
            <a:off x="4041648" y="1572768"/>
            <a:ext cx="1188720" cy="512064"/>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3. Postgres
</a:t>
            </a:r>
            <a:endParaRPr lang="en-US" sz="1100" dirty="0"/>
          </a:p>
          <a:p>
            <a:pPr algn="ctr" indent="0" marL="0">
              <a:buNone/>
            </a:pPr>
            <a:r>
              <a:rPr lang="en-US" sz="800" dirty="0">
                <a:solidFill>
                  <a:srgbClr val="475569"/>
                </a:solidFill>
                <a:latin typeface="Calibri" pitchFamily="34" charset="0"/>
                <a:ea typeface="Calibri" pitchFamily="34" charset="-122"/>
                <a:cs typeface="Calibri" pitchFamily="34" charset="-120"/>
              </a:rPr>
              <a:t>Historical Tables</a:t>
            </a:r>
            <a:endParaRPr lang="en-US" sz="1100" dirty="0"/>
          </a:p>
        </p:txBody>
      </p:sp>
      <p:sp>
        <p:nvSpPr>
          <p:cNvPr id="15" name="Shape 13"/>
          <p:cNvSpPr/>
          <p:nvPr/>
        </p:nvSpPr>
        <p:spPr>
          <a:xfrm>
            <a:off x="5303520" y="1828800"/>
            <a:ext cx="365760" cy="0"/>
          </a:xfrm>
          <a:prstGeom prst="line">
            <a:avLst/>
          </a:prstGeom>
          <a:noFill/>
          <a:ln w="19050">
            <a:solidFill>
              <a:srgbClr val="94A3B8"/>
            </a:solidFill>
            <a:prstDash val="dash"/>
          </a:ln>
        </p:spPr>
      </p:sp>
      <p:sp>
        <p:nvSpPr>
          <p:cNvPr id="16" name="Shape 14"/>
          <p:cNvSpPr/>
          <p:nvPr/>
        </p:nvSpPr>
        <p:spPr>
          <a:xfrm>
            <a:off x="5669280" y="1463040"/>
            <a:ext cx="1371600" cy="73152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17" name="Shape 15"/>
          <p:cNvSpPr/>
          <p:nvPr/>
        </p:nvSpPr>
        <p:spPr>
          <a:xfrm>
            <a:off x="5669280" y="1463040"/>
            <a:ext cx="73152" cy="731520"/>
          </a:xfrm>
          <a:prstGeom prst="rect">
            <a:avLst/>
          </a:prstGeom>
          <a:solidFill>
            <a:srgbClr val="028090"/>
          </a:solidFill>
          <a:ln w="12700">
            <a:solidFill>
              <a:srgbClr val="333333"/>
            </a:solidFill>
            <a:prstDash val="solid"/>
          </a:ln>
        </p:spPr>
      </p:sp>
      <p:sp>
        <p:nvSpPr>
          <p:cNvPr id="18" name="Text 16"/>
          <p:cNvSpPr/>
          <p:nvPr/>
        </p:nvSpPr>
        <p:spPr>
          <a:xfrm>
            <a:off x="5779008" y="1572768"/>
            <a:ext cx="1188720" cy="512064"/>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4. Go REST API
</a:t>
            </a:r>
            <a:endParaRPr lang="en-US" sz="1100" dirty="0"/>
          </a:p>
          <a:p>
            <a:pPr algn="ctr" indent="0" marL="0">
              <a:buNone/>
            </a:pPr>
            <a:r>
              <a:rPr lang="en-US" sz="800" dirty="0">
                <a:solidFill>
                  <a:srgbClr val="475569"/>
                </a:solidFill>
                <a:latin typeface="Calibri" pitchFamily="34" charset="0"/>
                <a:ea typeface="Calibri" pitchFamily="34" charset="-122"/>
                <a:cs typeface="Calibri" pitchFamily="34" charset="-120"/>
              </a:rPr>
              <a:t>Backend Server</a:t>
            </a:r>
            <a:endParaRPr lang="en-US" sz="1100" dirty="0"/>
          </a:p>
        </p:txBody>
      </p:sp>
      <p:sp>
        <p:nvSpPr>
          <p:cNvPr id="19" name="Shape 17"/>
          <p:cNvSpPr/>
          <p:nvPr/>
        </p:nvSpPr>
        <p:spPr>
          <a:xfrm>
            <a:off x="7040880" y="1828800"/>
            <a:ext cx="365760" cy="0"/>
          </a:xfrm>
          <a:prstGeom prst="line">
            <a:avLst/>
          </a:prstGeom>
          <a:noFill/>
          <a:ln w="19050">
            <a:solidFill>
              <a:srgbClr val="94A3B8"/>
            </a:solidFill>
            <a:prstDash val="dash"/>
          </a:ln>
        </p:spPr>
      </p:sp>
      <p:sp>
        <p:nvSpPr>
          <p:cNvPr id="20" name="Shape 18"/>
          <p:cNvSpPr/>
          <p:nvPr/>
        </p:nvSpPr>
        <p:spPr>
          <a:xfrm>
            <a:off x="7406640" y="1463040"/>
            <a:ext cx="1371600" cy="73152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21" name="Shape 19"/>
          <p:cNvSpPr/>
          <p:nvPr/>
        </p:nvSpPr>
        <p:spPr>
          <a:xfrm>
            <a:off x="7406640" y="1463040"/>
            <a:ext cx="73152" cy="731520"/>
          </a:xfrm>
          <a:prstGeom prst="rect">
            <a:avLst/>
          </a:prstGeom>
          <a:solidFill>
            <a:srgbClr val="028090"/>
          </a:solidFill>
          <a:ln w="12700">
            <a:solidFill>
              <a:srgbClr val="333333"/>
            </a:solidFill>
            <a:prstDash val="solid"/>
          </a:ln>
        </p:spPr>
      </p:sp>
      <p:sp>
        <p:nvSpPr>
          <p:cNvPr id="22" name="Text 20"/>
          <p:cNvSpPr/>
          <p:nvPr/>
        </p:nvSpPr>
        <p:spPr>
          <a:xfrm>
            <a:off x="7516368" y="1572768"/>
            <a:ext cx="1188720" cy="512064"/>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5. UI Charts
</a:t>
            </a:r>
            <a:endParaRPr lang="en-US" sz="1100" dirty="0"/>
          </a:p>
          <a:p>
            <a:pPr algn="ctr" indent="0" marL="0">
              <a:buNone/>
            </a:pPr>
            <a:r>
              <a:rPr lang="en-US" sz="800" dirty="0">
                <a:solidFill>
                  <a:srgbClr val="475569"/>
                </a:solidFill>
                <a:latin typeface="Calibri" pitchFamily="34" charset="0"/>
                <a:ea typeface="Calibri" pitchFamily="34" charset="-122"/>
                <a:cs typeface="Calibri" pitchFamily="34" charset="-120"/>
              </a:rPr>
              <a:t>Leaflet &amp; Recharts</a:t>
            </a:r>
            <a:endParaRPr lang="en-US" sz="1100" dirty="0"/>
          </a:p>
        </p:txBody>
      </p:sp>
      <p:sp>
        <p:nvSpPr>
          <p:cNvPr id="23" name="Shape 21"/>
          <p:cNvSpPr/>
          <p:nvPr/>
        </p:nvSpPr>
        <p:spPr>
          <a:xfrm>
            <a:off x="457200" y="2560320"/>
            <a:ext cx="8229600" cy="19202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24" name="Shape 22"/>
          <p:cNvSpPr/>
          <p:nvPr/>
        </p:nvSpPr>
        <p:spPr>
          <a:xfrm>
            <a:off x="457200" y="2560320"/>
            <a:ext cx="73152" cy="1920240"/>
          </a:xfrm>
          <a:prstGeom prst="rect">
            <a:avLst/>
          </a:prstGeom>
          <a:solidFill>
            <a:srgbClr val="1D4ED8"/>
          </a:solidFill>
          <a:ln w="12700">
            <a:solidFill>
              <a:srgbClr val="333333"/>
            </a:solidFill>
            <a:prstDash val="solid"/>
          </a:ln>
        </p:spPr>
      </p:sp>
      <p:sp>
        <p:nvSpPr>
          <p:cNvPr id="25" name="Text 23"/>
          <p:cNvSpPr/>
          <p:nvPr/>
        </p:nvSpPr>
        <p:spPr>
          <a:xfrm>
            <a:off x="731520" y="2651760"/>
            <a:ext cx="7772400" cy="27432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Engineering Challenges &amp; Resolutions
</a:t>
            </a:r>
            <a:endParaRPr lang="en-US" sz="1500" dirty="0"/>
          </a:p>
        </p:txBody>
      </p:sp>
      <p:sp>
        <p:nvSpPr>
          <p:cNvPr id="26" name="Text 24"/>
          <p:cNvSpPr/>
          <p:nvPr/>
        </p:nvSpPr>
        <p:spPr>
          <a:xfrm>
            <a:off x="731520" y="2926080"/>
            <a:ext cx="7772400" cy="1463040"/>
          </a:xfrm>
          <a:prstGeom prst="rect">
            <a:avLst/>
          </a:prstGeom>
          <a:noFill/>
          <a:ln/>
        </p:spPr>
        <p:txBody>
          <a:bodyPr wrap="square" lIns="0" tIns="0" rIns="0" bIns="0" rtlCol="0" anchor="ctr"/>
          <a:lstStyle/>
          <a:p>
            <a:pPr indent="0" marL="0">
              <a:spcAft>
                <a:spcPts val="400"/>
              </a:spcAft>
              <a:buNone/>
            </a:pPr>
            <a:r>
              <a:rPr lang="en-US" sz="1100" b="1" dirty="0">
                <a:solidFill>
                  <a:srgbClr val="0F172A"/>
                </a:solidFill>
                <a:latin typeface="Calibri" pitchFamily="34" charset="0"/>
                <a:ea typeface="Calibri" pitchFamily="34" charset="-122"/>
                <a:cs typeface="Calibri" pitchFamily="34" charset="-120"/>
              </a:rPr>
              <a:t>Data Volume &amp; RAM: </a:t>
            </a:r>
            <a:pPr indent="0" marL="0">
              <a:spcAft>
                <a:spcPts val="400"/>
              </a:spcAft>
              <a:buNone/>
            </a:pPr>
            <a:r>
              <a:rPr lang="en-US" sz="1100" dirty="0">
                <a:solidFill>
                  <a:srgbClr val="475569"/>
                </a:solidFill>
                <a:latin typeface="Calibri" pitchFamily="34" charset="0"/>
                <a:ea typeface="Calibri" pitchFamily="34" charset="-122"/>
                <a:cs typeface="Calibri" pitchFamily="34" charset="-120"/>
              </a:rPr>
              <a:t>Processing protobuf streams hit memory crash limits. Patched in issue </a:t>
            </a:r>
            <a:pPr indent="0" marL="0">
              <a:spcAft>
                <a:spcPts val="400"/>
              </a:spcAft>
              <a:buNone/>
            </a:pPr>
            <a:r>
              <a:rPr lang="en-US" sz="1100" b="1" dirty="0">
                <a:solidFill>
                  <a:srgbClr val="1D4ED8"/>
                </a:solidFill>
                <a:latin typeface="Calibri" pitchFamily="34" charset="0"/>
                <a:ea typeface="Calibri" pitchFamily="34" charset="-122"/>
                <a:cs typeface="Calibri" pitchFamily="34" charset="-120"/>
              </a:rPr>
              <a:t>#39</a:t>
            </a:r>
            <a:pPr indent="0" marL="0">
              <a:spcAft>
                <a:spcPts val="400"/>
              </a:spcAft>
              <a:buNone/>
            </a:pPr>
            <a:r>
              <a:rPr lang="en-US" sz="1100" dirty="0">
                <a:solidFill>
                  <a:srgbClr val="475569"/>
                </a:solidFill>
                <a:latin typeface="Calibri" pitchFamily="34" charset="0"/>
                <a:ea typeface="Calibri" pitchFamily="34" charset="-122"/>
                <a:cs typeface="Calibri" pitchFamily="34" charset="-120"/>
              </a:rPr>
              <a:t> by streaming and disposing chunked buffers.
</a:t>
            </a:r>
            <a:endParaRPr lang="en-US" sz="1100" dirty="0"/>
          </a:p>
          <a:p>
            <a:pPr indent="0" marL="0">
              <a:spcAft>
                <a:spcPts val="400"/>
              </a:spcAft>
              <a:buNone/>
            </a:pPr>
            <a:r>
              <a:rPr lang="en-US" sz="1100" b="1" dirty="0">
                <a:solidFill>
                  <a:srgbClr val="0F172A"/>
                </a:solidFill>
                <a:latin typeface="Calibri" pitchFamily="34" charset="0"/>
                <a:ea typeface="Calibri" pitchFamily="34" charset="-122"/>
                <a:cs typeface="Calibri" pitchFamily="34" charset="-120"/>
              </a:rPr>
              <a:t>Timezone Offsets: </a:t>
            </a:r>
            <a:pPr indent="0" marL="0">
              <a:spcAft>
                <a:spcPts val="400"/>
              </a:spcAft>
              <a:buNone/>
            </a:pPr>
            <a:r>
              <a:rPr lang="en-US" sz="1100" dirty="0">
                <a:solidFill>
                  <a:srgbClr val="475569"/>
                </a:solidFill>
                <a:latin typeface="Calibri" pitchFamily="34" charset="0"/>
                <a:ea typeface="Calibri" pitchFamily="34" charset="-122"/>
                <a:cs typeface="Calibri" pitchFamily="34" charset="-120"/>
              </a:rPr>
              <a:t>GTFS utilizes UTC, SL schedules use local Swedish time, and cron server ran on host timezone. Resolved offsets in issues </a:t>
            </a:r>
            <a:pPr indent="0" marL="0">
              <a:spcAft>
                <a:spcPts val="400"/>
              </a:spcAft>
              <a:buNone/>
            </a:pPr>
            <a:r>
              <a:rPr lang="en-US" sz="1100" b="1" dirty="0">
                <a:solidFill>
                  <a:srgbClr val="1D4ED8"/>
                </a:solidFill>
                <a:latin typeface="Calibri" pitchFamily="34" charset="0"/>
                <a:ea typeface="Calibri" pitchFamily="34" charset="-122"/>
                <a:cs typeface="Calibri" pitchFamily="34" charset="-120"/>
              </a:rPr>
              <a:t>#36</a:t>
            </a:r>
            <a:pPr indent="0" marL="0">
              <a:spcAft>
                <a:spcPts val="400"/>
              </a:spcAft>
              <a:buNone/>
            </a:pPr>
            <a:r>
              <a:rPr lang="en-US" sz="1100" dirty="0">
                <a:solidFill>
                  <a:srgbClr val="475569"/>
                </a:solidFill>
                <a:latin typeface="Calibri" pitchFamily="34" charset="0"/>
                <a:ea typeface="Calibri" pitchFamily="34" charset="-122"/>
                <a:cs typeface="Calibri" pitchFamily="34" charset="-120"/>
              </a:rPr>
              <a:t> and </a:t>
            </a:r>
            <a:pPr indent="0" marL="0">
              <a:spcAft>
                <a:spcPts val="400"/>
              </a:spcAft>
              <a:buNone/>
            </a:pPr>
            <a:r>
              <a:rPr lang="en-US" sz="1100" b="1" dirty="0">
                <a:solidFill>
                  <a:srgbClr val="1D4ED8"/>
                </a:solidFill>
                <a:latin typeface="Calibri" pitchFamily="34" charset="0"/>
                <a:ea typeface="Calibri" pitchFamily="34" charset="-122"/>
                <a:cs typeface="Calibri" pitchFamily="34" charset="-120"/>
              </a:rPr>
              <a:t>#54</a:t>
            </a:r>
            <a:pPr indent="0" marL="0">
              <a:spcAft>
                <a:spcPts val="400"/>
              </a:spcAft>
              <a:buNone/>
            </a:pPr>
            <a:r>
              <a:rPr lang="en-US" sz="1100" dirty="0">
                <a:solidFill>
                  <a:srgbClr val="475569"/>
                </a:solidFill>
                <a:latin typeface="Calibri" pitchFamily="34" charset="0"/>
                <a:ea typeface="Calibri" pitchFamily="34" charset="-122"/>
                <a:cs typeface="Calibri" pitchFamily="34" charset="-120"/>
              </a:rPr>
              <a:t>.
</a:t>
            </a:r>
            <a:endParaRPr lang="en-US" sz="1100" dirty="0"/>
          </a:p>
          <a:p>
            <a:pPr indent="0" marL="0">
              <a:spcAft>
                <a:spcPts val="400"/>
              </a:spcAft>
              <a:buNone/>
            </a:pPr>
            <a:r>
              <a:rPr lang="en-US" sz="1100" b="1" dirty="0">
                <a:solidFill>
                  <a:srgbClr val="0F172A"/>
                </a:solidFill>
                <a:latin typeface="Calibri" pitchFamily="34" charset="0"/>
                <a:ea typeface="Calibri" pitchFamily="34" charset="-122"/>
                <a:cs typeface="Calibri" pitchFamily="34" charset="-120"/>
              </a:rPr>
              <a:t>Database Migration: </a:t>
            </a:r>
            <a:pPr indent="0" marL="0">
              <a:spcAft>
                <a:spcPts val="400"/>
              </a:spcAft>
              <a:buNone/>
            </a:pPr>
            <a:r>
              <a:rPr lang="en-US" sz="1100" dirty="0">
                <a:solidFill>
                  <a:srgbClr val="475569"/>
                </a:solidFill>
                <a:latin typeface="Calibri" pitchFamily="34" charset="0"/>
                <a:ea typeface="Calibri" pitchFamily="34" charset="-122"/>
                <a:cs typeface="Calibri" pitchFamily="34" charset="-120"/>
              </a:rPr>
              <a:t>Firestore query limitations and cost forced a mid-project migration to PostgreSQL + custom Go REST API (Issues </a:t>
            </a:r>
            <a:pPr indent="0" marL="0">
              <a:spcAft>
                <a:spcPts val="400"/>
              </a:spcAft>
              <a:buNone/>
            </a:pPr>
            <a:r>
              <a:rPr lang="en-US" sz="1100" b="1" dirty="0">
                <a:solidFill>
                  <a:srgbClr val="1D4ED8"/>
                </a:solidFill>
                <a:latin typeface="Calibri" pitchFamily="34" charset="0"/>
                <a:ea typeface="Calibri" pitchFamily="34" charset="-122"/>
                <a:cs typeface="Calibri" pitchFamily="34" charset="-120"/>
              </a:rPr>
              <a:t>#49-52</a:t>
            </a:r>
            <a:pPr indent="0" marL="0">
              <a:spcAft>
                <a:spcPts val="400"/>
              </a:spcAft>
              <a:buNone/>
            </a:pPr>
            <a:r>
              <a:rPr lang="en-US" sz="1100" dirty="0">
                <a:solidFill>
                  <a:srgbClr val="475569"/>
                </a:solidFill>
                <a:latin typeface="Calibri" pitchFamily="34" charset="0"/>
                <a:ea typeface="Calibri" pitchFamily="34" charset="-122"/>
                <a:cs typeface="Calibri" pitchFamily="34" charset="-120"/>
              </a:rPr>
              <a:t>).</a:t>
            </a:r>
            <a:endParaRPr lang="en-US" sz="1100" dirty="0"/>
          </a:p>
        </p:txBody>
      </p:sp>
      <p:sp>
        <p:nvSpPr>
          <p:cNvPr id="27" name="Text 25"/>
          <p:cNvSpPr/>
          <p:nvPr/>
        </p:nvSpPr>
        <p:spPr>
          <a:xfrm>
            <a:off x="457200" y="4800600"/>
            <a:ext cx="64008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Förseningskartan | UX Prize Presentation</a:t>
            </a:r>
            <a:endParaRPr lang="en-US" sz="1000" dirty="0"/>
          </a:p>
        </p:txBody>
      </p:sp>
      <p:sp>
        <p:nvSpPr>
          <p:cNvPr id="28" name="Text 26"/>
          <p:cNvSpPr/>
          <p:nvPr/>
        </p:nvSpPr>
        <p:spPr>
          <a:xfrm>
            <a:off x="7315200" y="4800600"/>
            <a:ext cx="13716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Slide 10 of 16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28090"/>
                </a:solidFill>
                <a:latin typeface="Calibri" pitchFamily="34" charset="0"/>
                <a:ea typeface="Calibri" pitchFamily="34" charset="-122"/>
                <a:cs typeface="Calibri" pitchFamily="34" charset="-120"/>
              </a:rPr>
              <a:t>WORKFLOW</a:t>
            </a:r>
            <a:endParaRPr lang="en-US" sz="1000" dirty="0"/>
          </a:p>
        </p:txBody>
      </p:sp>
      <p:sp>
        <p:nvSpPr>
          <p:cNvPr id="3" name="Text 1"/>
          <p:cNvSpPr/>
          <p:nvPr/>
        </p:nvSpPr>
        <p:spPr>
          <a:xfrm>
            <a:off x="457200" y="502920"/>
            <a:ext cx="8229600" cy="411480"/>
          </a:xfrm>
          <a:prstGeom prst="rect">
            <a:avLst/>
          </a:prstGeom>
          <a:noFill/>
          <a:ln/>
        </p:spPr>
        <p:txBody>
          <a:bodyPr wrap="square" lIns="0" tIns="0" rIns="0" bIns="0"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Development Process &amp; Project Timeline</a:t>
            </a:r>
            <a:endParaRPr lang="en-US" sz="2600" dirty="0"/>
          </a:p>
        </p:txBody>
      </p:sp>
      <p:sp>
        <p:nvSpPr>
          <p:cNvPr id="4" name="Shape 2"/>
          <p:cNvSpPr/>
          <p:nvPr/>
        </p:nvSpPr>
        <p:spPr>
          <a:xfrm>
            <a:off x="457200" y="1188720"/>
            <a:ext cx="3840480" cy="320040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5" name="Shape 3"/>
          <p:cNvSpPr/>
          <p:nvPr/>
        </p:nvSpPr>
        <p:spPr>
          <a:xfrm>
            <a:off x="457200" y="1188720"/>
            <a:ext cx="73152" cy="3200400"/>
          </a:xfrm>
          <a:prstGeom prst="rect">
            <a:avLst/>
          </a:prstGeom>
          <a:solidFill>
            <a:srgbClr val="028090"/>
          </a:solidFill>
          <a:ln w="12700">
            <a:solidFill>
              <a:srgbClr val="333333"/>
            </a:solidFill>
            <a:prstDash val="solid"/>
          </a:ln>
        </p:spPr>
      </p:sp>
      <p:sp>
        <p:nvSpPr>
          <p:cNvPr id="6" name="Text 4"/>
          <p:cNvSpPr/>
          <p:nvPr/>
        </p:nvSpPr>
        <p:spPr>
          <a:xfrm>
            <a:off x="640080" y="1371600"/>
            <a:ext cx="3474720" cy="36576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Development Rigor Metrics
</a:t>
            </a:r>
            <a:endParaRPr lang="en-US" sz="1600" dirty="0"/>
          </a:p>
        </p:txBody>
      </p:sp>
      <p:sp>
        <p:nvSpPr>
          <p:cNvPr id="7" name="Text 5"/>
          <p:cNvSpPr/>
          <p:nvPr/>
        </p:nvSpPr>
        <p:spPr>
          <a:xfrm>
            <a:off x="640080" y="1737360"/>
            <a:ext cx="3474720" cy="2560320"/>
          </a:xfrm>
          <a:prstGeom prst="rect">
            <a:avLst/>
          </a:prstGeom>
          <a:noFill/>
          <a:ln/>
        </p:spPr>
        <p:txBody>
          <a:bodyPr wrap="square" lIns="0" tIns="0" rIns="0" bIns="0" rtlCol="0" anchor="ctr"/>
          <a:lstStyle/>
          <a:p>
            <a:pPr indent="0" marL="0">
              <a:spcAft>
                <a:spcPts val="600"/>
              </a:spcAft>
              <a:buNone/>
            </a:pPr>
            <a:r>
              <a:rPr lang="en-US" sz="1100" b="1" dirty="0">
                <a:solidFill>
                  <a:srgbClr val="0F172A"/>
                </a:solidFill>
                <a:latin typeface="Calibri" pitchFamily="34" charset="0"/>
                <a:ea typeface="Calibri" pitchFamily="34" charset="-122"/>
                <a:cs typeface="Calibri" pitchFamily="34" charset="-120"/>
              </a:rPr>
              <a:t>GitHub Board tracking: </a:t>
            </a:r>
            <a:pPr indent="0" marL="0">
              <a:spcAft>
                <a:spcPts val="600"/>
              </a:spcAft>
              <a:buNone/>
            </a:pPr>
            <a:r>
              <a:rPr lang="en-US" sz="1100" dirty="0">
                <a:solidFill>
                  <a:srgbClr val="475569"/>
                </a:solidFill>
                <a:latin typeface="Calibri" pitchFamily="34" charset="0"/>
                <a:ea typeface="Calibri" pitchFamily="34" charset="-122"/>
                <a:cs typeface="Calibri" pitchFamily="34" charset="-120"/>
              </a:rPr>
              <a:t>Managed work via project board containing </a:t>
            </a:r>
            <a:pPr indent="0" marL="0">
              <a:spcAft>
                <a:spcPts val="600"/>
              </a:spcAft>
              <a:buNone/>
            </a:pPr>
            <a:r>
              <a:rPr lang="en-US" sz="1100" b="1" dirty="0">
                <a:solidFill>
                  <a:srgbClr val="1D4ED8"/>
                </a:solidFill>
                <a:latin typeface="Calibri" pitchFamily="34" charset="0"/>
                <a:ea typeface="Calibri" pitchFamily="34" charset="-122"/>
                <a:cs typeface="Calibri" pitchFamily="34" charset="-120"/>
              </a:rPr>
              <a:t>170+ tracked issues</a:t>
            </a:r>
            <a:pPr indent="0" marL="0">
              <a:spcAft>
                <a:spcPts val="600"/>
              </a:spcAft>
              <a:buNone/>
            </a:pPr>
            <a:r>
              <a:rPr lang="en-US" sz="1100" dirty="0">
                <a:solidFill>
                  <a:srgbClr val="475569"/>
                </a:solidFill>
                <a:latin typeface="Calibri" pitchFamily="34" charset="0"/>
                <a:ea typeface="Calibri" pitchFamily="34" charset="-122"/>
                <a:cs typeface="Calibri" pitchFamily="34" charset="-120"/>
              </a:rPr>
              <a:t> detailing features, bugs, tasks, and refactors.
</a:t>
            </a:r>
            <a:endParaRPr lang="en-US" sz="1100" dirty="0"/>
          </a:p>
          <a:p>
            <a:pPr indent="0" marL="0">
              <a:spcAft>
                <a:spcPts val="600"/>
              </a:spcAft>
              <a:buNone/>
            </a:pPr>
            <a:r>
              <a:rPr lang="en-US" sz="1100" b="1" dirty="0">
                <a:solidFill>
                  <a:srgbClr val="0F172A"/>
                </a:solidFill>
                <a:latin typeface="Calibri" pitchFamily="34" charset="0"/>
                <a:ea typeface="Calibri" pitchFamily="34" charset="-122"/>
                <a:cs typeface="Calibri" pitchFamily="34" charset="-120"/>
              </a:rPr>
              <a:t>Feature branch strategy: </a:t>
            </a:r>
            <a:pPr indent="0" marL="0">
              <a:spcAft>
                <a:spcPts val="600"/>
              </a:spcAft>
              <a:buNone/>
            </a:pPr>
            <a:r>
              <a:rPr lang="en-US" sz="1100" dirty="0">
                <a:solidFill>
                  <a:srgbClr val="475569"/>
                </a:solidFill>
                <a:latin typeface="Calibri" pitchFamily="34" charset="0"/>
                <a:ea typeface="Calibri" pitchFamily="34" charset="-122"/>
                <a:cs typeface="Calibri" pitchFamily="34" charset="-120"/>
              </a:rPr>
              <a:t>No direct commits to master. Created pull requests for code changes.
</a:t>
            </a:r>
            <a:endParaRPr lang="en-US" sz="1100" dirty="0"/>
          </a:p>
          <a:p>
            <a:pPr indent="0" marL="0">
              <a:spcAft>
                <a:spcPts val="600"/>
              </a:spcAft>
              <a:buNone/>
            </a:pPr>
            <a:r>
              <a:rPr lang="en-US" sz="1100" b="1" dirty="0">
                <a:solidFill>
                  <a:srgbClr val="0F172A"/>
                </a:solidFill>
                <a:latin typeface="Calibri" pitchFamily="34" charset="0"/>
                <a:ea typeface="Calibri" pitchFamily="34" charset="-122"/>
                <a:cs typeface="Calibri" pitchFamily="34" charset="-120"/>
              </a:rPr>
              <a:t>Review gates: </a:t>
            </a:r>
            <a:pPr indent="0" marL="0">
              <a:spcAft>
                <a:spcPts val="600"/>
              </a:spcAft>
              <a:buNone/>
            </a:pPr>
            <a:r>
              <a:rPr lang="en-US" sz="1100" dirty="0">
                <a:solidFill>
                  <a:srgbClr val="475569"/>
                </a:solidFill>
                <a:latin typeface="Calibri" pitchFamily="34" charset="0"/>
                <a:ea typeface="Calibri" pitchFamily="34" charset="-122"/>
                <a:cs typeface="Calibri" pitchFamily="34" charset="-120"/>
              </a:rPr>
              <a:t>Utilized Github Copilot for PR checks, followed by human visual code inspections.
</a:t>
            </a:r>
            <a:endParaRPr lang="en-US" sz="1100" dirty="0"/>
          </a:p>
          <a:p>
            <a:pPr indent="0" marL="0">
              <a:spcAft>
                <a:spcPts val="600"/>
              </a:spcAft>
              <a:buNone/>
            </a:pPr>
            <a:r>
              <a:rPr lang="en-US" sz="1100" b="1" dirty="0">
                <a:solidFill>
                  <a:srgbClr val="0F172A"/>
                </a:solidFill>
                <a:latin typeface="Calibri" pitchFamily="34" charset="0"/>
                <a:ea typeface="Calibri" pitchFamily="34" charset="-122"/>
                <a:cs typeface="Calibri" pitchFamily="34" charset="-120"/>
              </a:rPr>
              <a:t>Docker Environment: </a:t>
            </a:r>
            <a:pPr indent="0" marL="0">
              <a:spcAft>
                <a:spcPts val="600"/>
              </a:spcAft>
              <a:buNone/>
            </a:pPr>
            <a:r>
              <a:rPr lang="en-US" sz="1100" dirty="0">
                <a:solidFill>
                  <a:srgbClr val="475569"/>
                </a:solidFill>
                <a:latin typeface="Calibri" pitchFamily="34" charset="0"/>
                <a:ea typeface="Calibri" pitchFamily="34" charset="-122"/>
                <a:cs typeface="Calibri" pitchFamily="34" charset="-120"/>
              </a:rPr>
              <a:t>Docker Compose sets up local PostgreSQL, Golang APIs, and the pipeline aggregator locally with one command.</a:t>
            </a:r>
            <a:endParaRPr lang="en-US" sz="1100" dirty="0"/>
          </a:p>
        </p:txBody>
      </p:sp>
      <p:sp>
        <p:nvSpPr>
          <p:cNvPr id="8" name="Text 6"/>
          <p:cNvSpPr/>
          <p:nvPr/>
        </p:nvSpPr>
        <p:spPr>
          <a:xfrm>
            <a:off x="4754880" y="1188720"/>
            <a:ext cx="3931920" cy="27432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Project Timeline Phases
</a:t>
            </a:r>
            <a:endParaRPr lang="en-US" sz="1600" dirty="0"/>
          </a:p>
        </p:txBody>
      </p:sp>
      <p:sp>
        <p:nvSpPr>
          <p:cNvPr id="9" name="Shape 7"/>
          <p:cNvSpPr/>
          <p:nvPr/>
        </p:nvSpPr>
        <p:spPr>
          <a:xfrm>
            <a:off x="4754880" y="1554480"/>
            <a:ext cx="3931920" cy="59436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10" name="Shape 8"/>
          <p:cNvSpPr/>
          <p:nvPr/>
        </p:nvSpPr>
        <p:spPr>
          <a:xfrm>
            <a:off x="4754880" y="1554480"/>
            <a:ext cx="73152" cy="594360"/>
          </a:xfrm>
          <a:prstGeom prst="rect">
            <a:avLst/>
          </a:prstGeom>
          <a:solidFill>
            <a:srgbClr val="1D4ED8"/>
          </a:solidFill>
          <a:ln w="12700">
            <a:solidFill>
              <a:srgbClr val="333333"/>
            </a:solidFill>
            <a:prstDash val="solid"/>
          </a:ln>
        </p:spPr>
      </p:sp>
      <p:sp>
        <p:nvSpPr>
          <p:cNvPr id="11" name="Text 9"/>
          <p:cNvSpPr/>
          <p:nvPr/>
        </p:nvSpPr>
        <p:spPr>
          <a:xfrm>
            <a:off x="4892040" y="1627632"/>
            <a:ext cx="3657600" cy="457200"/>
          </a:xfrm>
          <a:prstGeom prst="rect">
            <a:avLst/>
          </a:prstGeom>
          <a:noFill/>
          <a:ln/>
        </p:spPr>
        <p:txBody>
          <a:bodyPr wrap="square" lIns="0" tIns="0" rIns="0" bIns="0" rtlCol="0" anchor="ctr"/>
          <a:lstStyle/>
          <a:p>
            <a:pPr indent="0" marL="0">
              <a:buNone/>
            </a:pPr>
            <a:r>
              <a:rPr lang="en-US" sz="1000" b="1" dirty="0">
                <a:solidFill>
                  <a:srgbClr val="0F172A"/>
                </a:solidFill>
                <a:latin typeface="Trebuchet MS" pitchFamily="34" charset="0"/>
                <a:ea typeface="Trebuchet MS" pitchFamily="34" charset="-122"/>
                <a:cs typeface="Trebuchet MS" pitchFamily="34" charset="-120"/>
              </a:rPr>
              <a:t>Phase 1: Foundation (Mar 9–16)
</a:t>
            </a:r>
            <a:endParaRPr lang="en-US" sz="1000" dirty="0"/>
          </a:p>
          <a:p>
            <a:pPr indent="0" marL="0">
              <a:buNone/>
            </a:pPr>
            <a:r>
              <a:rPr lang="en-US" sz="900" dirty="0">
                <a:solidFill>
                  <a:srgbClr val="475569"/>
                </a:solidFill>
                <a:latin typeface="Calibri" pitchFamily="34" charset="0"/>
                <a:ea typeface="Calibri" pitchFamily="34" charset="-122"/>
                <a:cs typeface="Calibri" pitchFamily="34" charset="-120"/>
              </a:rPr>
              <a:t>Repo setup, map integration, search overlay, simple mock delays.</a:t>
            </a:r>
            <a:endParaRPr lang="en-US" sz="1000" dirty="0"/>
          </a:p>
        </p:txBody>
      </p:sp>
      <p:sp>
        <p:nvSpPr>
          <p:cNvPr id="12" name="Shape 10"/>
          <p:cNvSpPr/>
          <p:nvPr/>
        </p:nvSpPr>
        <p:spPr>
          <a:xfrm>
            <a:off x="4754880" y="2240280"/>
            <a:ext cx="3931920" cy="59436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13" name="Shape 11"/>
          <p:cNvSpPr/>
          <p:nvPr/>
        </p:nvSpPr>
        <p:spPr>
          <a:xfrm>
            <a:off x="4754880" y="2240280"/>
            <a:ext cx="73152" cy="594360"/>
          </a:xfrm>
          <a:prstGeom prst="rect">
            <a:avLst/>
          </a:prstGeom>
          <a:solidFill>
            <a:srgbClr val="1D4ED8"/>
          </a:solidFill>
          <a:ln w="12700">
            <a:solidFill>
              <a:srgbClr val="333333"/>
            </a:solidFill>
            <a:prstDash val="solid"/>
          </a:ln>
        </p:spPr>
      </p:sp>
      <p:sp>
        <p:nvSpPr>
          <p:cNvPr id="14" name="Text 12"/>
          <p:cNvSpPr/>
          <p:nvPr/>
        </p:nvSpPr>
        <p:spPr>
          <a:xfrm>
            <a:off x="4892040" y="2313432"/>
            <a:ext cx="3657600" cy="457200"/>
          </a:xfrm>
          <a:prstGeom prst="rect">
            <a:avLst/>
          </a:prstGeom>
          <a:noFill/>
          <a:ln/>
        </p:spPr>
        <p:txBody>
          <a:bodyPr wrap="square" lIns="0" tIns="0" rIns="0" bIns="0" rtlCol="0" anchor="ctr"/>
          <a:lstStyle/>
          <a:p>
            <a:pPr indent="0" marL="0">
              <a:buNone/>
            </a:pPr>
            <a:r>
              <a:rPr lang="en-US" sz="1000" b="1" dirty="0">
                <a:solidFill>
                  <a:srgbClr val="0F172A"/>
                </a:solidFill>
                <a:latin typeface="Trebuchet MS" pitchFamily="34" charset="0"/>
                <a:ea typeface="Trebuchet MS" pitchFamily="34" charset="-122"/>
                <a:cs typeface="Trebuchet MS" pitchFamily="34" charset="-120"/>
              </a:rPr>
              <a:t>Phase 2: Core Features (Mar 17 – Apr 9)
</a:t>
            </a:r>
            <a:endParaRPr lang="en-US" sz="1000" dirty="0"/>
          </a:p>
          <a:p>
            <a:pPr indent="0" marL="0">
              <a:buNone/>
            </a:pPr>
            <a:r>
              <a:rPr lang="en-US" sz="900" dirty="0">
                <a:solidFill>
                  <a:srgbClr val="475569"/>
                </a:solidFill>
                <a:latin typeface="Calibri" pitchFamily="34" charset="0"/>
                <a:ea typeface="Calibri" pitchFamily="34" charset="-122"/>
                <a:cs typeface="Calibri" pitchFamily="34" charset="-120"/>
              </a:rPr>
              <a:t>Authentication, Sidebar navigation, Leaderboards, Themes, Swedish/English.</a:t>
            </a:r>
            <a:endParaRPr lang="en-US" sz="1000" dirty="0"/>
          </a:p>
        </p:txBody>
      </p:sp>
      <p:sp>
        <p:nvSpPr>
          <p:cNvPr id="15" name="Shape 13"/>
          <p:cNvSpPr/>
          <p:nvPr/>
        </p:nvSpPr>
        <p:spPr>
          <a:xfrm>
            <a:off x="4754880" y="2926080"/>
            <a:ext cx="3931920" cy="59436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16" name="Shape 14"/>
          <p:cNvSpPr/>
          <p:nvPr/>
        </p:nvSpPr>
        <p:spPr>
          <a:xfrm>
            <a:off x="4754880" y="2926080"/>
            <a:ext cx="73152" cy="594360"/>
          </a:xfrm>
          <a:prstGeom prst="rect">
            <a:avLst/>
          </a:prstGeom>
          <a:solidFill>
            <a:srgbClr val="1D4ED8"/>
          </a:solidFill>
          <a:ln w="12700">
            <a:solidFill>
              <a:srgbClr val="333333"/>
            </a:solidFill>
            <a:prstDash val="solid"/>
          </a:ln>
        </p:spPr>
      </p:sp>
      <p:sp>
        <p:nvSpPr>
          <p:cNvPr id="17" name="Text 15"/>
          <p:cNvSpPr/>
          <p:nvPr/>
        </p:nvSpPr>
        <p:spPr>
          <a:xfrm>
            <a:off x="4892040" y="2999232"/>
            <a:ext cx="3657600" cy="457200"/>
          </a:xfrm>
          <a:prstGeom prst="rect">
            <a:avLst/>
          </a:prstGeom>
          <a:noFill/>
          <a:ln/>
        </p:spPr>
        <p:txBody>
          <a:bodyPr wrap="square" lIns="0" tIns="0" rIns="0" bIns="0" rtlCol="0" anchor="ctr"/>
          <a:lstStyle/>
          <a:p>
            <a:pPr indent="0" marL="0">
              <a:buNone/>
            </a:pPr>
            <a:r>
              <a:rPr lang="en-US" sz="1000" b="1" dirty="0">
                <a:solidFill>
                  <a:srgbClr val="0F172A"/>
                </a:solidFill>
                <a:latin typeface="Trebuchet MS" pitchFamily="34" charset="0"/>
                <a:ea typeface="Trebuchet MS" pitchFamily="34" charset="-122"/>
                <a:cs typeface="Trebuchet MS" pitchFamily="34" charset="-120"/>
              </a:rPr>
              <a:t>Phase 3: Polish (Apr 10 – May 4)
</a:t>
            </a:r>
            <a:endParaRPr lang="en-US" sz="1000" dirty="0"/>
          </a:p>
          <a:p>
            <a:pPr indent="0" marL="0">
              <a:buNone/>
            </a:pPr>
            <a:r>
              <a:rPr lang="en-US" sz="900" dirty="0">
                <a:solidFill>
                  <a:srgbClr val="475569"/>
                </a:solidFill>
                <a:latin typeface="Calibri" pitchFamily="34" charset="0"/>
                <a:ea typeface="Calibri" pitchFamily="34" charset="-122"/>
                <a:cs typeface="Calibri" pitchFamily="34" charset="-120"/>
              </a:rPr>
              <a:t>Favorites, filters, MVP separation audits, postgres migration completion.</a:t>
            </a:r>
            <a:endParaRPr lang="en-US" sz="1000" dirty="0"/>
          </a:p>
        </p:txBody>
      </p:sp>
      <p:sp>
        <p:nvSpPr>
          <p:cNvPr id="18" name="Shape 16"/>
          <p:cNvSpPr/>
          <p:nvPr/>
        </p:nvSpPr>
        <p:spPr>
          <a:xfrm>
            <a:off x="4754880" y="3611880"/>
            <a:ext cx="3931920" cy="59436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19" name="Shape 17"/>
          <p:cNvSpPr/>
          <p:nvPr/>
        </p:nvSpPr>
        <p:spPr>
          <a:xfrm>
            <a:off x="4754880" y="3611880"/>
            <a:ext cx="73152" cy="594360"/>
          </a:xfrm>
          <a:prstGeom prst="rect">
            <a:avLst/>
          </a:prstGeom>
          <a:solidFill>
            <a:srgbClr val="16A34A"/>
          </a:solidFill>
          <a:ln w="12700">
            <a:solidFill>
              <a:srgbClr val="333333"/>
            </a:solidFill>
            <a:prstDash val="solid"/>
          </a:ln>
        </p:spPr>
      </p:sp>
      <p:sp>
        <p:nvSpPr>
          <p:cNvPr id="20" name="Text 18"/>
          <p:cNvSpPr/>
          <p:nvPr/>
        </p:nvSpPr>
        <p:spPr>
          <a:xfrm>
            <a:off x="4892040" y="3685032"/>
            <a:ext cx="3657600" cy="457200"/>
          </a:xfrm>
          <a:prstGeom prst="rect">
            <a:avLst/>
          </a:prstGeom>
          <a:noFill/>
          <a:ln/>
        </p:spPr>
        <p:txBody>
          <a:bodyPr wrap="square" lIns="0" tIns="0" rIns="0" bIns="0" rtlCol="0" anchor="ctr"/>
          <a:lstStyle/>
          <a:p>
            <a:pPr indent="0" marL="0">
              <a:buNone/>
            </a:pPr>
            <a:r>
              <a:rPr lang="en-US" sz="1000" b="1" dirty="0">
                <a:solidFill>
                  <a:srgbClr val="0F172A"/>
                </a:solidFill>
                <a:latin typeface="Trebuchet MS" pitchFamily="34" charset="0"/>
                <a:ea typeface="Trebuchet MS" pitchFamily="34" charset="-122"/>
                <a:cs typeface="Trebuchet MS" pitchFamily="34" charset="-120"/>
              </a:rPr>
              <a:t>Phase 4: Final Submission (May 5–18)
</a:t>
            </a:r>
            <a:endParaRPr lang="en-US" sz="1000" dirty="0"/>
          </a:p>
          <a:p>
            <a:pPr indent="0" marL="0">
              <a:buNone/>
            </a:pPr>
            <a:r>
              <a:rPr lang="en-US" sz="900" dirty="0">
                <a:solidFill>
                  <a:srgbClr val="475569"/>
                </a:solidFill>
                <a:latin typeface="Calibri" pitchFamily="34" charset="0"/>
                <a:ea typeface="Calibri" pitchFamily="34" charset="-122"/>
                <a:cs typeface="Calibri" pitchFamily="34" charset="-120"/>
              </a:rPr>
              <a:t>User consultations, comprehensive mobile adaptations, cross-tab sync.</a:t>
            </a:r>
            <a:endParaRPr lang="en-US" sz="1000" dirty="0"/>
          </a:p>
        </p:txBody>
      </p:sp>
      <p:sp>
        <p:nvSpPr>
          <p:cNvPr id="21" name="Text 19"/>
          <p:cNvSpPr/>
          <p:nvPr/>
        </p:nvSpPr>
        <p:spPr>
          <a:xfrm>
            <a:off x="457200" y="4800600"/>
            <a:ext cx="64008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Förseningskartan | UX Prize Presentation</a:t>
            </a:r>
            <a:endParaRPr lang="en-US" sz="1000" dirty="0"/>
          </a:p>
        </p:txBody>
      </p:sp>
      <p:sp>
        <p:nvSpPr>
          <p:cNvPr id="22" name="Text 20"/>
          <p:cNvSpPr/>
          <p:nvPr/>
        </p:nvSpPr>
        <p:spPr>
          <a:xfrm>
            <a:off x="7315200" y="4800600"/>
            <a:ext cx="13716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Slide 11 of 16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28090"/>
                </a:solidFill>
                <a:latin typeface="Calibri" pitchFamily="34" charset="0"/>
                <a:ea typeface="Calibri" pitchFamily="34" charset="-122"/>
                <a:cs typeface="Calibri" pitchFamily="34" charset="-120"/>
              </a:rPr>
              <a:t>AI GUIDELINES</a:t>
            </a:r>
            <a:endParaRPr lang="en-US" sz="1000" dirty="0"/>
          </a:p>
        </p:txBody>
      </p:sp>
      <p:sp>
        <p:nvSpPr>
          <p:cNvPr id="3" name="Text 1"/>
          <p:cNvSpPr/>
          <p:nvPr/>
        </p:nvSpPr>
        <p:spPr>
          <a:xfrm>
            <a:off x="457200" y="502920"/>
            <a:ext cx="8229600" cy="411480"/>
          </a:xfrm>
          <a:prstGeom prst="rect">
            <a:avLst/>
          </a:prstGeom>
          <a:noFill/>
          <a:ln/>
        </p:spPr>
        <p:txBody>
          <a:bodyPr wrap="square" lIns="0" tIns="0" rIns="0" bIns="0"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AI Usage: Accelerator, Not Autopilot</a:t>
            </a:r>
            <a:endParaRPr lang="en-US" sz="2600" dirty="0"/>
          </a:p>
        </p:txBody>
      </p:sp>
      <p:sp>
        <p:nvSpPr>
          <p:cNvPr id="4" name="Shape 2"/>
          <p:cNvSpPr/>
          <p:nvPr/>
        </p:nvSpPr>
        <p:spPr>
          <a:xfrm>
            <a:off x="457200" y="1188720"/>
            <a:ext cx="3840480" cy="3200400"/>
          </a:xfrm>
          <a:prstGeom prst="rect">
            <a:avLst/>
          </a:prstGeom>
          <a:solidFill>
            <a:srgbClr val="0F172A"/>
          </a:solidFill>
          <a:ln w="12700">
            <a:solidFill>
              <a:srgbClr val="333333"/>
            </a:solidFill>
            <a:prstDash val="solid"/>
          </a:ln>
          <a:effectLst>
            <a:outerShdw sx="100000" sy="100000" kx="0" ky="0" algn="bl" rotWithShape="0" blurRad="50800" dist="25400" dir="8100000">
              <a:srgbClr val="000000">
                <a:alpha val="12000"/>
              </a:srgbClr>
            </a:outerShdw>
          </a:effectLst>
        </p:spPr>
      </p:sp>
      <p:sp>
        <p:nvSpPr>
          <p:cNvPr id="5" name="Text 3"/>
          <p:cNvSpPr/>
          <p:nvPr/>
        </p:nvSpPr>
        <p:spPr>
          <a:xfrm>
            <a:off x="731520" y="1463040"/>
            <a:ext cx="3291840" cy="2743200"/>
          </a:xfrm>
          <a:prstGeom prst="rect">
            <a:avLst/>
          </a:prstGeom>
          <a:noFill/>
          <a:ln/>
        </p:spPr>
        <p:txBody>
          <a:bodyPr wrap="square" lIns="0" tIns="0" rIns="0" bIns="0" rtlCol="0" anchor="ctr"/>
          <a:lstStyle/>
          <a:p>
            <a:pPr indent="0" marL="0">
              <a:buNone/>
            </a:pPr>
            <a:r>
              <a:rPr lang="en-US" sz="1100" b="1" spc="300" kern="0" dirty="0">
                <a:solidFill>
                  <a:srgbClr val="38BDF8"/>
                </a:solidFill>
                <a:latin typeface="Calibri" pitchFamily="34" charset="0"/>
                <a:ea typeface="Calibri" pitchFamily="34" charset="-122"/>
                <a:cs typeface="Calibri" pitchFamily="34" charset="-120"/>
              </a:rPr>
              <a:t>AI STRATEGY
</a:t>
            </a:r>
            <a:endParaRPr lang="en-US" sz="1100" dirty="0"/>
          </a:p>
          <a:p>
            <a:pPr indent="0" marL="0">
              <a:buNone/>
            </a:pPr>
            <a:r>
              <a:rPr lang="en-US" sz="1800" b="1" i="1" dirty="0">
                <a:solidFill>
                  <a:srgbClr val="FFFFFF"/>
                </a:solidFill>
                <a:latin typeface="Trebuchet MS" pitchFamily="34" charset="0"/>
                <a:ea typeface="Trebuchet MS" pitchFamily="34" charset="-122"/>
                <a:cs typeface="Trebuchet MS" pitchFamily="34" charset="-120"/>
              </a:rPr>
              <a:t>"AI was treated as an accelerator, not a blind autopilot. Every single output was audited, refactored, and fully understood before merge."
</a:t>
            </a:r>
            <a:endParaRPr lang="en-US" sz="1100" dirty="0"/>
          </a:p>
          <a:p>
            <a:pPr indent="0" marL="0">
              <a:buNone/>
            </a:pPr>
            <a:r>
              <a:rPr lang="en-US" sz="1100" dirty="0">
                <a:solidFill>
                  <a:srgbClr val="E0F2FE"/>
                </a:solidFill>
                <a:latin typeface="Calibri" pitchFamily="34" charset="0"/>
                <a:ea typeface="Calibri" pitchFamily="34" charset="-122"/>
                <a:cs typeface="Calibri" pitchFamily="34" charset="-120"/>
              </a:rPr>
              <a:t>Result: Higher code velocity, robust architecture, and minimal technical debt.</a:t>
            </a:r>
            <a:endParaRPr lang="en-US" sz="1100" dirty="0"/>
          </a:p>
        </p:txBody>
      </p:sp>
      <p:sp>
        <p:nvSpPr>
          <p:cNvPr id="6" name="Shape 4"/>
          <p:cNvSpPr/>
          <p:nvPr/>
        </p:nvSpPr>
        <p:spPr>
          <a:xfrm>
            <a:off x="4663440" y="1188720"/>
            <a:ext cx="4023360" cy="320040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7" name="Shape 5"/>
          <p:cNvSpPr/>
          <p:nvPr/>
        </p:nvSpPr>
        <p:spPr>
          <a:xfrm>
            <a:off x="4663440" y="1188720"/>
            <a:ext cx="73152" cy="3200400"/>
          </a:xfrm>
          <a:prstGeom prst="rect">
            <a:avLst/>
          </a:prstGeom>
          <a:solidFill>
            <a:srgbClr val="028090"/>
          </a:solidFill>
          <a:ln w="12700">
            <a:solidFill>
              <a:srgbClr val="333333"/>
            </a:solidFill>
            <a:prstDash val="solid"/>
          </a:ln>
        </p:spPr>
      </p:sp>
      <p:sp>
        <p:nvSpPr>
          <p:cNvPr id="8" name="Text 6"/>
          <p:cNvSpPr/>
          <p:nvPr/>
        </p:nvSpPr>
        <p:spPr>
          <a:xfrm>
            <a:off x="4846320" y="1371600"/>
            <a:ext cx="3657600" cy="36576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Effective Prompting &amp; Code Patterns
</a:t>
            </a:r>
            <a:endParaRPr lang="en-US" sz="1600" dirty="0"/>
          </a:p>
        </p:txBody>
      </p:sp>
      <p:sp>
        <p:nvSpPr>
          <p:cNvPr id="9" name="Text 7"/>
          <p:cNvSpPr/>
          <p:nvPr/>
        </p:nvSpPr>
        <p:spPr>
          <a:xfrm>
            <a:off x="4846320" y="1737360"/>
            <a:ext cx="3657600" cy="256032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Where AI Succeeded:
</a:t>
            </a:r>
            <a:endParaRPr lang="en-US" sz="1100" dirty="0"/>
          </a:p>
          <a:p>
            <a:pPr indent="0" marL="0">
              <a:buNone/>
            </a:pPr>
            <a:r>
              <a:rPr lang="en-US" sz="1100" dirty="0">
                <a:solidFill>
                  <a:srgbClr val="475569"/>
                </a:solidFill>
                <a:latin typeface="Calibri" pitchFamily="34" charset="0"/>
                <a:ea typeface="Calibri" pitchFamily="34" charset="-122"/>
                <a:cs typeface="Calibri" pitchFamily="34" charset="-120"/>
              </a:rPr>
              <a:t>• Generating localized Swedish translation dictionaries.
</a:t>
            </a:r>
            <a:pPr indent="0" marL="0">
              <a:buNone/>
            </a:pPr>
            <a:r>
              <a:rPr lang="en-US" sz="1100" dirty="0">
                <a:solidFill>
                  <a:srgbClr val="475569"/>
                </a:solidFill>
                <a:latin typeface="Calibri" pitchFamily="34" charset="0"/>
                <a:ea typeface="Calibri" pitchFamily="34" charset="-122"/>
                <a:cs typeface="Calibri" pitchFamily="34" charset="-120"/>
              </a:rPr>
              <a:t>• Resolving complex git merge conflicts in Redux thunks.
</a:t>
            </a:r>
            <a:pPr indent="0" marL="0">
              <a:buNone/>
            </a:pPr>
            <a:r>
              <a:rPr lang="en-US" sz="1100" dirty="0">
                <a:solidFill>
                  <a:srgbClr val="475569"/>
                </a:solidFill>
                <a:latin typeface="Calibri" pitchFamily="34" charset="0"/>
                <a:ea typeface="Calibri" pitchFamily="34" charset="-122"/>
                <a:cs typeface="Calibri" pitchFamily="34" charset="-120"/>
              </a:rPr>
              <a:t>• Refactoring MUI tables for the route delay leaderboards.
</a:t>
            </a:r>
            <a:endParaRPr lang="en-US" sz="1100" dirty="0"/>
          </a:p>
          <a:p>
            <a:pPr indent="0" marL="0">
              <a:buNone/>
            </a:pPr>
            <a:r>
              <a:rPr lang="en-US" sz="1200" b="1" dirty="0">
                <a:solidFill>
                  <a:srgbClr val="0F172A"/>
                </a:solidFill>
                <a:latin typeface="Calibri" pitchFamily="34" charset="0"/>
                <a:ea typeface="Calibri" pitchFamily="34" charset="-122"/>
                <a:cs typeface="Calibri" pitchFamily="34" charset="-120"/>
              </a:rPr>
              <a:t>Architectural Reviews:
</a:t>
            </a:r>
            <a:endParaRPr lang="en-US" sz="1100" dirty="0"/>
          </a:p>
          <a:p>
            <a:pPr indent="0" marL="0">
              <a:buNone/>
            </a:pPr>
            <a:r>
              <a:rPr lang="en-US" sz="1100" dirty="0">
                <a:solidFill>
                  <a:srgbClr val="475569"/>
                </a:solidFill>
                <a:latin typeface="Calibri" pitchFamily="34" charset="0"/>
                <a:ea typeface="Calibri" pitchFamily="34" charset="-122"/>
                <a:cs typeface="Calibri" pitchFamily="34" charset="-120"/>
              </a:rPr>
              <a:t>We explicitly prompted AI models to review files against the strict MVP boundaries. This helped identify cases where view logic leaked, leading directly to cleanup issues.</a:t>
            </a:r>
            <a:endParaRPr lang="en-US" sz="1100" dirty="0"/>
          </a:p>
        </p:txBody>
      </p:sp>
      <p:sp>
        <p:nvSpPr>
          <p:cNvPr id="10" name="Text 8"/>
          <p:cNvSpPr/>
          <p:nvPr/>
        </p:nvSpPr>
        <p:spPr>
          <a:xfrm>
            <a:off x="457200" y="4800600"/>
            <a:ext cx="64008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Förseningskartan | UX Prize Presentation</a:t>
            </a:r>
            <a:endParaRPr lang="en-US" sz="1000" dirty="0"/>
          </a:p>
        </p:txBody>
      </p:sp>
      <p:sp>
        <p:nvSpPr>
          <p:cNvPr id="11" name="Text 9"/>
          <p:cNvSpPr/>
          <p:nvPr/>
        </p:nvSpPr>
        <p:spPr>
          <a:xfrm>
            <a:off x="7315200" y="4800600"/>
            <a:ext cx="13716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Slide 12 of 16</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28090"/>
                </a:solidFill>
                <a:latin typeface="Calibri" pitchFamily="34" charset="0"/>
                <a:ea typeface="Calibri" pitchFamily="34" charset="-122"/>
                <a:cs typeface="Calibri" pitchFamily="34" charset="-120"/>
              </a:rPr>
              <a:t>UX SUMMARY</a:t>
            </a:r>
            <a:endParaRPr lang="en-US" sz="1000" dirty="0"/>
          </a:p>
        </p:txBody>
      </p:sp>
      <p:sp>
        <p:nvSpPr>
          <p:cNvPr id="3" name="Text 1"/>
          <p:cNvSpPr/>
          <p:nvPr/>
        </p:nvSpPr>
        <p:spPr>
          <a:xfrm>
            <a:off x="457200" y="502920"/>
            <a:ext cx="8229600" cy="411480"/>
          </a:xfrm>
          <a:prstGeom prst="rect">
            <a:avLst/>
          </a:prstGeom>
          <a:noFill/>
          <a:ln/>
        </p:spPr>
        <p:txBody>
          <a:bodyPr wrap="square" lIns="0" tIns="0" rIns="0" bIns="0"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Key UX Decisions Summary Table</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097280"/>
          <a:ext cx="7863840" cy="3474720"/>
        </p:xfrm>
        <a:graphic>
          <a:graphicData uri="http://schemas.openxmlformats.org/drawingml/2006/table">
            <a:tbl>
              <a:tblPr/>
              <a:tblGrid>
                <a:gridCol w="1828800"/>
                <a:gridCol w="2743200"/>
                <a:gridCol w="3291840"/>
              </a:tblGrid>
              <a:tr h="496389">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UX Decision</a:t>
                      </a:r>
                      <a:endParaRPr lang="en-US" sz="1000" dirty="0">
                        <a:latin typeface="Trebuchet MS" charset="0"/>
                        <a:ea typeface="Trebuchet MS" charset="0"/>
                        <a:cs typeface="Trebuchet MS"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What It Does</a:t>
                      </a:r>
                      <a:endParaRPr lang="en-US" sz="1000" dirty="0">
                        <a:latin typeface="Trebuchet MS" charset="0"/>
                        <a:ea typeface="Trebuchet MS" charset="0"/>
                        <a:cs typeface="Trebuchet MS"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Why It Matters for the User</a:t>
                      </a:r>
                      <a:endParaRPr lang="en-US" sz="1000" dirty="0">
                        <a:latin typeface="Trebuchet MS" charset="0"/>
                        <a:ea typeface="Trebuchet MS" charset="0"/>
                        <a:cs typeface="Trebuchet MS"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r>
              <a:tr h="496389">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Map-first interface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Spatial context as primary navigation</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People think in geography, not list indices</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96389">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Progressive disclosure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Map -&gt; Stop -&gt; Live -&gt; Delay stats</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Avoids visual clutter and information overload</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96389">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Accent-insensitive search</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Searching 'Fruangen' finds 'Fruängen'</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Accommodates international keyboards</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96389">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Transport mode filters</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Toggle metro / buses / trains / trams</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Reduces map markers and visual noise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96389">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Live cross-tab sync</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Instant cloud updates across all tabs</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Feels polished, modern, and high-quality</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96389">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Mobile adaptation</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Custom mobile drawers &amp; layout scales</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Responsive and accessible on-the-go</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4800600"/>
            <a:ext cx="64008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Förseningskartan | UX Prize Presentation</a:t>
            </a:r>
            <a:endParaRPr lang="en-US" sz="1000" dirty="0"/>
          </a:p>
        </p:txBody>
      </p:sp>
      <p:sp>
        <p:nvSpPr>
          <p:cNvPr id="6" name="Text 3"/>
          <p:cNvSpPr/>
          <p:nvPr/>
        </p:nvSpPr>
        <p:spPr>
          <a:xfrm>
            <a:off x="7315200" y="4800600"/>
            <a:ext cx="13716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Slide 13 of 16</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28090"/>
                </a:solidFill>
                <a:latin typeface="Calibri" pitchFamily="34" charset="0"/>
                <a:ea typeface="Calibri" pitchFamily="34" charset="-122"/>
                <a:cs typeface="Calibri" pitchFamily="34" charset="-120"/>
              </a:rPr>
              <a:t>LESSONS</a:t>
            </a:r>
            <a:endParaRPr lang="en-US" sz="1000" dirty="0"/>
          </a:p>
        </p:txBody>
      </p:sp>
      <p:sp>
        <p:nvSpPr>
          <p:cNvPr id="3" name="Text 1"/>
          <p:cNvSpPr/>
          <p:nvPr/>
        </p:nvSpPr>
        <p:spPr>
          <a:xfrm>
            <a:off x="457200" y="502920"/>
            <a:ext cx="8229600" cy="411480"/>
          </a:xfrm>
          <a:prstGeom prst="rect">
            <a:avLst/>
          </a:prstGeom>
          <a:noFill/>
          <a:ln/>
        </p:spPr>
        <p:txBody>
          <a:bodyPr wrap="square" lIns="0" tIns="0" rIns="0" bIns="0"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Challenges &amp; Lessons Learned</a:t>
            </a:r>
            <a:endParaRPr lang="en-US" sz="2600" dirty="0"/>
          </a:p>
        </p:txBody>
      </p:sp>
      <p:sp>
        <p:nvSpPr>
          <p:cNvPr id="4" name="Shape 2"/>
          <p:cNvSpPr/>
          <p:nvPr/>
        </p:nvSpPr>
        <p:spPr>
          <a:xfrm>
            <a:off x="457200" y="1188720"/>
            <a:ext cx="3931920" cy="320040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5" name="Shape 3"/>
          <p:cNvSpPr/>
          <p:nvPr/>
        </p:nvSpPr>
        <p:spPr>
          <a:xfrm>
            <a:off x="457200" y="1188720"/>
            <a:ext cx="73152" cy="3200400"/>
          </a:xfrm>
          <a:prstGeom prst="rect">
            <a:avLst/>
          </a:prstGeom>
          <a:solidFill>
            <a:srgbClr val="DC2626"/>
          </a:solidFill>
          <a:ln w="12700">
            <a:solidFill>
              <a:srgbClr val="333333"/>
            </a:solidFill>
            <a:prstDash val="solid"/>
          </a:ln>
        </p:spPr>
      </p:sp>
      <p:sp>
        <p:nvSpPr>
          <p:cNvPr id="6" name="Text 4"/>
          <p:cNvSpPr/>
          <p:nvPr/>
        </p:nvSpPr>
        <p:spPr>
          <a:xfrm>
            <a:off x="640080" y="1371600"/>
            <a:ext cx="3566160" cy="36576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Key Technical Challenges
</a:t>
            </a:r>
            <a:endParaRPr lang="en-US" sz="1600" dirty="0"/>
          </a:p>
        </p:txBody>
      </p:sp>
      <p:sp>
        <p:nvSpPr>
          <p:cNvPr id="7" name="Text 5"/>
          <p:cNvSpPr/>
          <p:nvPr/>
        </p:nvSpPr>
        <p:spPr>
          <a:xfrm>
            <a:off x="640080" y="1737360"/>
            <a:ext cx="3566160" cy="2560320"/>
          </a:xfrm>
          <a:prstGeom prst="rect">
            <a:avLst/>
          </a:prstGeom>
          <a:noFill/>
          <a:ln/>
        </p:spPr>
        <p:txBody>
          <a:bodyPr wrap="square" lIns="0" tIns="0" rIns="0" bIns="0" rtlCol="0" anchor="ctr"/>
          <a:lstStyle/>
          <a:p>
            <a:pPr indent="0" marL="0">
              <a:spcAft>
                <a:spcPts val="500"/>
              </a:spcAft>
              <a:buNone/>
            </a:pPr>
            <a:r>
              <a:rPr lang="en-US" sz="1100" b="1" dirty="0">
                <a:solidFill>
                  <a:srgbClr val="0F172A"/>
                </a:solidFill>
                <a:latin typeface="Calibri" pitchFamily="34" charset="0"/>
                <a:ea typeface="Calibri" pitchFamily="34" charset="-122"/>
                <a:cs typeface="Calibri" pitchFamily="34" charset="-120"/>
              </a:rPr>
              <a:t>Firestore Constraints: </a:t>
            </a:r>
            <a:pPr indent="0" marL="0">
              <a:spcAft>
                <a:spcPts val="500"/>
              </a:spcAft>
              <a:buNone/>
            </a:pPr>
            <a:r>
              <a:rPr lang="en-US" sz="1100" dirty="0">
                <a:solidFill>
                  <a:srgbClr val="475569"/>
                </a:solidFill>
                <a:latin typeface="Calibri" pitchFamily="34" charset="0"/>
                <a:ea typeface="Calibri" pitchFamily="34" charset="-122"/>
                <a:cs typeface="Calibri" pitchFamily="34" charset="-120"/>
              </a:rPr>
              <a:t>Limited querying capabilities for complex aggregations forced a full database rewrite.
</a:t>
            </a:r>
            <a:endParaRPr lang="en-US" sz="1100" dirty="0"/>
          </a:p>
          <a:p>
            <a:pPr indent="0" marL="0">
              <a:spcAft>
                <a:spcPts val="500"/>
              </a:spcAft>
              <a:buNone/>
            </a:pPr>
            <a:r>
              <a:rPr lang="en-US" sz="1100" b="1" dirty="0">
                <a:solidFill>
                  <a:srgbClr val="0F172A"/>
                </a:solidFill>
                <a:latin typeface="Calibri" pitchFamily="34" charset="0"/>
                <a:ea typeface="Calibri" pitchFamily="34" charset="-122"/>
                <a:cs typeface="Calibri" pitchFamily="34" charset="-120"/>
              </a:rPr>
              <a:t>Timezone Bugs: </a:t>
            </a:r>
            <a:pPr indent="0" marL="0">
              <a:spcAft>
                <a:spcPts val="500"/>
              </a:spcAft>
              <a:buNone/>
            </a:pPr>
            <a:r>
              <a:rPr lang="en-US" sz="1100" dirty="0">
                <a:solidFill>
                  <a:srgbClr val="475569"/>
                </a:solidFill>
                <a:latin typeface="Calibri" pitchFamily="34" charset="0"/>
                <a:ea typeface="Calibri" pitchFamily="34" charset="-122"/>
                <a:cs typeface="Calibri" pitchFamily="34" charset="-120"/>
              </a:rPr>
              <a:t>Syncing UTC APIs with Swedish local transport times and VPS servers led to offset errors.
</a:t>
            </a:r>
            <a:endParaRPr lang="en-US" sz="1100" dirty="0"/>
          </a:p>
          <a:p>
            <a:pPr indent="0" marL="0">
              <a:spcAft>
                <a:spcPts val="500"/>
              </a:spcAft>
              <a:buNone/>
            </a:pPr>
            <a:r>
              <a:rPr lang="en-US" sz="1100" b="1" dirty="0">
                <a:solidFill>
                  <a:srgbClr val="0F172A"/>
                </a:solidFill>
                <a:latin typeface="Calibri" pitchFamily="34" charset="0"/>
                <a:ea typeface="Calibri" pitchFamily="34" charset="-122"/>
                <a:cs typeface="Calibri" pitchFamily="34" charset="-120"/>
              </a:rPr>
              <a:t>Mobile Oversight: </a:t>
            </a:r>
            <a:pPr indent="0" marL="0">
              <a:spcAft>
                <a:spcPts val="500"/>
              </a:spcAft>
              <a:buNone/>
            </a:pPr>
            <a:r>
              <a:rPr lang="en-US" sz="1100" dirty="0">
                <a:solidFill>
                  <a:srgbClr val="475569"/>
                </a:solidFill>
                <a:latin typeface="Calibri" pitchFamily="34" charset="0"/>
                <a:ea typeface="Calibri" pitchFamily="34" charset="-122"/>
                <a:cs typeface="Calibri" pitchFamily="34" charset="-120"/>
              </a:rPr>
              <a:t>Building desktop-first left mobile layouts broken, requiring massive UI adjustments late in project.
</a:t>
            </a:r>
            <a:endParaRPr lang="en-US" sz="1100" dirty="0"/>
          </a:p>
          <a:p>
            <a:pPr indent="0" marL="0">
              <a:spcAft>
                <a:spcPts val="500"/>
              </a:spcAft>
              <a:buNone/>
            </a:pPr>
            <a:r>
              <a:rPr lang="en-US" sz="1100" b="1" dirty="0">
                <a:solidFill>
                  <a:srgbClr val="0F172A"/>
                </a:solidFill>
                <a:latin typeface="Calibri" pitchFamily="34" charset="0"/>
                <a:ea typeface="Calibri" pitchFamily="34" charset="-122"/>
                <a:cs typeface="Calibri" pitchFamily="34" charset="-120"/>
              </a:rPr>
              <a:t>Architectural Leakage: </a:t>
            </a:r>
            <a:pPr indent="0" marL="0">
              <a:spcAft>
                <a:spcPts val="500"/>
              </a:spcAft>
              <a:buNone/>
            </a:pPr>
            <a:r>
              <a:rPr lang="en-US" sz="1100" dirty="0">
                <a:solidFill>
                  <a:srgbClr val="475569"/>
                </a:solidFill>
                <a:latin typeface="Calibri" pitchFamily="34" charset="0"/>
                <a:ea typeface="Calibri" pitchFamily="34" charset="-122"/>
                <a:cs typeface="Calibri" pitchFamily="34" charset="-120"/>
              </a:rPr>
              <a:t>Discipline to isolate business thunks from views required constant code audits.</a:t>
            </a:r>
            <a:endParaRPr lang="en-US" sz="1100" dirty="0"/>
          </a:p>
        </p:txBody>
      </p:sp>
      <p:sp>
        <p:nvSpPr>
          <p:cNvPr id="8" name="Shape 6"/>
          <p:cNvSpPr/>
          <p:nvPr/>
        </p:nvSpPr>
        <p:spPr>
          <a:xfrm>
            <a:off x="4754880" y="1188720"/>
            <a:ext cx="3931920" cy="320040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9" name="Shape 7"/>
          <p:cNvSpPr/>
          <p:nvPr/>
        </p:nvSpPr>
        <p:spPr>
          <a:xfrm>
            <a:off x="4754880" y="1188720"/>
            <a:ext cx="73152" cy="3200400"/>
          </a:xfrm>
          <a:prstGeom prst="rect">
            <a:avLst/>
          </a:prstGeom>
          <a:solidFill>
            <a:srgbClr val="16A34A"/>
          </a:solidFill>
          <a:ln w="12700">
            <a:solidFill>
              <a:srgbClr val="333333"/>
            </a:solidFill>
            <a:prstDash val="solid"/>
          </a:ln>
        </p:spPr>
      </p:sp>
      <p:sp>
        <p:nvSpPr>
          <p:cNvPr id="10" name="Text 8"/>
          <p:cNvSpPr/>
          <p:nvPr/>
        </p:nvSpPr>
        <p:spPr>
          <a:xfrm>
            <a:off x="4937760" y="1371600"/>
            <a:ext cx="3566160" cy="36576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Valuable Project Lessons
</a:t>
            </a:r>
            <a:endParaRPr lang="en-US" sz="1600" dirty="0"/>
          </a:p>
        </p:txBody>
      </p:sp>
      <p:sp>
        <p:nvSpPr>
          <p:cNvPr id="11" name="Text 9"/>
          <p:cNvSpPr/>
          <p:nvPr/>
        </p:nvSpPr>
        <p:spPr>
          <a:xfrm>
            <a:off x="4937760" y="1737360"/>
            <a:ext cx="3566160" cy="2560320"/>
          </a:xfrm>
          <a:prstGeom prst="rect">
            <a:avLst/>
          </a:prstGeom>
          <a:noFill/>
          <a:ln/>
        </p:spPr>
        <p:txBody>
          <a:bodyPr wrap="square" lIns="0" tIns="0" rIns="0" bIns="0" rtlCol="0" anchor="ctr"/>
          <a:lstStyle/>
          <a:p>
            <a:pPr indent="0" marL="0">
              <a:spcAft>
                <a:spcPts val="500"/>
              </a:spcAft>
              <a:buNone/>
            </a:pPr>
            <a:r>
              <a:rPr lang="en-US" sz="1100" b="1" dirty="0">
                <a:solidFill>
                  <a:srgbClr val="0F172A"/>
                </a:solidFill>
                <a:latin typeface="Calibri" pitchFamily="34" charset="0"/>
                <a:ea typeface="Calibri" pitchFamily="34" charset="-122"/>
                <a:cs typeface="Calibri" pitchFamily="34" charset="-120"/>
              </a:rPr>
              <a:t>Track Everything: </a:t>
            </a:r>
            <a:pPr indent="0" marL="0">
              <a:spcAft>
                <a:spcPts val="500"/>
              </a:spcAft>
              <a:buNone/>
            </a:pPr>
            <a:r>
              <a:rPr lang="en-US" sz="1100" dirty="0">
                <a:solidFill>
                  <a:srgbClr val="475569"/>
                </a:solidFill>
                <a:latin typeface="Calibri" pitchFamily="34" charset="0"/>
                <a:ea typeface="Calibri" pitchFamily="34" charset="-122"/>
                <a:cs typeface="Calibri" pitchFamily="34" charset="-120"/>
              </a:rPr>
              <a:t>Detailed Github issue ticketing kept scope bloat under control and tasks clear.
</a:t>
            </a:r>
            <a:endParaRPr lang="en-US" sz="1100" dirty="0"/>
          </a:p>
          <a:p>
            <a:pPr indent="0" marL="0">
              <a:spcAft>
                <a:spcPts val="500"/>
              </a:spcAft>
              <a:buNone/>
            </a:pPr>
            <a:r>
              <a:rPr lang="en-US" sz="1100" b="1" dirty="0">
                <a:solidFill>
                  <a:srgbClr val="0F172A"/>
                </a:solidFill>
                <a:latin typeface="Calibri" pitchFamily="34" charset="0"/>
                <a:ea typeface="Calibri" pitchFamily="34" charset="-122"/>
                <a:cs typeface="Calibri" pitchFamily="34" charset="-120"/>
              </a:rPr>
              <a:t>Consultations are Key: </a:t>
            </a:r>
            <a:pPr indent="0" marL="0">
              <a:spcAft>
                <a:spcPts val="500"/>
              </a:spcAft>
              <a:buNone/>
            </a:pPr>
            <a:r>
              <a:rPr lang="en-US" sz="1100" dirty="0">
                <a:solidFill>
                  <a:srgbClr val="475569"/>
                </a:solidFill>
                <a:latin typeface="Calibri" pitchFamily="34" charset="0"/>
                <a:ea typeface="Calibri" pitchFamily="34" charset="-122"/>
                <a:cs typeface="Calibri" pitchFamily="34" charset="-120"/>
              </a:rPr>
              <a:t>Real users exposed critical flaws (like keyboard accents) that developers overlooked.
</a:t>
            </a:r>
            <a:endParaRPr lang="en-US" sz="1100" dirty="0"/>
          </a:p>
          <a:p>
            <a:pPr indent="0" marL="0">
              <a:spcAft>
                <a:spcPts val="500"/>
              </a:spcAft>
              <a:buNone/>
            </a:pPr>
            <a:r>
              <a:rPr lang="en-US" sz="1100" b="1" dirty="0">
                <a:solidFill>
                  <a:srgbClr val="0F172A"/>
                </a:solidFill>
                <a:latin typeface="Calibri" pitchFamily="34" charset="0"/>
                <a:ea typeface="Calibri" pitchFamily="34" charset="-122"/>
                <a:cs typeface="Calibri" pitchFamily="34" charset="-120"/>
              </a:rPr>
              <a:t>Refactor Early: </a:t>
            </a:r>
            <a:pPr indent="0" marL="0">
              <a:spcAft>
                <a:spcPts val="500"/>
              </a:spcAft>
              <a:buNone/>
            </a:pPr>
            <a:r>
              <a:rPr lang="en-US" sz="1100" dirty="0">
                <a:solidFill>
                  <a:srgbClr val="475569"/>
                </a:solidFill>
                <a:latin typeface="Calibri" pitchFamily="34" charset="0"/>
                <a:ea typeface="Calibri" pitchFamily="34" charset="-122"/>
                <a:cs typeface="Calibri" pitchFamily="34" charset="-120"/>
              </a:rPr>
              <a:t>Clearing architectural debt when noticed saved countless hours later in integration.
</a:t>
            </a:r>
            <a:endParaRPr lang="en-US" sz="1100" dirty="0"/>
          </a:p>
          <a:p>
            <a:pPr indent="0" marL="0">
              <a:spcAft>
                <a:spcPts val="500"/>
              </a:spcAft>
              <a:buNone/>
            </a:pPr>
            <a:r>
              <a:rPr lang="en-US" sz="1100" b="1" dirty="0">
                <a:solidFill>
                  <a:srgbClr val="0F172A"/>
                </a:solidFill>
                <a:latin typeface="Calibri" pitchFamily="34" charset="0"/>
                <a:ea typeface="Calibri" pitchFamily="34" charset="-122"/>
                <a:cs typeface="Calibri" pitchFamily="34" charset="-120"/>
              </a:rPr>
              <a:t>Details win UX: </a:t>
            </a:r>
            <a:pPr indent="0" marL="0">
              <a:spcAft>
                <a:spcPts val="500"/>
              </a:spcAft>
              <a:buNone/>
            </a:pPr>
            <a:r>
              <a:rPr lang="en-US" sz="1100" dirty="0">
                <a:solidFill>
                  <a:srgbClr val="475569"/>
                </a:solidFill>
                <a:latin typeface="Calibri" pitchFamily="34" charset="0"/>
                <a:ea typeface="Calibri" pitchFamily="34" charset="-122"/>
                <a:cs typeface="Calibri" pitchFamily="34" charset="-120"/>
              </a:rPr>
              <a:t>Features like cross-tab syncing and responsive panels created the winning UX edge.</a:t>
            </a:r>
            <a:endParaRPr lang="en-US" sz="1100" dirty="0"/>
          </a:p>
        </p:txBody>
      </p:sp>
      <p:sp>
        <p:nvSpPr>
          <p:cNvPr id="12" name="Text 10"/>
          <p:cNvSpPr/>
          <p:nvPr/>
        </p:nvSpPr>
        <p:spPr>
          <a:xfrm>
            <a:off x="457200" y="4800600"/>
            <a:ext cx="64008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Förseningskartan | UX Prize Presentation</a:t>
            </a:r>
            <a:endParaRPr lang="en-US" sz="1000" dirty="0"/>
          </a:p>
        </p:txBody>
      </p:sp>
      <p:sp>
        <p:nvSpPr>
          <p:cNvPr id="13" name="Text 11"/>
          <p:cNvSpPr/>
          <p:nvPr/>
        </p:nvSpPr>
        <p:spPr>
          <a:xfrm>
            <a:off x="7315200" y="4800600"/>
            <a:ext cx="13716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Slide 14 of 16</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28090"/>
                </a:solidFill>
                <a:latin typeface="Calibri" pitchFamily="34" charset="0"/>
                <a:ea typeface="Calibri" pitchFamily="34" charset="-122"/>
                <a:cs typeface="Calibri" pitchFamily="34" charset="-120"/>
              </a:rPr>
              <a:t>RETROSPECTIVE</a:t>
            </a:r>
            <a:endParaRPr lang="en-US" sz="1000" dirty="0"/>
          </a:p>
        </p:txBody>
      </p:sp>
      <p:sp>
        <p:nvSpPr>
          <p:cNvPr id="3" name="Text 1"/>
          <p:cNvSpPr/>
          <p:nvPr/>
        </p:nvSpPr>
        <p:spPr>
          <a:xfrm>
            <a:off x="457200" y="502920"/>
            <a:ext cx="8229600" cy="411480"/>
          </a:xfrm>
          <a:prstGeom prst="rect">
            <a:avLst/>
          </a:prstGeom>
          <a:noFill/>
          <a:ln/>
        </p:spPr>
        <p:txBody>
          <a:bodyPr wrap="square" lIns="0" tIns="0" rIns="0" bIns="0"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What We'd Do Differently</a:t>
            </a:r>
            <a:endParaRPr lang="en-US" sz="2600" dirty="0"/>
          </a:p>
        </p:txBody>
      </p:sp>
      <p:sp>
        <p:nvSpPr>
          <p:cNvPr id="4" name="Shape 2"/>
          <p:cNvSpPr/>
          <p:nvPr/>
        </p:nvSpPr>
        <p:spPr>
          <a:xfrm>
            <a:off x="457200" y="1188720"/>
            <a:ext cx="3931920" cy="14630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5" name="Shape 3"/>
          <p:cNvSpPr/>
          <p:nvPr/>
        </p:nvSpPr>
        <p:spPr>
          <a:xfrm>
            <a:off x="457200" y="1188720"/>
            <a:ext cx="73152" cy="1463040"/>
          </a:xfrm>
          <a:prstGeom prst="rect">
            <a:avLst/>
          </a:prstGeom>
          <a:solidFill>
            <a:srgbClr val="1D4ED8"/>
          </a:solidFill>
          <a:ln w="12700">
            <a:solidFill>
              <a:srgbClr val="333333"/>
            </a:solidFill>
            <a:prstDash val="solid"/>
          </a:ln>
        </p:spPr>
      </p:sp>
      <p:sp>
        <p:nvSpPr>
          <p:cNvPr id="6" name="Text 4"/>
          <p:cNvSpPr/>
          <p:nvPr/>
        </p:nvSpPr>
        <p:spPr>
          <a:xfrm>
            <a:off x="640080" y="1371600"/>
            <a:ext cx="3657600" cy="109728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1. Mobile-First Design
</a:t>
            </a:r>
            <a:endParaRPr lang="en-US" sz="1400" dirty="0"/>
          </a:p>
          <a:p>
            <a:pPr indent="0" marL="0">
              <a:buNone/>
            </a:pPr>
            <a:r>
              <a:rPr lang="en-US" sz="1100" dirty="0">
                <a:solidFill>
                  <a:srgbClr val="475569"/>
                </a:solidFill>
                <a:latin typeface="Calibri" pitchFamily="34" charset="0"/>
                <a:ea typeface="Calibri" pitchFamily="34" charset="-122"/>
                <a:cs typeface="Calibri" pitchFamily="34" charset="-120"/>
              </a:rPr>
              <a:t>Design layouts for mobile screens from day one rather than adapting a complex desktop view at the end.</a:t>
            </a:r>
            <a:endParaRPr lang="en-US" sz="1400" dirty="0"/>
          </a:p>
        </p:txBody>
      </p:sp>
      <p:sp>
        <p:nvSpPr>
          <p:cNvPr id="7" name="Shape 5"/>
          <p:cNvSpPr/>
          <p:nvPr/>
        </p:nvSpPr>
        <p:spPr>
          <a:xfrm>
            <a:off x="4754880" y="1188720"/>
            <a:ext cx="3931920" cy="14630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8" name="Shape 6"/>
          <p:cNvSpPr/>
          <p:nvPr/>
        </p:nvSpPr>
        <p:spPr>
          <a:xfrm>
            <a:off x="4754880" y="1188720"/>
            <a:ext cx="73152" cy="1463040"/>
          </a:xfrm>
          <a:prstGeom prst="rect">
            <a:avLst/>
          </a:prstGeom>
          <a:solidFill>
            <a:srgbClr val="028090"/>
          </a:solidFill>
          <a:ln w="12700">
            <a:solidFill>
              <a:srgbClr val="333333"/>
            </a:solidFill>
            <a:prstDash val="solid"/>
          </a:ln>
        </p:spPr>
      </p:sp>
      <p:sp>
        <p:nvSpPr>
          <p:cNvPr id="9" name="Text 7"/>
          <p:cNvSpPr/>
          <p:nvPr/>
        </p:nvSpPr>
        <p:spPr>
          <a:xfrm>
            <a:off x="4937760" y="1371600"/>
            <a:ext cx="3657600" cy="109728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2. Thorough Database Evaluation
</a:t>
            </a:r>
            <a:endParaRPr lang="en-US" sz="1400" dirty="0"/>
          </a:p>
          <a:p>
            <a:pPr indent="0" marL="0">
              <a:buNone/>
            </a:pPr>
            <a:r>
              <a:rPr lang="en-US" sz="1100" dirty="0">
                <a:solidFill>
                  <a:srgbClr val="475569"/>
                </a:solidFill>
                <a:latin typeface="Calibri" pitchFamily="34" charset="0"/>
                <a:ea typeface="Calibri" pitchFamily="34" charset="-122"/>
                <a:cs typeface="Calibri" pitchFamily="34" charset="-120"/>
              </a:rPr>
              <a:t>Calculate query complexity and pricing schemes before locking in Firestore, avoiding database migrations.</a:t>
            </a:r>
            <a:endParaRPr lang="en-US" sz="1400" dirty="0"/>
          </a:p>
        </p:txBody>
      </p:sp>
      <p:sp>
        <p:nvSpPr>
          <p:cNvPr id="10" name="Shape 8"/>
          <p:cNvSpPr/>
          <p:nvPr/>
        </p:nvSpPr>
        <p:spPr>
          <a:xfrm>
            <a:off x="457200" y="2926080"/>
            <a:ext cx="3931920" cy="14630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11" name="Shape 9"/>
          <p:cNvSpPr/>
          <p:nvPr/>
        </p:nvSpPr>
        <p:spPr>
          <a:xfrm>
            <a:off x="457200" y="2926080"/>
            <a:ext cx="73152" cy="1463040"/>
          </a:xfrm>
          <a:prstGeom prst="rect">
            <a:avLst/>
          </a:prstGeom>
          <a:solidFill>
            <a:srgbClr val="DC2626"/>
          </a:solidFill>
          <a:ln w="12700">
            <a:solidFill>
              <a:srgbClr val="333333"/>
            </a:solidFill>
            <a:prstDash val="solid"/>
          </a:ln>
        </p:spPr>
      </p:sp>
      <p:sp>
        <p:nvSpPr>
          <p:cNvPr id="12" name="Text 10"/>
          <p:cNvSpPr/>
          <p:nvPr/>
        </p:nvSpPr>
        <p:spPr>
          <a:xfrm>
            <a:off x="640080" y="3108960"/>
            <a:ext cx="3657600" cy="109728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3. Early Automated Testing
</a:t>
            </a:r>
            <a:endParaRPr lang="en-US" sz="1400" dirty="0"/>
          </a:p>
          <a:p>
            <a:pPr indent="0" marL="0">
              <a:buNone/>
            </a:pPr>
            <a:r>
              <a:rPr lang="en-US" sz="1100" dirty="0">
                <a:solidFill>
                  <a:srgbClr val="475569"/>
                </a:solidFill>
                <a:latin typeface="Calibri" pitchFamily="34" charset="0"/>
                <a:ea typeface="Calibri" pitchFamily="34" charset="-122"/>
                <a:cs typeface="Calibri" pitchFamily="34" charset="-120"/>
              </a:rPr>
              <a:t>Write unit tests for core aggregators and thunks during the foundation phase to catch regression bugs.</a:t>
            </a:r>
            <a:endParaRPr lang="en-US" sz="1400" dirty="0"/>
          </a:p>
        </p:txBody>
      </p:sp>
      <p:sp>
        <p:nvSpPr>
          <p:cNvPr id="13" name="Shape 11"/>
          <p:cNvSpPr/>
          <p:nvPr/>
        </p:nvSpPr>
        <p:spPr>
          <a:xfrm>
            <a:off x="4754880" y="2926080"/>
            <a:ext cx="3931920" cy="14630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2000"/>
              </a:srgbClr>
            </a:outerShdw>
          </a:effectLst>
        </p:spPr>
      </p:sp>
      <p:sp>
        <p:nvSpPr>
          <p:cNvPr id="14" name="Shape 12"/>
          <p:cNvSpPr/>
          <p:nvPr/>
        </p:nvSpPr>
        <p:spPr>
          <a:xfrm>
            <a:off x="4754880" y="2926080"/>
            <a:ext cx="73152" cy="1463040"/>
          </a:xfrm>
          <a:prstGeom prst="rect">
            <a:avLst/>
          </a:prstGeom>
          <a:solidFill>
            <a:srgbClr val="16A34A"/>
          </a:solidFill>
          <a:ln w="12700">
            <a:solidFill>
              <a:srgbClr val="333333"/>
            </a:solidFill>
            <a:prstDash val="solid"/>
          </a:ln>
        </p:spPr>
      </p:sp>
      <p:sp>
        <p:nvSpPr>
          <p:cNvPr id="15" name="Text 13"/>
          <p:cNvSpPr/>
          <p:nvPr/>
        </p:nvSpPr>
        <p:spPr>
          <a:xfrm>
            <a:off x="4937760" y="3108960"/>
            <a:ext cx="3657600" cy="109728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4. End-to-End Visual Tests
</a:t>
            </a:r>
            <a:endParaRPr lang="en-US" sz="1400" dirty="0"/>
          </a:p>
          <a:p>
            <a:pPr indent="0" marL="0">
              <a:buNone/>
            </a:pPr>
            <a:r>
              <a:rPr lang="en-US" sz="1100" dirty="0">
                <a:solidFill>
                  <a:srgbClr val="475569"/>
                </a:solidFill>
                <a:latin typeface="Calibri" pitchFamily="34" charset="0"/>
                <a:ea typeface="Calibri" pitchFamily="34" charset="-122"/>
                <a:cs typeface="Calibri" pitchFamily="34" charset="-120"/>
              </a:rPr>
              <a:t>Integrate Cypress/Playwright flow testing to automate interactive maps, favorites, and themes.</a:t>
            </a:r>
            <a:endParaRPr lang="en-US" sz="1400" dirty="0"/>
          </a:p>
        </p:txBody>
      </p:sp>
      <p:sp>
        <p:nvSpPr>
          <p:cNvPr id="16" name="Text 14"/>
          <p:cNvSpPr/>
          <p:nvPr/>
        </p:nvSpPr>
        <p:spPr>
          <a:xfrm>
            <a:off x="457200" y="4800600"/>
            <a:ext cx="64008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Förseningskartan | UX Prize Presentation</a:t>
            </a:r>
            <a:endParaRPr lang="en-US" sz="1000" dirty="0"/>
          </a:p>
        </p:txBody>
      </p:sp>
      <p:sp>
        <p:nvSpPr>
          <p:cNvPr id="17" name="Text 15"/>
          <p:cNvSpPr/>
          <p:nvPr/>
        </p:nvSpPr>
        <p:spPr>
          <a:xfrm>
            <a:off x="7315200" y="4800600"/>
            <a:ext cx="13716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Slide 15 of 16</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57200" y="-457200"/>
            <a:ext cx="1828800" cy="1828800"/>
          </a:xfrm>
          <a:prstGeom prst="ellipse">
            <a:avLst/>
          </a:prstGeom>
          <a:solidFill>
            <a:srgbClr val="38BDF8">
              <a:alpha val="10000"/>
            </a:srgbClr>
          </a:solidFill>
          <a:ln w="12700">
            <a:solidFill>
              <a:srgbClr val="333333"/>
            </a:solidFill>
            <a:prstDash val="solid"/>
          </a:ln>
        </p:spPr>
      </p:sp>
      <p:sp>
        <p:nvSpPr>
          <p:cNvPr id="3" name="Text 1"/>
          <p:cNvSpPr/>
          <p:nvPr/>
        </p:nvSpPr>
        <p:spPr>
          <a:xfrm>
            <a:off x="914400" y="1463040"/>
            <a:ext cx="7315200" cy="1645920"/>
          </a:xfrm>
          <a:prstGeom prst="rect">
            <a:avLst/>
          </a:prstGeom>
          <a:noFill/>
          <a:ln/>
        </p:spPr>
        <p:txBody>
          <a:bodyPr wrap="square" lIns="0" tIns="0" rIns="0" bIns="0" rtlCol="0" anchor="ctr"/>
          <a:lstStyle/>
          <a:p>
            <a:pPr algn="ctr" indent="0" marL="0">
              <a:buNone/>
            </a:pPr>
            <a:r>
              <a:rPr lang="en-US" sz="4000" b="1" dirty="0">
                <a:solidFill>
                  <a:srgbClr val="FFFFFF"/>
                </a:solidFill>
                <a:latin typeface="Trebuchet MS" pitchFamily="34" charset="0"/>
                <a:ea typeface="Trebuchet MS" pitchFamily="34" charset="-122"/>
                <a:cs typeface="Trebuchet MS" pitchFamily="34" charset="-120"/>
              </a:rPr>
              <a:t>FÖRSENINGSKARTAN
</a:t>
            </a:r>
            <a:endParaRPr lang="en-US" sz="4000" dirty="0"/>
          </a:p>
          <a:p>
            <a:pPr algn="ctr" indent="0" marL="0">
              <a:buNone/>
            </a:pPr>
            <a:r>
              <a:rPr lang="en-US" sz="2000" b="1" dirty="0">
                <a:solidFill>
                  <a:srgbClr val="E0F2FE"/>
                </a:solidFill>
                <a:latin typeface="Calibri" pitchFamily="34" charset="0"/>
                <a:ea typeface="Calibri" pitchFamily="34" charset="-122"/>
                <a:cs typeface="Calibri" pitchFamily="34" charset="-120"/>
              </a:rPr>
              <a:t>Thank you for listening! Any questions?</a:t>
            </a:r>
            <a:endParaRPr lang="en-US" sz="4000" dirty="0"/>
          </a:p>
        </p:txBody>
      </p:sp>
      <p:sp>
        <p:nvSpPr>
          <p:cNvPr id="4" name="Text 2"/>
          <p:cNvSpPr/>
          <p:nvPr/>
        </p:nvSpPr>
        <p:spPr>
          <a:xfrm>
            <a:off x="914400" y="3200400"/>
            <a:ext cx="7315200" cy="914400"/>
          </a:xfrm>
          <a:prstGeom prst="rect">
            <a:avLst/>
          </a:prstGeom>
          <a:noFill/>
          <a:ln/>
        </p:spPr>
        <p:txBody>
          <a:bodyPr wrap="square" lIns="0" tIns="0" rIns="0" bIns="0" rtlCol="0" anchor="ctr"/>
          <a:lstStyle/>
          <a:p>
            <a:pPr algn="ctr" indent="0" marL="0">
              <a:buNone/>
            </a:pPr>
            <a:r>
              <a:rPr lang="en-US" sz="1200" b="1" dirty="0">
                <a:solidFill>
                  <a:srgbClr val="E2E8F0"/>
                </a:solidFill>
                <a:latin typeface="Calibri" pitchFamily="34" charset="0"/>
                <a:ea typeface="Calibri" pitchFamily="34" charset="-122"/>
                <a:cs typeface="Calibri" pitchFamily="34" charset="-120"/>
              </a:rPr>
              <a:t>Live Application: </a:t>
            </a:r>
            <a:pPr algn="ctr" indent="0" marL="0">
              <a:buNone/>
            </a:pPr>
            <a:r>
              <a:rPr lang="en-US" sz="1200" b="1" dirty="0">
                <a:solidFill>
                  <a:srgbClr val="38BDF8"/>
                </a:solidFill>
                <a:latin typeface="Calibri" pitchFamily="34" charset="0"/>
                <a:ea typeface="Calibri" pitchFamily="34" charset="-122"/>
                <a:cs typeface="Calibri" pitchFamily="34" charset="-120"/>
              </a:rPr>
              <a:t>forseningskartan.web.app
</a:t>
            </a:r>
            <a:endParaRPr lang="en-US" sz="1200" dirty="0"/>
          </a:p>
          <a:p>
            <a:pPr algn="ctr" indent="0" marL="0">
              <a:buNone/>
            </a:pPr>
            <a:r>
              <a:rPr lang="en-US" sz="1200" b="1" dirty="0">
                <a:solidFill>
                  <a:srgbClr val="E2E8F0"/>
                </a:solidFill>
                <a:latin typeface="Calibri" pitchFamily="34" charset="0"/>
                <a:ea typeface="Calibri" pitchFamily="34" charset="-122"/>
                <a:cs typeface="Calibri" pitchFamily="34" charset="-120"/>
              </a:rPr>
              <a:t>Source Code: </a:t>
            </a:r>
            <a:pPr algn="ctr" indent="0" marL="0">
              <a:buNone/>
            </a:pPr>
            <a:r>
              <a:rPr lang="en-US" sz="1200" b="1" dirty="0">
                <a:solidFill>
                  <a:srgbClr val="38BDF8"/>
                </a:solidFill>
                <a:latin typeface="Calibri" pitchFamily="34" charset="0"/>
                <a:ea typeface="Calibri" pitchFamily="34" charset="-122"/>
                <a:cs typeface="Calibri" pitchFamily="34" charset="-120"/>
              </a:rPr>
              <a:t>github.com/mattiaskvist/forseningskartan</a:t>
            </a:r>
            <a:endParaRPr lang="en-US" sz="1200" dirty="0"/>
          </a:p>
        </p:txBody>
      </p:sp>
      <p:sp>
        <p:nvSpPr>
          <p:cNvPr id="5" name="Text 3"/>
          <p:cNvSpPr/>
          <p:nvPr/>
        </p:nvSpPr>
        <p:spPr>
          <a:xfrm>
            <a:off x="457200" y="4800600"/>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Förseningskartan | UX Prize Presentation</a:t>
            </a:r>
            <a:endParaRPr lang="en-US" sz="1000" dirty="0"/>
          </a:p>
        </p:txBody>
      </p:sp>
      <p:sp>
        <p:nvSpPr>
          <p:cNvPr id="6" name="Text 4"/>
          <p:cNvSpPr/>
          <p:nvPr/>
        </p:nvSpPr>
        <p:spPr>
          <a:xfrm>
            <a:off x="7315200" y="4800600"/>
            <a:ext cx="13716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Slide 16 of 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Förseningskartan — UX Prize Presentation</dc:title>
  <dc:subject>PptxGenJS Presentation</dc:subject>
  <dc:creator>Daniel Ruijs &amp; Mattias Kvist</dc:creator>
  <cp:lastModifiedBy>Daniel Ruijs &amp; Mattias Kvist</cp:lastModifiedBy>
  <cp:revision>1</cp:revision>
  <dcterms:created xsi:type="dcterms:W3CDTF">2026-05-24T14:38:39Z</dcterms:created>
  <dcterms:modified xsi:type="dcterms:W3CDTF">2026-05-24T14:38:39Z</dcterms:modified>
</cp:coreProperties>
</file>