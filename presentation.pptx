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6" r:id="rId6"/>
    <p:sldId id="268" r:id="rId7"/>
    <p:sldId id="272" r:id="rId8"/>
    <p:sldId id="269" r:id="rId9"/>
    <p:sldId id="270" r:id="rId10"/>
    <p:sldId id="271"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93D516-A83F-6471-32DD-5D60C3CE8028}" v="81" dt="2026-05-28T08:55:15.338"/>
    <p1510:client id="{0E6308A2-8593-5AEC-5167-60E21A38D17B}" v="584" dt="2026-05-28T08:15:36.153"/>
    <p1510:client id="{44B1A4D2-9F8C-45BE-A6D9-715DEAAB9213}" v="6" dt="2026-05-28T07:50:47.402"/>
    <p1510:client id="{BEE5F14D-4125-4E65-D6C6-E1D0C719EB5D}" v="389" dt="2026-05-27T14:33:32.272"/>
    <p1510:client id="{C1867ACB-3B97-A04A-73A3-262CF880CB47}" v="280" dt="2026-05-28T08:10:19.585"/>
    <p1510:client id="{E46831B5-792E-DDF8-B3D2-647626965A1C}" v="99" dt="2026-05-28T07:49:40.925"/>
    <p1510:client id="{EFCE45A1-3AF2-3019-AE26-E742198C2EAD}" v="30" dt="2026-05-28T07:13:02.681"/>
    <p1510:client id="{F5D677F5-E7B7-E4F6-930F-D6D020AEA4D2}" v="19" dt="2026-05-27T13:51:21.1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70A745F3-BF36-4F5F-A037-2AF2E40F2FC4}" type="datetimeFigureOut">
              <a:t>5/28/2026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77DBF047-B87D-43C1-95ED-031BDB7D688E}" type="slidenum">
              <a:t>‹#›</a:t>
            </a:fld>
            <a:endParaRPr lang="en-US"/>
          </a:p>
        </p:txBody>
      </p:sp>
    </p:spTree>
    <p:extLst>
      <p:ext uri="{BB962C8B-B14F-4D97-AF65-F5344CB8AC3E}">
        <p14:creationId xmlns:p14="http://schemas.microsoft.com/office/powerpoint/2010/main" val="4176768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 everyone! We're Daniel and Mattias, and today we're going to present our project Förseningskartan — 'The Delay Map'. It's a web app that lets you explore public transport delays in Stockholm, both live departures and historical delay statistics. It's live right now at forseningskartan.web.app. We're honoured that it won a UX prize, and today we want to share the design choices and implementation decisions that helped us get there.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We've all been there — waiting at a bus stop, wondering: is this bus always late, or am I just unlucky? Stockholm's transit operator SL provides real-time departure boards, but there's no easy way to see if a route is systematically delayed — and there's certainly no tool that combines live departures with historical delay data. That's the gap Förseningskartan fills. We wanted to answer the question: What is happening right now, and what usually happens?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me walk you through the app. At its core, Förseningskartan is a map-based interface. Every dot on the map is a transit stop point. You can filter which modes to show on the map, and even hide stops that currently have no departures. The stop markers automatically adapt their style to match your active theme, and when you select a route, all stops on that route are highlighted in bright orange so you can trace it visually. The selected stop itself highlights in red. Clicking a stop opens a live departure panel showing upcoming arrivals with their delays. You can search and filter within the departure list, and you can favorite stops for quick access. But the real differentiator is the historical view. You can navigate to the route delay page to see how delayed a specific route has been historically — with both a leaderboard of the most delayed routes and a trend chart showing delays by day or by hour. The app supports three colour themes, two languages, user accounts with Google sign-in, and persisted preferences. It's also mobile-responsive.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system has three main components. First, the frontend — a React app built with TypeScript and Vite, using Material UI for components and Leaflet for the interactive map. State management is handled by Redux. Second, the backend — a Go API that serves aggregated historical delay data from a PostgreSQL database. It exposes endpoints for stop delays, route delays, delay trends, and available data dates. Third, the GTFS aggregation pipeline — another Go service running as a cron job. It downloads GTFS Realtime trip update data from SL, parses it, aggregates delay statistics per stop and per route, and writes the results to PostgreSQL. This runs daily so the historical data stays fresh. User authentication and preferences are handled by Firebase — Google sign-in, and Firestore for persisting things like favorite stops, theme, language, and search history.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tracked all work using GitHub Issues and a project board. Over the project, we created about 170 issues — every feature, bug, refactor, and stretch goal was tracked. We used feature branches with pull requests and code review. GitHub Copilot helped as a first-pass reviewer, but we always did manual review to make sure we understood and agreed with every change. CI/CD ran via GitHub Actions — linting, testing, and formatting checks on every push. For local development, Docker Compose spins up the full stack: PostgreSQL, the aggregation pipeline, and the backend API. The project ran roughly from early March to mid-May, with distinct phases: foundation, core features, polish, and final submission.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Here's a summary of the UX decisions that, together, made the experience feel polished and thoughtful. No single feature won the prize — it's the combination of all these decisions. Each one addresses a specific user need, and many came directly from user feedback.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7AEA-93C7-36BA-C37E-A53B1C2AF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5BCC1-235C-C7B9-BFD2-DE603E96FA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A18C01-5848-850A-F3EB-08E6D59E98FE}"/>
              </a:ext>
            </a:extLst>
          </p:cNvPr>
          <p:cNvSpPr>
            <a:spLocks noGrp="1"/>
          </p:cNvSpPr>
          <p:nvPr>
            <p:ph type="body" idx="1"/>
          </p:nvPr>
        </p:nvSpPr>
        <p:spPr/>
        <p:txBody>
          <a:bodyPr/>
          <a:lstStyle/>
          <a:p>
            <a:r>
              <a:rPr lang="en-US"/>
              <a:t>Here's a summary of the UX decisions that, together, made the experience feel polished and thoughtful. No single feature won the prize — it's the combination of all these decisions. Each one addresses a specific user need, and many came directly from user feedback.</a:t>
            </a:r>
          </a:p>
        </p:txBody>
      </p:sp>
      <p:sp>
        <p:nvSpPr>
          <p:cNvPr id="4" name="Slide Number Placeholder 3">
            <a:extLst>
              <a:ext uri="{FF2B5EF4-FFF2-40B4-BE49-F238E27FC236}">
                <a16:creationId xmlns:a16="http://schemas.microsoft.com/office/drawing/2014/main" id="{608D59FF-0BE1-973F-6CCC-E4FE6F05405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923348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project wasn't smooth sailing. Our biggest mid-project challenge was realising Firestore couldn't handle the queries we needed for historical data, so we had to build a full Go backend and migrate to PostgreSQL. In hindsight, we should have evaluated storage requirements earlier. Timezone bugs bit us multiple times — the GTFS data is in UTC, SL's schedules use Stockholm time, and our cron job had its own timezone setting. Getting all three to agree took several debugging sessions. Mobile responsiveness was initially an afterthought. It took a user saying 'mobile is pretty much unusable' to prioritise it. Lesson learned: test on mobile early and often. And keeping strict MVP architecture discipline required constant effort. It's easy for a quick useState or API call to sneak into a view. We did five refactoring passes over the project to keep things clean.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we started over, we'd design mobile-first from day one, evaluate our data storage needs more carefully before committing to a stack, and invest more in automated and end-to-end testing early in the project.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That's Förseningskartan! The app is live — feel free to try it out. The source code is on GitHub. Thank you for listening, and we're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forseningskartan.web.app/"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4" name="Text 2"/>
          <p:cNvSpPr/>
          <p:nvPr/>
        </p:nvSpPr>
        <p:spPr>
          <a:xfrm>
            <a:off x="731520" y="1463040"/>
            <a:ext cx="6400800" cy="1828800"/>
          </a:xfrm>
          <a:prstGeom prst="rect">
            <a:avLst/>
          </a:prstGeom>
          <a:noFill/>
          <a:ln/>
        </p:spPr>
        <p:txBody>
          <a:bodyPr wrap="square" lIns="0" tIns="0" rIns="0" bIns="0" rtlCol="0" anchor="ctr"/>
          <a:lstStyle/>
          <a:p>
            <a:pPr marL="0" indent="0">
              <a:buNone/>
            </a:pPr>
            <a:r>
              <a:rPr lang="en-US" sz="4400" b="1">
                <a:solidFill>
                  <a:srgbClr val="FFFFFF"/>
                </a:solidFill>
                <a:latin typeface="Trebuchet MS" pitchFamily="34" charset="0"/>
                <a:ea typeface="Trebuchet MS" pitchFamily="34" charset="-122"/>
                <a:cs typeface="Trebuchet MS" pitchFamily="34" charset="-120"/>
              </a:rPr>
              <a:t>FÖRSENINGSKARTAN
</a:t>
            </a:r>
            <a:endParaRPr lang="en-US" sz="4400"/>
          </a:p>
          <a:p>
            <a:pPr marL="0" indent="0">
              <a:buNone/>
            </a:pPr>
            <a:r>
              <a:rPr lang="en-US" sz="1800" b="1">
                <a:solidFill>
                  <a:srgbClr val="38BDF8"/>
                </a:solidFill>
                <a:latin typeface="Calibri" pitchFamily="34" charset="0"/>
                <a:ea typeface="Calibri" pitchFamily="34" charset="-122"/>
                <a:cs typeface="Calibri" pitchFamily="34" charset="-120"/>
              </a:rPr>
              <a:t>Exploring Public Transport Delays in Stockholm — Live &amp; Historical</a:t>
            </a:r>
            <a:endParaRPr lang="en-US" sz="4400"/>
          </a:p>
        </p:txBody>
      </p:sp>
      <p:sp>
        <p:nvSpPr>
          <p:cNvPr id="5" name="Text 3"/>
          <p:cNvSpPr/>
          <p:nvPr/>
        </p:nvSpPr>
        <p:spPr>
          <a:xfrm>
            <a:off x="731520" y="3291840"/>
            <a:ext cx="6400800" cy="1097280"/>
          </a:xfrm>
          <a:prstGeom prst="rect">
            <a:avLst/>
          </a:prstGeom>
          <a:noFill/>
          <a:ln/>
        </p:spPr>
        <p:txBody>
          <a:bodyPr wrap="square" lIns="0" tIns="0" rIns="0" bIns="0" rtlCol="0" anchor="ctr"/>
          <a:lstStyle/>
          <a:p>
            <a:pPr marL="0" indent="0">
              <a:buNone/>
            </a:pPr>
            <a:r>
              <a:rPr lang="en-US" sz="1200" b="1">
                <a:solidFill>
                  <a:srgbClr val="CBD5E1"/>
                </a:solidFill>
                <a:latin typeface="Calibri"/>
                <a:ea typeface="Calibri"/>
                <a:cs typeface="Calibri"/>
              </a:rPr>
              <a:t>Course: </a:t>
            </a:r>
            <a:r>
              <a:rPr lang="en-US" sz="1200">
                <a:solidFill>
                  <a:srgbClr val="CBD5E1"/>
                </a:solidFill>
                <a:latin typeface="Calibri"/>
                <a:ea typeface="Calibri"/>
                <a:cs typeface="Calibri"/>
              </a:rPr>
              <a:t>Interaction Programming and the Dynamic Web (DH2642) @ KTH
</a:t>
            </a:r>
            <a:endParaRPr lang="en-US" sz="1200">
              <a:latin typeface="Calibri"/>
              <a:ea typeface="Calibri"/>
              <a:cs typeface="Calibri"/>
            </a:endParaRPr>
          </a:p>
          <a:p>
            <a:pPr marL="0" indent="0">
              <a:buNone/>
            </a:pPr>
            <a:r>
              <a:rPr lang="en-US" sz="1200" b="1">
                <a:solidFill>
                  <a:srgbClr val="CBD5E1"/>
                </a:solidFill>
                <a:latin typeface="Calibri"/>
                <a:ea typeface="Calibri"/>
                <a:cs typeface="Calibri"/>
              </a:rPr>
              <a:t>Authors: </a:t>
            </a:r>
            <a:r>
              <a:rPr lang="en-US" sz="1200">
                <a:solidFill>
                  <a:srgbClr val="CBD5E1"/>
                </a:solidFill>
                <a:latin typeface="Calibri"/>
                <a:ea typeface="Calibri"/>
                <a:cs typeface="Calibri"/>
              </a:rPr>
              <a:t>Daniel Ruijs &amp; Mattias Kvist
</a:t>
            </a:r>
            <a:endParaRPr lang="en-US" sz="1200">
              <a:latin typeface="Calibri"/>
              <a:ea typeface="Calibri"/>
              <a:cs typeface="Calibri"/>
            </a:endParaRPr>
          </a:p>
        </p:txBody>
      </p:sp>
      <p:sp>
        <p:nvSpPr>
          <p:cNvPr id="6" name="Text 4"/>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64748B"/>
                </a:solidFill>
                <a:latin typeface="Calibri" pitchFamily="34" charset="0"/>
                <a:ea typeface="Calibri" pitchFamily="34" charset="-122"/>
                <a:cs typeface="Calibri" pitchFamily="34" charset="-120"/>
              </a:rPr>
              <a:t>Förseningskartan | UX Prize Presentation</a:t>
            </a:r>
            <a:endParaRPr lang="en-US" sz="1000"/>
          </a:p>
        </p:txBody>
      </p:sp>
      <p:sp>
        <p:nvSpPr>
          <p:cNvPr id="7" name="Text 5"/>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64748B"/>
                </a:solidFill>
                <a:latin typeface="Calibri"/>
                <a:ea typeface="Calibri"/>
                <a:cs typeface="Calibri"/>
              </a:rPr>
              <a:t>Slide 1 of 10</a:t>
            </a:r>
            <a:endParaRPr lang="en-US" sz="1000"/>
          </a:p>
        </p:txBody>
      </p:sp>
      <p:pic>
        <p:nvPicPr>
          <p:cNvPr id="8" name="Bildobjekt 7" descr="En bild som visar symbol, cirkel, logotyp, emblem&#10;&#10;AI-genererat innehåll kan vara felaktigt.">
            <a:extLst>
              <a:ext uri="{FF2B5EF4-FFF2-40B4-BE49-F238E27FC236}">
                <a16:creationId xmlns:a16="http://schemas.microsoft.com/office/drawing/2014/main" id="{2D865B96-EB2F-9764-588D-3486E8706A34}"/>
              </a:ext>
            </a:extLst>
          </p:cNvPr>
          <p:cNvPicPr>
            <a:picLocks noChangeAspect="1"/>
          </p:cNvPicPr>
          <p:nvPr/>
        </p:nvPicPr>
        <p:blipFill>
          <a:blip r:embed="rId3"/>
          <a:stretch>
            <a:fillRect/>
          </a:stretch>
        </p:blipFill>
        <p:spPr>
          <a:xfrm>
            <a:off x="6478423" y="362518"/>
            <a:ext cx="2209232" cy="220923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CONTEXT</a:t>
            </a:r>
            <a:endParaRPr lang="en-US" sz="1000"/>
          </a:p>
        </p:txBody>
      </p:sp>
      <p:sp>
        <p:nvSpPr>
          <p:cNvPr id="3" name="Text 1"/>
          <p:cNvSpPr/>
          <p:nvPr/>
        </p:nvSpPr>
        <p:spPr>
          <a:xfrm>
            <a:off x="457200" y="502920"/>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pitchFamily="34" charset="0"/>
                <a:ea typeface="Trebuchet MS" pitchFamily="34" charset="-122"/>
                <a:cs typeface="Trebuchet MS" pitchFamily="34" charset="-120"/>
              </a:rPr>
              <a:t>The Problem &amp; Motivation</a:t>
            </a:r>
            <a:endParaRPr lang="en-US" sz="2600"/>
          </a:p>
        </p:txBody>
      </p:sp>
      <p:sp>
        <p:nvSpPr>
          <p:cNvPr id="4" name="Text 2"/>
          <p:cNvSpPr/>
          <p:nvPr/>
        </p:nvSpPr>
        <p:spPr>
          <a:xfrm>
            <a:off x="457200" y="1097280"/>
            <a:ext cx="3840480" cy="1371600"/>
          </a:xfrm>
          <a:prstGeom prst="rect">
            <a:avLst/>
          </a:prstGeom>
          <a:noFill/>
          <a:ln/>
        </p:spPr>
        <p:txBody>
          <a:bodyPr wrap="square" lIns="0" tIns="0" rIns="0" bIns="0" rtlCol="0" anchor="ctr"/>
          <a:lstStyle/>
          <a:p>
            <a:pPr marL="0" indent="0">
              <a:buNone/>
            </a:pPr>
            <a:r>
              <a:rPr lang="en-US" sz="1800" b="1">
                <a:solidFill>
                  <a:srgbClr val="0F172A"/>
                </a:solidFill>
                <a:latin typeface="Trebuchet MS"/>
                <a:ea typeface="Trebuchet MS" pitchFamily="34" charset="-122"/>
                <a:cs typeface="Trebuchet MS" pitchFamily="34" charset="-120"/>
              </a:rPr>
              <a:t>The Commuter's Dilemma
</a:t>
            </a:r>
            <a:endParaRPr lang="en-US" sz="1800">
              <a:latin typeface="Trebuchet MS"/>
            </a:endParaRPr>
          </a:p>
          <a:p>
            <a:pPr marL="0" indent="0">
              <a:buNone/>
            </a:pPr>
            <a:r>
              <a:rPr lang="en-US" sz="1300">
                <a:solidFill>
                  <a:srgbClr val="475569"/>
                </a:solidFill>
                <a:latin typeface="Calibri"/>
                <a:ea typeface="Calibri"/>
                <a:cs typeface="Calibri"/>
              </a:rPr>
              <a:t>We've all stood at a stop asking ourselves: Is this line always late? How late? Is it worse on Fridays or during rush hour?</a:t>
            </a:r>
          </a:p>
          <a:p>
            <a:endParaRPr lang="en-US" sz="1300">
              <a:solidFill>
                <a:srgbClr val="475569"/>
              </a:solidFill>
              <a:latin typeface="Calibri"/>
              <a:ea typeface="Calibri"/>
              <a:cs typeface="Calibri"/>
            </a:endParaRPr>
          </a:p>
          <a:p>
            <a:endParaRPr lang="en-US" sz="1300">
              <a:solidFill>
                <a:srgbClr val="475569"/>
              </a:solidFill>
              <a:latin typeface="Calibri"/>
              <a:ea typeface="Calibri"/>
              <a:cs typeface="Calibri"/>
            </a:endParaRPr>
          </a:p>
          <a:p>
            <a:pPr marL="0" indent="0">
              <a:buNone/>
            </a:pPr>
            <a:r>
              <a:rPr lang="en-US" sz="1800" b="1">
                <a:solidFill>
                  <a:srgbClr val="0F172A"/>
                </a:solidFill>
                <a:latin typeface="Trebuchet MS" pitchFamily="34" charset="0"/>
                <a:ea typeface="Trebuchet MS" pitchFamily="34" charset="-122"/>
                <a:cs typeface="Trebuchet MS" pitchFamily="34" charset="-120"/>
              </a:rPr>
              <a:t>What's Missing in Existing Tools?</a:t>
            </a:r>
            <a:endParaRPr lang="en-US" sz="1800"/>
          </a:p>
        </p:txBody>
      </p:sp>
      <p:sp>
        <p:nvSpPr>
          <p:cNvPr id="5" name="Text 3"/>
          <p:cNvSpPr/>
          <p:nvPr/>
        </p:nvSpPr>
        <p:spPr>
          <a:xfrm>
            <a:off x="457200" y="2560320"/>
            <a:ext cx="3840480" cy="1828800"/>
          </a:xfrm>
          <a:prstGeom prst="rect">
            <a:avLst/>
          </a:prstGeom>
          <a:noFill/>
          <a:ln/>
        </p:spPr>
        <p:txBody>
          <a:bodyPr wrap="square" lIns="0" tIns="0" rIns="0" bIns="0" rtlCol="0" anchor="ctr"/>
          <a:lstStyle/>
          <a:p>
            <a:pPr marL="127000" indent="-127000">
              <a:spcAft>
                <a:spcPts val="800"/>
              </a:spcAft>
              <a:buSzPct val="100000"/>
              <a:buChar char="•"/>
            </a:pPr>
            <a:r>
              <a:rPr lang="en-US" sz="1300">
                <a:solidFill>
                  <a:srgbClr val="475569"/>
                </a:solidFill>
                <a:latin typeface="Calibri" pitchFamily="34" charset="0"/>
                <a:ea typeface="Calibri" pitchFamily="34" charset="-122"/>
                <a:cs typeface="Calibri" pitchFamily="34" charset="-120"/>
              </a:rPr>
              <a:t>SL provides real-time boards, but no historical data or patterns.</a:t>
            </a:r>
            <a:endParaRPr lang="en-US" sz="1300"/>
          </a:p>
          <a:p>
            <a:pPr marL="127000" indent="-127000">
              <a:spcAft>
                <a:spcPts val="800"/>
              </a:spcAft>
              <a:buSzPct val="100000"/>
              <a:buChar char="•"/>
            </a:pPr>
            <a:r>
              <a:rPr lang="en-US" sz="1300">
                <a:solidFill>
                  <a:srgbClr val="475569"/>
                </a:solidFill>
                <a:latin typeface="Calibri" pitchFamily="34" charset="0"/>
                <a:ea typeface="Calibri" pitchFamily="34" charset="-122"/>
                <a:cs typeface="Calibri" pitchFamily="34" charset="-120"/>
              </a:rPr>
              <a:t>Commuters have no way to know if delays are systematic.</a:t>
            </a:r>
            <a:endParaRPr lang="en-US" sz="1300"/>
          </a:p>
          <a:p>
            <a:pPr marL="127000" indent="-127000">
              <a:spcAft>
                <a:spcPts val="800"/>
              </a:spcAft>
              <a:buSzPct val="100000"/>
              <a:buChar char="•"/>
            </a:pPr>
            <a:r>
              <a:rPr lang="en-US" sz="1300">
                <a:solidFill>
                  <a:srgbClr val="475569"/>
                </a:solidFill>
                <a:latin typeface="Calibri" pitchFamily="34" charset="0"/>
                <a:ea typeface="Calibri" pitchFamily="34" charset="-122"/>
                <a:cs typeface="Calibri" pitchFamily="34" charset="-120"/>
              </a:rPr>
              <a:t>No existing tools combine live departures and historical statistics in one place.</a:t>
            </a:r>
            <a:endParaRPr lang="en-US" sz="1300"/>
          </a:p>
        </p:txBody>
      </p:sp>
      <p:sp>
        <p:nvSpPr>
          <p:cNvPr id="6" name="Shape 4"/>
          <p:cNvSpPr/>
          <p:nvPr/>
        </p:nvSpPr>
        <p:spPr>
          <a:xfrm>
            <a:off x="4754880" y="1097280"/>
            <a:ext cx="3931920" cy="3291840"/>
          </a:xfrm>
          <a:prstGeom prst="rect">
            <a:avLst/>
          </a:prstGeom>
          <a:solidFill>
            <a:srgbClr val="0F172A"/>
          </a:solidFill>
          <a:ln w="12700">
            <a:solidFill>
              <a:srgbClr val="333333"/>
            </a:solidFill>
            <a:prstDash val="solid"/>
          </a:ln>
          <a:effectLst>
            <a:outerShdw blurRad="50800" dist="25400" dir="8100000" algn="bl" rotWithShape="0">
              <a:srgbClr val="000000">
                <a:alpha val="12000"/>
              </a:srgbClr>
            </a:outerShdw>
          </a:effectLst>
        </p:spPr>
        <p:txBody>
          <a:bodyPr/>
          <a:lstStyle/>
          <a:p>
            <a:endParaRPr lang="en-US"/>
          </a:p>
        </p:txBody>
      </p:sp>
      <p:sp>
        <p:nvSpPr>
          <p:cNvPr id="7" name="Text 5"/>
          <p:cNvSpPr/>
          <p:nvPr/>
        </p:nvSpPr>
        <p:spPr>
          <a:xfrm>
            <a:off x="5029200" y="1371600"/>
            <a:ext cx="3383280" cy="2743200"/>
          </a:xfrm>
          <a:prstGeom prst="rect">
            <a:avLst/>
          </a:prstGeom>
          <a:noFill/>
          <a:ln/>
        </p:spPr>
        <p:txBody>
          <a:bodyPr wrap="square" lIns="0" tIns="0" rIns="0" bIns="0" rtlCol="0" anchor="ctr"/>
          <a:lstStyle/>
          <a:p>
            <a:pPr marL="0" indent="0">
              <a:buNone/>
            </a:pPr>
            <a:r>
              <a:rPr lang="en-US" sz="1200" b="1" kern="0" spc="300">
                <a:solidFill>
                  <a:srgbClr val="38BDF8"/>
                </a:solidFill>
                <a:latin typeface="Calibri" pitchFamily="34" charset="0"/>
                <a:ea typeface="Calibri" pitchFamily="34" charset="-122"/>
                <a:cs typeface="Calibri" pitchFamily="34" charset="-120"/>
              </a:rPr>
              <a:t>THE CORE QUESTION
</a:t>
            </a:r>
            <a:endParaRPr lang="en-US" sz="1200"/>
          </a:p>
          <a:p>
            <a:pPr marL="0" indent="0">
              <a:buNone/>
            </a:pPr>
            <a:r>
              <a:rPr lang="en-US" sz="2200" b="1" i="1">
                <a:solidFill>
                  <a:srgbClr val="FFFFFF"/>
                </a:solidFill>
                <a:latin typeface="Trebuchet MS" pitchFamily="34" charset="0"/>
                <a:ea typeface="Trebuchet MS" pitchFamily="34" charset="-122"/>
                <a:cs typeface="Trebuchet MS" pitchFamily="34" charset="-120"/>
              </a:rPr>
              <a:t>"Is my bus usually late? How late?
Is it worse at certain times?"
</a:t>
            </a:r>
            <a:endParaRPr lang="en-US" sz="1200"/>
          </a:p>
          <a:p>
            <a:pPr marL="0" indent="0">
              <a:buNone/>
            </a:pPr>
            <a:r>
              <a:rPr lang="en-US" sz="1300">
                <a:solidFill>
                  <a:srgbClr val="E0F2FE"/>
                </a:solidFill>
                <a:latin typeface="Calibri" pitchFamily="34" charset="0"/>
                <a:ea typeface="Calibri" pitchFamily="34" charset="-122"/>
                <a:cs typeface="Calibri" pitchFamily="34" charset="-120"/>
              </a:rPr>
              <a:t>Förseningskartan answers both: what is happening right now, and what usually happens.</a:t>
            </a:r>
            <a:endParaRPr lang="en-US" sz="1200"/>
          </a:p>
        </p:txBody>
      </p:sp>
      <p:sp>
        <p:nvSpPr>
          <p:cNvPr id="8" name="Text 6"/>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9" name="Text 7"/>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2 of 10</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LIVE DEMO</a:t>
            </a:r>
            <a:endParaRPr lang="en-US" sz="1000"/>
          </a:p>
        </p:txBody>
      </p:sp>
      <p:sp>
        <p:nvSpPr>
          <p:cNvPr id="3" name="Text 1"/>
          <p:cNvSpPr/>
          <p:nvPr/>
        </p:nvSpPr>
        <p:spPr>
          <a:xfrm>
            <a:off x="457200" y="502920"/>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a:ea typeface="Trebuchet MS" pitchFamily="34" charset="-122"/>
                <a:cs typeface="Trebuchet MS" pitchFamily="34" charset="-120"/>
              </a:rPr>
              <a:t>App Tour</a:t>
            </a:r>
            <a:endParaRPr lang="en-US" sz="2600">
              <a:latin typeface="Trebuchet MS"/>
              <a:ea typeface="Calibri" panose="020F0502020204030204"/>
              <a:cs typeface="Calibri" panose="020F0502020204030204"/>
            </a:endParaRPr>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17" name="Text 15"/>
          <p:cNvSpPr/>
          <p:nvPr/>
        </p:nvSpPr>
        <p:spPr>
          <a:xfrm>
            <a:off x="732373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3 of 10</a:t>
            </a:r>
            <a:endParaRPr lang="en-US" sz="1000"/>
          </a:p>
        </p:txBody>
      </p:sp>
      <p:sp>
        <p:nvSpPr>
          <p:cNvPr id="18" name="TextBox 17">
            <a:extLst>
              <a:ext uri="{FF2B5EF4-FFF2-40B4-BE49-F238E27FC236}">
                <a16:creationId xmlns:a16="http://schemas.microsoft.com/office/drawing/2014/main" id="{F97FBFC0-F8B6-9E1E-E9CE-4A57D10FB4DC}"/>
              </a:ext>
            </a:extLst>
          </p:cNvPr>
          <p:cNvSpPr txBox="1"/>
          <p:nvPr/>
        </p:nvSpPr>
        <p:spPr>
          <a:xfrm>
            <a:off x="1684188" y="2384552"/>
            <a:ext cx="577900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mn-lt"/>
                <a:cs typeface="+mn-lt"/>
                <a:hlinkClick r:id="rId3"/>
              </a:rPr>
              <a:t>https://forseningskartan.web.app/</a:t>
            </a:r>
            <a:endParaRPr lang="en-US">
              <a:ea typeface="+mn-lt"/>
              <a:cs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57" name="Shape 24">
            <a:extLst>
              <a:ext uri="{FF2B5EF4-FFF2-40B4-BE49-F238E27FC236}">
                <a16:creationId xmlns:a16="http://schemas.microsoft.com/office/drawing/2014/main" id="{4FD6C8CF-AE02-E180-9465-BA3B516933C8}"/>
              </a:ext>
            </a:extLst>
          </p:cNvPr>
          <p:cNvSpPr/>
          <p:nvPr/>
        </p:nvSpPr>
        <p:spPr>
          <a:xfrm>
            <a:off x="6260910" y="2811779"/>
            <a:ext cx="365760" cy="0"/>
          </a:xfrm>
          <a:prstGeom prst="line">
            <a:avLst/>
          </a:prstGeom>
          <a:noFill/>
          <a:ln w="19050">
            <a:solidFill>
              <a:srgbClr val="94A3B8"/>
            </a:solidFill>
            <a:prstDash val="dash"/>
          </a:ln>
        </p:spPr>
        <p:txBody>
          <a:bodyPr/>
          <a:lstStyle/>
          <a:p>
            <a:endParaRPr lang="en-US"/>
          </a:p>
        </p:txBody>
      </p:sp>
      <p:sp>
        <p:nvSpPr>
          <p:cNvPr id="26" name="Shape 24"/>
          <p:cNvSpPr/>
          <p:nvPr/>
        </p:nvSpPr>
        <p:spPr>
          <a:xfrm>
            <a:off x="2256146" y="2790455"/>
            <a:ext cx="365760" cy="0"/>
          </a:xfrm>
          <a:prstGeom prst="line">
            <a:avLst/>
          </a:prstGeom>
          <a:noFill/>
          <a:ln w="19050">
            <a:solidFill>
              <a:srgbClr val="94A3B8"/>
            </a:solidFill>
            <a:prstDash val="dash"/>
          </a:ln>
        </p:spPr>
        <p:txBody>
          <a:bodyPr/>
          <a:lstStyle/>
          <a:p>
            <a:endParaRPr lang="en-US"/>
          </a:p>
        </p:txBody>
      </p:sp>
      <p:sp>
        <p:nvSpPr>
          <p:cNvPr id="56" name="Shape 24">
            <a:extLst>
              <a:ext uri="{FF2B5EF4-FFF2-40B4-BE49-F238E27FC236}">
                <a16:creationId xmlns:a16="http://schemas.microsoft.com/office/drawing/2014/main" id="{B522C866-2F53-62AF-B6BD-2D37CB5A9A2A}"/>
              </a:ext>
            </a:extLst>
          </p:cNvPr>
          <p:cNvSpPr/>
          <p:nvPr/>
        </p:nvSpPr>
        <p:spPr>
          <a:xfrm>
            <a:off x="4260660" y="2786190"/>
            <a:ext cx="365760" cy="0"/>
          </a:xfrm>
          <a:prstGeom prst="line">
            <a:avLst/>
          </a:prstGeom>
          <a:noFill/>
          <a:ln w="19050">
            <a:solidFill>
              <a:srgbClr val="94A3B8"/>
            </a:solidFill>
            <a:prstDash val="dash"/>
          </a:ln>
        </p:spPr>
        <p:txBody>
          <a:bodyPr/>
          <a:lstStyle/>
          <a:p>
            <a:endParaRPr lang="en-US"/>
          </a:p>
        </p:txBody>
      </p:sp>
      <p:sp>
        <p:nvSpPr>
          <p:cNvPr id="2" name="Text 0"/>
          <p:cNvSpPr/>
          <p:nvPr/>
        </p:nvSpPr>
        <p:spPr>
          <a:xfrm>
            <a:off x="457200" y="27432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ARCHITECTURE</a:t>
            </a:r>
            <a:endParaRPr lang="en-US" sz="1000"/>
          </a:p>
        </p:txBody>
      </p:sp>
      <p:sp>
        <p:nvSpPr>
          <p:cNvPr id="3" name="Text 1"/>
          <p:cNvSpPr/>
          <p:nvPr/>
        </p:nvSpPr>
        <p:spPr>
          <a:xfrm>
            <a:off x="457200" y="502920"/>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pitchFamily="34" charset="0"/>
                <a:ea typeface="Trebuchet MS" pitchFamily="34" charset="-122"/>
                <a:cs typeface="Trebuchet MS" pitchFamily="34" charset="-120"/>
              </a:rPr>
              <a:t>System Architecture Overview</a:t>
            </a:r>
            <a:endParaRPr lang="en-US" sz="2600"/>
          </a:p>
        </p:txBody>
      </p:sp>
      <p:grpSp>
        <p:nvGrpSpPr>
          <p:cNvPr id="34" name="Group 33">
            <a:extLst>
              <a:ext uri="{FF2B5EF4-FFF2-40B4-BE49-F238E27FC236}">
                <a16:creationId xmlns:a16="http://schemas.microsoft.com/office/drawing/2014/main" id="{EFE73382-1CB3-286C-C75F-0E61AD631A71}"/>
              </a:ext>
            </a:extLst>
          </p:cNvPr>
          <p:cNvGrpSpPr/>
          <p:nvPr/>
        </p:nvGrpSpPr>
        <p:grpSpPr>
          <a:xfrm>
            <a:off x="6475011" y="2331720"/>
            <a:ext cx="1828800" cy="914400"/>
            <a:chOff x="457200" y="1188720"/>
            <a:chExt cx="1828800" cy="914400"/>
          </a:xfrm>
        </p:grpSpPr>
        <p:sp>
          <p:nvSpPr>
            <p:cNvPr id="4" name="Shape 2"/>
            <p:cNvSpPr/>
            <p:nvPr/>
          </p:nvSpPr>
          <p:spPr>
            <a:xfrm>
              <a:off x="457200" y="1188720"/>
              <a:ext cx="1828800" cy="914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188720"/>
              <a:ext cx="54864" cy="914400"/>
            </a:xfrm>
            <a:prstGeom prst="rect">
              <a:avLst/>
            </a:prstGeom>
            <a:solidFill>
              <a:srgbClr val="028090"/>
            </a:solidFill>
            <a:ln w="12700">
              <a:solidFill>
                <a:srgbClr val="333333"/>
              </a:solidFill>
              <a:prstDash val="solid"/>
            </a:ln>
          </p:spPr>
          <p:txBody>
            <a:bodyPr/>
            <a:lstStyle/>
            <a:p>
              <a:endParaRPr lang="en-US"/>
            </a:p>
          </p:txBody>
        </p:sp>
        <p:sp>
          <p:nvSpPr>
            <p:cNvPr id="6" name="Text 4"/>
            <p:cNvSpPr/>
            <p:nvPr/>
          </p:nvSpPr>
          <p:spPr>
            <a:xfrm>
              <a:off x="566928" y="1261872"/>
              <a:ext cx="1664208" cy="768096"/>
            </a:xfrm>
            <a:prstGeom prst="rect">
              <a:avLst/>
            </a:prstGeom>
            <a:noFill/>
            <a:ln/>
          </p:spPr>
          <p:txBody>
            <a:bodyPr wrap="square" lIns="0" tIns="0" rIns="0" bIns="0" rtlCol="0" anchor="ctr"/>
            <a:lstStyle/>
            <a:p>
              <a:pPr marL="0" indent="0">
                <a:buNone/>
              </a:pPr>
              <a:r>
                <a:rPr lang="en-US" sz="1100" b="1">
                  <a:solidFill>
                    <a:srgbClr val="0F172A"/>
                  </a:solidFill>
                  <a:latin typeface="Calibri"/>
                  <a:ea typeface="Calibri"/>
                  <a:cs typeface="Calibri"/>
                </a:rPr>
                <a:t>Frontend Client
</a:t>
              </a:r>
              <a:endParaRPr lang="en-US" sz="1100">
                <a:latin typeface="Calibri"/>
                <a:ea typeface="Calibri"/>
                <a:cs typeface="Calibri"/>
              </a:endParaRPr>
            </a:p>
            <a:p>
              <a:r>
                <a:rPr lang="en-US" sz="850">
                  <a:solidFill>
                    <a:srgbClr val="475569"/>
                  </a:solidFill>
                  <a:latin typeface="Calibri"/>
                  <a:ea typeface="Calibri"/>
                  <a:cs typeface="Calibri"/>
                </a:rPr>
                <a:t>React, TypeScript, Vite, Material UI</a:t>
              </a:r>
              <a:endParaRPr lang="en-US" sz="1100"/>
            </a:p>
            <a:p>
              <a:pPr marL="0" indent="0">
                <a:buNone/>
              </a:pPr>
              <a:r>
                <a:rPr lang="en-US" sz="850">
                  <a:solidFill>
                    <a:srgbClr val="475569"/>
                  </a:solidFill>
                  <a:latin typeface="Calibri" pitchFamily="34" charset="0"/>
                  <a:ea typeface="Calibri" pitchFamily="34" charset="-122"/>
                  <a:cs typeface="Calibri" pitchFamily="34" charset="-120"/>
                </a:rPr>
                <a:t>Leaflet Map, Redux Store</a:t>
              </a:r>
              <a:endParaRPr lang="en-US" sz="1100"/>
            </a:p>
          </p:txBody>
        </p:sp>
      </p:grpSp>
      <p:grpSp>
        <p:nvGrpSpPr>
          <p:cNvPr id="35" name="Group 34">
            <a:extLst>
              <a:ext uri="{FF2B5EF4-FFF2-40B4-BE49-F238E27FC236}">
                <a16:creationId xmlns:a16="http://schemas.microsoft.com/office/drawing/2014/main" id="{176A545B-8FAB-7DEB-8E6B-30B42ECB8BAA}"/>
              </a:ext>
            </a:extLst>
          </p:cNvPr>
          <p:cNvGrpSpPr/>
          <p:nvPr/>
        </p:nvGrpSpPr>
        <p:grpSpPr>
          <a:xfrm>
            <a:off x="4528328" y="2331720"/>
            <a:ext cx="1737360" cy="914400"/>
            <a:chOff x="2651760" y="1188720"/>
            <a:chExt cx="1737360" cy="914400"/>
          </a:xfrm>
        </p:grpSpPr>
        <p:sp>
          <p:nvSpPr>
            <p:cNvPr id="7" name="Shape 5"/>
            <p:cNvSpPr/>
            <p:nvPr/>
          </p:nvSpPr>
          <p:spPr>
            <a:xfrm>
              <a:off x="2651760" y="1188720"/>
              <a:ext cx="1737360" cy="914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2651760" y="1188720"/>
              <a:ext cx="54864" cy="914400"/>
            </a:xfrm>
            <a:prstGeom prst="rect">
              <a:avLst/>
            </a:prstGeom>
            <a:solidFill>
              <a:srgbClr val="028090"/>
            </a:solidFill>
            <a:ln w="12700">
              <a:solidFill>
                <a:srgbClr val="333333"/>
              </a:solidFill>
              <a:prstDash val="solid"/>
            </a:ln>
          </p:spPr>
          <p:txBody>
            <a:bodyPr/>
            <a:lstStyle/>
            <a:p>
              <a:endParaRPr lang="en-US"/>
            </a:p>
          </p:txBody>
        </p:sp>
        <p:sp>
          <p:nvSpPr>
            <p:cNvPr id="9" name="Text 7"/>
            <p:cNvSpPr/>
            <p:nvPr/>
          </p:nvSpPr>
          <p:spPr>
            <a:xfrm>
              <a:off x="2761488" y="1261872"/>
              <a:ext cx="1572768" cy="768096"/>
            </a:xfrm>
            <a:prstGeom prst="rect">
              <a:avLst/>
            </a:prstGeom>
            <a:noFill/>
            <a:ln/>
          </p:spPr>
          <p:txBody>
            <a:bodyPr wrap="square" lIns="0" tIns="0" rIns="0" bIns="0" rtlCol="0" anchor="ctr"/>
            <a:lstStyle/>
            <a:p>
              <a:pPr marL="0" indent="0">
                <a:buNone/>
              </a:pPr>
              <a:r>
                <a:rPr lang="en-US" sz="1100" b="1">
                  <a:solidFill>
                    <a:srgbClr val="0F172A"/>
                  </a:solidFill>
                  <a:latin typeface="Calibri"/>
                  <a:ea typeface="Calibri"/>
                  <a:cs typeface="Calibri"/>
                </a:rPr>
                <a:t>Backend REST API
</a:t>
              </a:r>
              <a:endParaRPr lang="en-US" sz="1100">
                <a:latin typeface="Calibri"/>
                <a:ea typeface="Calibri"/>
                <a:cs typeface="Calibri"/>
              </a:endParaRPr>
            </a:p>
            <a:p>
              <a:pPr marL="0" indent="0">
                <a:buNone/>
              </a:pPr>
              <a:r>
                <a:rPr lang="en-US" sz="850">
                  <a:solidFill>
                    <a:srgbClr val="475569"/>
                  </a:solidFill>
                  <a:latin typeface="Calibri" pitchFamily="34" charset="0"/>
                  <a:ea typeface="Calibri" pitchFamily="34" charset="-122"/>
                  <a:cs typeface="Calibri" pitchFamily="34" charset="-120"/>
                </a:rPr>
                <a:t>Go Service</a:t>
              </a:r>
              <a:endParaRPr lang="en-US" sz="1100"/>
            </a:p>
            <a:p>
              <a:pPr marL="0" indent="0">
                <a:buNone/>
              </a:pPr>
              <a:r>
                <a:rPr lang="en-US" sz="850">
                  <a:solidFill>
                    <a:srgbClr val="475569"/>
                  </a:solidFill>
                  <a:latin typeface="Calibri" pitchFamily="34" charset="0"/>
                  <a:ea typeface="Calibri" pitchFamily="34" charset="-122"/>
                  <a:cs typeface="Calibri" pitchFamily="34" charset="-120"/>
                </a:rPr>
                <a:t>Serves aggregated delays</a:t>
              </a:r>
            </a:p>
            <a:p>
              <a:r>
                <a:rPr lang="en-US" sz="850">
                  <a:solidFill>
                    <a:srgbClr val="475569"/>
                  </a:solidFill>
                  <a:ea typeface="Calibri"/>
                  <a:cs typeface="Calibri"/>
                </a:rPr>
                <a:t>Proxy for SL API (CORS errors)</a:t>
              </a:r>
            </a:p>
          </p:txBody>
        </p:sp>
      </p:grpSp>
      <p:grpSp>
        <p:nvGrpSpPr>
          <p:cNvPr id="36" name="Group 35">
            <a:extLst>
              <a:ext uri="{FF2B5EF4-FFF2-40B4-BE49-F238E27FC236}">
                <a16:creationId xmlns:a16="http://schemas.microsoft.com/office/drawing/2014/main" id="{15A496F5-0A75-AA86-5040-7B1A36A096CB}"/>
              </a:ext>
            </a:extLst>
          </p:cNvPr>
          <p:cNvGrpSpPr/>
          <p:nvPr/>
        </p:nvGrpSpPr>
        <p:grpSpPr>
          <a:xfrm>
            <a:off x="2523812" y="2333257"/>
            <a:ext cx="1737360" cy="914400"/>
            <a:chOff x="2651760" y="2926080"/>
            <a:chExt cx="1737360" cy="914400"/>
          </a:xfrm>
        </p:grpSpPr>
        <p:sp>
          <p:nvSpPr>
            <p:cNvPr id="10" name="Shape 8"/>
            <p:cNvSpPr/>
            <p:nvPr/>
          </p:nvSpPr>
          <p:spPr>
            <a:xfrm>
              <a:off x="2651760" y="2926080"/>
              <a:ext cx="1737360" cy="914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11" name="Shape 9"/>
            <p:cNvSpPr/>
            <p:nvPr/>
          </p:nvSpPr>
          <p:spPr>
            <a:xfrm>
              <a:off x="2651760" y="2926080"/>
              <a:ext cx="54864" cy="914400"/>
            </a:xfrm>
            <a:prstGeom prst="rect">
              <a:avLst/>
            </a:prstGeom>
            <a:solidFill>
              <a:srgbClr val="028090"/>
            </a:solidFill>
            <a:ln w="12700">
              <a:solidFill>
                <a:srgbClr val="333333"/>
              </a:solidFill>
              <a:prstDash val="solid"/>
            </a:ln>
          </p:spPr>
          <p:txBody>
            <a:bodyPr/>
            <a:lstStyle/>
            <a:p>
              <a:endParaRPr lang="en-US"/>
            </a:p>
          </p:txBody>
        </p:sp>
        <p:sp>
          <p:nvSpPr>
            <p:cNvPr id="12" name="Text 10"/>
            <p:cNvSpPr/>
            <p:nvPr/>
          </p:nvSpPr>
          <p:spPr>
            <a:xfrm>
              <a:off x="2761488" y="2999232"/>
              <a:ext cx="1572768" cy="768096"/>
            </a:xfrm>
            <a:prstGeom prst="rect">
              <a:avLst/>
            </a:prstGeom>
            <a:noFill/>
            <a:ln/>
          </p:spPr>
          <p:txBody>
            <a:bodyPr wrap="square" lIns="0" tIns="0" rIns="0" bIns="0" rtlCol="0" anchor="ctr"/>
            <a:lstStyle/>
            <a:p>
              <a:pPr marL="0" indent="0">
                <a:buNone/>
              </a:pPr>
              <a:r>
                <a:rPr lang="en-US" sz="1100" b="1">
                  <a:solidFill>
                    <a:srgbClr val="0F172A"/>
                  </a:solidFill>
                  <a:latin typeface="Calibri" pitchFamily="34" charset="0"/>
                  <a:ea typeface="Calibri" pitchFamily="34" charset="-122"/>
                  <a:cs typeface="Calibri" pitchFamily="34" charset="-120"/>
                </a:rPr>
                <a:t>PostgreSQL Database
</a:t>
              </a:r>
              <a:endParaRPr lang="en-US" sz="1100"/>
            </a:p>
            <a:p>
              <a:pPr marL="0" indent="0">
                <a:buNone/>
              </a:pPr>
              <a:r>
                <a:rPr lang="en-US" sz="850">
                  <a:solidFill>
                    <a:srgbClr val="475569"/>
                  </a:solidFill>
                  <a:latin typeface="Calibri" pitchFamily="34" charset="0"/>
                  <a:ea typeface="Calibri" pitchFamily="34" charset="-122"/>
                  <a:cs typeface="Calibri" pitchFamily="34" charset="-120"/>
                </a:rPr>
                <a:t>Historical delay tables</a:t>
              </a:r>
              <a:endParaRPr lang="en-US" sz="1100"/>
            </a:p>
            <a:p>
              <a:pPr marL="0" indent="0">
                <a:buNone/>
              </a:pPr>
              <a:r>
                <a:rPr lang="en-US" sz="850">
                  <a:solidFill>
                    <a:srgbClr val="475569"/>
                  </a:solidFill>
                  <a:latin typeface="Calibri" pitchFamily="34" charset="0"/>
                  <a:ea typeface="Calibri" pitchFamily="34" charset="-122"/>
                  <a:cs typeface="Calibri" pitchFamily="34" charset="-120"/>
                </a:rPr>
                <a:t>Per-stop/per-route metrics</a:t>
              </a:r>
              <a:endParaRPr lang="en-US" sz="1100"/>
            </a:p>
          </p:txBody>
        </p:sp>
      </p:grpSp>
      <p:grpSp>
        <p:nvGrpSpPr>
          <p:cNvPr id="40" name="Group 39">
            <a:extLst>
              <a:ext uri="{FF2B5EF4-FFF2-40B4-BE49-F238E27FC236}">
                <a16:creationId xmlns:a16="http://schemas.microsoft.com/office/drawing/2014/main" id="{642DCDDE-363F-F613-3EBD-B3D9796DEEDF}"/>
              </a:ext>
            </a:extLst>
          </p:cNvPr>
          <p:cNvGrpSpPr/>
          <p:nvPr/>
        </p:nvGrpSpPr>
        <p:grpSpPr>
          <a:xfrm>
            <a:off x="427346" y="2333256"/>
            <a:ext cx="1828800" cy="914400"/>
            <a:chOff x="457200" y="2926080"/>
            <a:chExt cx="1828800" cy="914400"/>
          </a:xfrm>
        </p:grpSpPr>
        <p:sp>
          <p:nvSpPr>
            <p:cNvPr id="13" name="Shape 11"/>
            <p:cNvSpPr/>
            <p:nvPr/>
          </p:nvSpPr>
          <p:spPr>
            <a:xfrm>
              <a:off x="457200" y="2926080"/>
              <a:ext cx="1828800" cy="914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457200" y="2926080"/>
              <a:ext cx="54864" cy="914400"/>
            </a:xfrm>
            <a:prstGeom prst="rect">
              <a:avLst/>
            </a:prstGeom>
            <a:solidFill>
              <a:srgbClr val="028090"/>
            </a:solidFill>
            <a:ln w="12700">
              <a:solidFill>
                <a:srgbClr val="333333"/>
              </a:solidFill>
              <a:prstDash val="solid"/>
            </a:ln>
          </p:spPr>
          <p:txBody>
            <a:bodyPr/>
            <a:lstStyle/>
            <a:p>
              <a:endParaRPr lang="en-US"/>
            </a:p>
          </p:txBody>
        </p:sp>
        <p:sp>
          <p:nvSpPr>
            <p:cNvPr id="15" name="Text 13"/>
            <p:cNvSpPr/>
            <p:nvPr/>
          </p:nvSpPr>
          <p:spPr>
            <a:xfrm>
              <a:off x="566928" y="2999232"/>
              <a:ext cx="1664208" cy="768096"/>
            </a:xfrm>
            <a:prstGeom prst="rect">
              <a:avLst/>
            </a:prstGeom>
            <a:noFill/>
            <a:ln/>
          </p:spPr>
          <p:txBody>
            <a:bodyPr wrap="square" lIns="0" tIns="0" rIns="0" bIns="0" rtlCol="0" anchor="ctr"/>
            <a:lstStyle/>
            <a:p>
              <a:r>
                <a:rPr lang="en-US" sz="1100" b="1">
                  <a:solidFill>
                    <a:srgbClr val="0F172A"/>
                  </a:solidFill>
                  <a:latin typeface="Calibri"/>
                  <a:ea typeface="Calibri"/>
                  <a:cs typeface="Calibri"/>
                </a:rPr>
                <a:t>Data Aggregation Cronjob
</a:t>
              </a:r>
              <a:endParaRPr lang="en-US" sz="1100">
                <a:latin typeface="Calibri"/>
                <a:ea typeface="Calibri"/>
                <a:cs typeface="Calibri"/>
              </a:endParaRPr>
            </a:p>
            <a:p>
              <a:pPr marL="0" indent="0">
                <a:buNone/>
              </a:pPr>
              <a:r>
                <a:rPr lang="en-US" sz="850">
                  <a:solidFill>
                    <a:srgbClr val="475569"/>
                  </a:solidFill>
                  <a:latin typeface="Calibri"/>
                  <a:ea typeface="Calibri"/>
                  <a:cs typeface="Calibri"/>
                </a:rPr>
                <a:t>Daily Go Aggregator cronjob</a:t>
              </a:r>
              <a:endParaRPr lang="en-US" sz="1100" err="1">
                <a:latin typeface="Calibri"/>
                <a:ea typeface="Calibri"/>
                <a:cs typeface="Calibri"/>
              </a:endParaRPr>
            </a:p>
            <a:p>
              <a:r>
                <a:rPr lang="en-US" sz="850">
                  <a:solidFill>
                    <a:srgbClr val="475569"/>
                  </a:solidFill>
                  <a:latin typeface="Calibri"/>
                  <a:ea typeface="Calibri"/>
                  <a:cs typeface="Calibri"/>
                </a:rPr>
                <a:t>Downloads &amp; parses  data</a:t>
              </a:r>
              <a:endParaRPr lang="en-US" sz="1100"/>
            </a:p>
          </p:txBody>
        </p:sp>
      </p:grpSp>
      <p:grpSp>
        <p:nvGrpSpPr>
          <p:cNvPr id="38" name="Group 37">
            <a:extLst>
              <a:ext uri="{FF2B5EF4-FFF2-40B4-BE49-F238E27FC236}">
                <a16:creationId xmlns:a16="http://schemas.microsoft.com/office/drawing/2014/main" id="{7A8739B4-5A91-F970-88F3-F24D491FBC51}"/>
              </a:ext>
            </a:extLst>
          </p:cNvPr>
          <p:cNvGrpSpPr/>
          <p:nvPr/>
        </p:nvGrpSpPr>
        <p:grpSpPr>
          <a:xfrm>
            <a:off x="6475010" y="1225227"/>
            <a:ext cx="1828800" cy="548640"/>
            <a:chOff x="457200" y="2240280"/>
            <a:chExt cx="1828800" cy="548640"/>
          </a:xfrm>
        </p:grpSpPr>
        <p:sp>
          <p:nvSpPr>
            <p:cNvPr id="16" name="Shape 14"/>
            <p:cNvSpPr/>
            <p:nvPr/>
          </p:nvSpPr>
          <p:spPr>
            <a:xfrm>
              <a:off x="457200" y="2240280"/>
              <a:ext cx="1828800" cy="548640"/>
            </a:xfrm>
            <a:prstGeom prst="rect">
              <a:avLst/>
            </a:prstGeom>
            <a:solidFill>
              <a:srgbClr val="F1F5F9"/>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17" name="Shape 15"/>
            <p:cNvSpPr/>
            <p:nvPr/>
          </p:nvSpPr>
          <p:spPr>
            <a:xfrm>
              <a:off x="457200" y="2240280"/>
              <a:ext cx="54864" cy="548640"/>
            </a:xfrm>
            <a:prstGeom prst="rect">
              <a:avLst/>
            </a:prstGeom>
            <a:solidFill>
              <a:srgbClr val="028090"/>
            </a:solidFill>
            <a:ln w="12700">
              <a:solidFill>
                <a:srgbClr val="333333"/>
              </a:solidFill>
              <a:prstDash val="solid"/>
            </a:ln>
          </p:spPr>
          <p:txBody>
            <a:bodyPr/>
            <a:lstStyle/>
            <a:p>
              <a:endParaRPr lang="en-US"/>
            </a:p>
          </p:txBody>
        </p:sp>
        <p:sp>
          <p:nvSpPr>
            <p:cNvPr id="18" name="Text 16"/>
            <p:cNvSpPr/>
            <p:nvPr/>
          </p:nvSpPr>
          <p:spPr>
            <a:xfrm>
              <a:off x="566928" y="2313432"/>
              <a:ext cx="1664208" cy="402336"/>
            </a:xfrm>
            <a:prstGeom prst="rect">
              <a:avLst/>
            </a:prstGeom>
            <a:noFill/>
            <a:ln/>
          </p:spPr>
          <p:txBody>
            <a:bodyPr wrap="square" lIns="0" tIns="0" rIns="0" bIns="0" rtlCol="0" anchor="ctr"/>
            <a:lstStyle/>
            <a:p>
              <a:pPr marL="0" indent="0">
                <a:buNone/>
              </a:pPr>
              <a:r>
                <a:rPr lang="en-US" sz="1100" b="1">
                  <a:solidFill>
                    <a:srgbClr val="475569"/>
                  </a:solidFill>
                  <a:latin typeface="Calibri" pitchFamily="34" charset="0"/>
                  <a:ea typeface="Calibri" pitchFamily="34" charset="-122"/>
                  <a:cs typeface="Calibri" pitchFamily="34" charset="-120"/>
                </a:rPr>
                <a:t>SL Realtime API
</a:t>
              </a:r>
              <a:endParaRPr lang="en-US" sz="1100"/>
            </a:p>
            <a:p>
              <a:pPr marL="0" indent="0">
                <a:buNone/>
              </a:pPr>
              <a:r>
                <a:rPr lang="en-US" sz="850">
                  <a:solidFill>
                    <a:srgbClr val="64748B"/>
                  </a:solidFill>
                  <a:latin typeface="Calibri" pitchFamily="34" charset="0"/>
                  <a:ea typeface="Calibri" pitchFamily="34" charset="-122"/>
                  <a:cs typeface="Calibri" pitchFamily="34" charset="-120"/>
                </a:rPr>
                <a:t>Live Departures Feed</a:t>
              </a:r>
              <a:endParaRPr lang="en-US" sz="1100"/>
            </a:p>
          </p:txBody>
        </p:sp>
      </p:grpSp>
      <p:grpSp>
        <p:nvGrpSpPr>
          <p:cNvPr id="37" name="Group 36">
            <a:extLst>
              <a:ext uri="{FF2B5EF4-FFF2-40B4-BE49-F238E27FC236}">
                <a16:creationId xmlns:a16="http://schemas.microsoft.com/office/drawing/2014/main" id="{0EEFFDBC-B4A1-515B-3598-FB06EA7DBF20}"/>
              </a:ext>
            </a:extLst>
          </p:cNvPr>
          <p:cNvGrpSpPr/>
          <p:nvPr/>
        </p:nvGrpSpPr>
        <p:grpSpPr>
          <a:xfrm>
            <a:off x="6520049" y="3843891"/>
            <a:ext cx="1737360" cy="548640"/>
            <a:chOff x="2651760" y="2240280"/>
            <a:chExt cx="1737360" cy="548640"/>
          </a:xfrm>
        </p:grpSpPr>
        <p:sp>
          <p:nvSpPr>
            <p:cNvPr id="19" name="Shape 17"/>
            <p:cNvSpPr/>
            <p:nvPr/>
          </p:nvSpPr>
          <p:spPr>
            <a:xfrm>
              <a:off x="2651760" y="2240280"/>
              <a:ext cx="1737360" cy="548640"/>
            </a:xfrm>
            <a:prstGeom prst="rect">
              <a:avLst/>
            </a:prstGeom>
            <a:solidFill>
              <a:srgbClr val="F1F5F9"/>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20" name="Shape 18"/>
            <p:cNvSpPr/>
            <p:nvPr/>
          </p:nvSpPr>
          <p:spPr>
            <a:xfrm>
              <a:off x="2651760" y="2240280"/>
              <a:ext cx="54864" cy="548640"/>
            </a:xfrm>
            <a:prstGeom prst="rect">
              <a:avLst/>
            </a:prstGeom>
            <a:solidFill>
              <a:srgbClr val="028090"/>
            </a:solidFill>
            <a:ln w="12700">
              <a:solidFill>
                <a:srgbClr val="333333"/>
              </a:solidFill>
              <a:prstDash val="solid"/>
            </a:ln>
          </p:spPr>
          <p:txBody>
            <a:bodyPr/>
            <a:lstStyle/>
            <a:p>
              <a:endParaRPr lang="en-US"/>
            </a:p>
          </p:txBody>
        </p:sp>
        <p:sp>
          <p:nvSpPr>
            <p:cNvPr id="21" name="Text 19"/>
            <p:cNvSpPr/>
            <p:nvPr/>
          </p:nvSpPr>
          <p:spPr>
            <a:xfrm>
              <a:off x="2761488" y="2313432"/>
              <a:ext cx="1572768" cy="402336"/>
            </a:xfrm>
            <a:prstGeom prst="rect">
              <a:avLst/>
            </a:prstGeom>
            <a:noFill/>
            <a:ln/>
          </p:spPr>
          <p:txBody>
            <a:bodyPr wrap="square" lIns="0" tIns="0" rIns="0" bIns="0" rtlCol="0" anchor="ctr"/>
            <a:lstStyle/>
            <a:p>
              <a:pPr marL="0" indent="0">
                <a:buNone/>
              </a:pPr>
              <a:r>
                <a:rPr lang="en-US" sz="1100" b="1">
                  <a:solidFill>
                    <a:srgbClr val="475569"/>
                  </a:solidFill>
                  <a:latin typeface="Calibri" pitchFamily="34" charset="0"/>
                  <a:ea typeface="Calibri" pitchFamily="34" charset="-122"/>
                  <a:cs typeface="Calibri" pitchFamily="34" charset="-120"/>
                </a:rPr>
                <a:t>Firebase / Firestore
</a:t>
              </a:r>
              <a:endParaRPr lang="en-US" sz="1100"/>
            </a:p>
            <a:p>
              <a:pPr marL="0" indent="0">
                <a:buNone/>
              </a:pPr>
              <a:r>
                <a:rPr lang="en-US" sz="850">
                  <a:solidFill>
                    <a:srgbClr val="64748B"/>
                  </a:solidFill>
                  <a:latin typeface="Calibri" pitchFamily="34" charset="0"/>
                  <a:ea typeface="Calibri" pitchFamily="34" charset="-122"/>
                  <a:cs typeface="Calibri" pitchFamily="34" charset="-120"/>
                </a:rPr>
                <a:t>Auth, Favorites &amp; Preferences</a:t>
              </a:r>
              <a:endParaRPr lang="en-US" sz="1100"/>
            </a:p>
          </p:txBody>
        </p:sp>
      </p:grpSp>
      <p:sp>
        <p:nvSpPr>
          <p:cNvPr id="32" name="Text 30"/>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33" name="Text 31"/>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4 of 10</a:t>
            </a:r>
            <a:endParaRPr lang="en-US" sz="1000"/>
          </a:p>
        </p:txBody>
      </p:sp>
      <p:grpSp>
        <p:nvGrpSpPr>
          <p:cNvPr id="45" name="Group 44">
            <a:extLst>
              <a:ext uri="{FF2B5EF4-FFF2-40B4-BE49-F238E27FC236}">
                <a16:creationId xmlns:a16="http://schemas.microsoft.com/office/drawing/2014/main" id="{78E3B067-70F3-BF6A-40B0-85EDDBE2944C}"/>
              </a:ext>
            </a:extLst>
          </p:cNvPr>
          <p:cNvGrpSpPr/>
          <p:nvPr/>
        </p:nvGrpSpPr>
        <p:grpSpPr>
          <a:xfrm>
            <a:off x="406021" y="1225228"/>
            <a:ext cx="1828800" cy="548640"/>
            <a:chOff x="457200" y="2240280"/>
            <a:chExt cx="1828800" cy="548640"/>
          </a:xfrm>
        </p:grpSpPr>
        <p:sp>
          <p:nvSpPr>
            <p:cNvPr id="46" name="Shape 14">
              <a:extLst>
                <a:ext uri="{FF2B5EF4-FFF2-40B4-BE49-F238E27FC236}">
                  <a16:creationId xmlns:a16="http://schemas.microsoft.com/office/drawing/2014/main" id="{D5E19FF9-4351-3EEC-3906-F968D9B4B8C3}"/>
                </a:ext>
              </a:extLst>
            </p:cNvPr>
            <p:cNvSpPr/>
            <p:nvPr/>
          </p:nvSpPr>
          <p:spPr>
            <a:xfrm>
              <a:off x="457200" y="2240280"/>
              <a:ext cx="1828800" cy="548640"/>
            </a:xfrm>
            <a:prstGeom prst="rect">
              <a:avLst/>
            </a:prstGeom>
            <a:solidFill>
              <a:srgbClr val="F1F5F9"/>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47" name="Shape 15">
              <a:extLst>
                <a:ext uri="{FF2B5EF4-FFF2-40B4-BE49-F238E27FC236}">
                  <a16:creationId xmlns:a16="http://schemas.microsoft.com/office/drawing/2014/main" id="{3341B391-4245-DDAF-A2C6-7545FE3082C0}"/>
                </a:ext>
              </a:extLst>
            </p:cNvPr>
            <p:cNvSpPr/>
            <p:nvPr/>
          </p:nvSpPr>
          <p:spPr>
            <a:xfrm>
              <a:off x="457200" y="2240280"/>
              <a:ext cx="54864" cy="548640"/>
            </a:xfrm>
            <a:prstGeom prst="rect">
              <a:avLst/>
            </a:prstGeom>
            <a:solidFill>
              <a:srgbClr val="028090"/>
            </a:solidFill>
            <a:ln w="12700">
              <a:solidFill>
                <a:srgbClr val="333333"/>
              </a:solidFill>
              <a:prstDash val="solid"/>
            </a:ln>
          </p:spPr>
          <p:txBody>
            <a:bodyPr/>
            <a:lstStyle/>
            <a:p>
              <a:endParaRPr lang="en-US"/>
            </a:p>
          </p:txBody>
        </p:sp>
        <p:sp>
          <p:nvSpPr>
            <p:cNvPr id="48" name="Text 16">
              <a:extLst>
                <a:ext uri="{FF2B5EF4-FFF2-40B4-BE49-F238E27FC236}">
                  <a16:creationId xmlns:a16="http://schemas.microsoft.com/office/drawing/2014/main" id="{ED72EB78-3FD0-722C-9C2F-BF0680E6C3DD}"/>
                </a:ext>
              </a:extLst>
            </p:cNvPr>
            <p:cNvSpPr/>
            <p:nvPr/>
          </p:nvSpPr>
          <p:spPr>
            <a:xfrm>
              <a:off x="566928" y="2313432"/>
              <a:ext cx="1664208" cy="402336"/>
            </a:xfrm>
            <a:prstGeom prst="rect">
              <a:avLst/>
            </a:prstGeom>
            <a:noFill/>
            <a:ln/>
          </p:spPr>
          <p:txBody>
            <a:bodyPr wrap="square" lIns="0" tIns="0" rIns="0" bIns="0" rtlCol="0" anchor="ctr"/>
            <a:lstStyle/>
            <a:p>
              <a:r>
                <a:rPr lang="en-US" sz="1100" b="1">
                  <a:solidFill>
                    <a:srgbClr val="475569"/>
                  </a:solidFill>
                  <a:latin typeface="Calibri"/>
                  <a:ea typeface="Calibri"/>
                  <a:cs typeface="Calibri"/>
                </a:rPr>
                <a:t>SL Static API</a:t>
              </a:r>
              <a:endParaRPr lang="en-US"/>
            </a:p>
            <a:p>
              <a:endParaRPr lang="en-US" sz="850">
                <a:solidFill>
                  <a:srgbClr val="64748B"/>
                </a:solidFill>
                <a:latin typeface="Calibri"/>
                <a:ea typeface="Calibri"/>
                <a:cs typeface="Calibri"/>
              </a:endParaRPr>
            </a:p>
            <a:p>
              <a:r>
                <a:rPr lang="en-US" sz="850">
                  <a:solidFill>
                    <a:srgbClr val="64748B"/>
                  </a:solidFill>
                  <a:latin typeface="Calibri"/>
                  <a:ea typeface="Calibri"/>
                  <a:cs typeface="Calibri"/>
                </a:rPr>
                <a:t>List of stops, scheduled departures</a:t>
              </a:r>
              <a:endParaRPr lang="en-US">
                <a:ea typeface="Calibri"/>
                <a:cs typeface="Calibri"/>
              </a:endParaRPr>
            </a:p>
          </p:txBody>
        </p:sp>
      </p:grpSp>
      <p:grpSp>
        <p:nvGrpSpPr>
          <p:cNvPr id="58" name="Group 57">
            <a:extLst>
              <a:ext uri="{FF2B5EF4-FFF2-40B4-BE49-F238E27FC236}">
                <a16:creationId xmlns:a16="http://schemas.microsoft.com/office/drawing/2014/main" id="{2F4EC10C-D649-EE49-36BD-93CEEB476272}"/>
              </a:ext>
            </a:extLst>
          </p:cNvPr>
          <p:cNvGrpSpPr/>
          <p:nvPr/>
        </p:nvGrpSpPr>
        <p:grpSpPr>
          <a:xfrm>
            <a:off x="414551" y="3843892"/>
            <a:ext cx="1828800" cy="548640"/>
            <a:chOff x="457200" y="2240280"/>
            <a:chExt cx="1828800" cy="548640"/>
          </a:xfrm>
        </p:grpSpPr>
        <p:sp>
          <p:nvSpPr>
            <p:cNvPr id="59" name="Shape 14">
              <a:extLst>
                <a:ext uri="{FF2B5EF4-FFF2-40B4-BE49-F238E27FC236}">
                  <a16:creationId xmlns:a16="http://schemas.microsoft.com/office/drawing/2014/main" id="{C382E674-BC36-C61A-B33C-A565BDE8B2A0}"/>
                </a:ext>
              </a:extLst>
            </p:cNvPr>
            <p:cNvSpPr/>
            <p:nvPr/>
          </p:nvSpPr>
          <p:spPr>
            <a:xfrm>
              <a:off x="457200" y="2240280"/>
              <a:ext cx="1828800" cy="548640"/>
            </a:xfrm>
            <a:prstGeom prst="rect">
              <a:avLst/>
            </a:prstGeom>
            <a:solidFill>
              <a:srgbClr val="F1F5F9"/>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60" name="Shape 15">
              <a:extLst>
                <a:ext uri="{FF2B5EF4-FFF2-40B4-BE49-F238E27FC236}">
                  <a16:creationId xmlns:a16="http://schemas.microsoft.com/office/drawing/2014/main" id="{21758DD6-C425-CF92-9A94-EC74DBE278A2}"/>
                </a:ext>
              </a:extLst>
            </p:cNvPr>
            <p:cNvSpPr/>
            <p:nvPr/>
          </p:nvSpPr>
          <p:spPr>
            <a:xfrm>
              <a:off x="457200" y="2240280"/>
              <a:ext cx="54864" cy="548640"/>
            </a:xfrm>
            <a:prstGeom prst="rect">
              <a:avLst/>
            </a:prstGeom>
            <a:solidFill>
              <a:srgbClr val="028090"/>
            </a:solidFill>
            <a:ln w="12700">
              <a:solidFill>
                <a:srgbClr val="333333"/>
              </a:solidFill>
              <a:prstDash val="solid"/>
            </a:ln>
          </p:spPr>
          <p:txBody>
            <a:bodyPr/>
            <a:lstStyle/>
            <a:p>
              <a:endParaRPr lang="en-US"/>
            </a:p>
          </p:txBody>
        </p:sp>
        <p:sp>
          <p:nvSpPr>
            <p:cNvPr id="61" name="Text 16">
              <a:extLst>
                <a:ext uri="{FF2B5EF4-FFF2-40B4-BE49-F238E27FC236}">
                  <a16:creationId xmlns:a16="http://schemas.microsoft.com/office/drawing/2014/main" id="{DE76582B-8F0D-4732-807B-357DEDD7E730}"/>
                </a:ext>
              </a:extLst>
            </p:cNvPr>
            <p:cNvSpPr/>
            <p:nvPr/>
          </p:nvSpPr>
          <p:spPr>
            <a:xfrm>
              <a:off x="566928" y="2313432"/>
              <a:ext cx="1664208" cy="402336"/>
            </a:xfrm>
            <a:prstGeom prst="rect">
              <a:avLst/>
            </a:prstGeom>
            <a:noFill/>
            <a:ln/>
          </p:spPr>
          <p:txBody>
            <a:bodyPr wrap="square" lIns="0" tIns="0" rIns="0" bIns="0" rtlCol="0" anchor="ctr"/>
            <a:lstStyle/>
            <a:p>
              <a:r>
                <a:rPr lang="en-US" sz="1100" b="1">
                  <a:solidFill>
                    <a:srgbClr val="475569"/>
                  </a:solidFill>
                  <a:latin typeface="Calibri"/>
                  <a:ea typeface="Calibri"/>
                  <a:cs typeface="Calibri"/>
                </a:rPr>
                <a:t>SL Historical API
</a:t>
              </a:r>
              <a:endParaRPr lang="en-US" sz="1100">
                <a:latin typeface="Calibri"/>
                <a:ea typeface="Calibri"/>
                <a:cs typeface="Calibri"/>
              </a:endParaRPr>
            </a:p>
            <a:p>
              <a:r>
                <a:rPr lang="en-US" sz="850">
                  <a:solidFill>
                    <a:srgbClr val="64748B"/>
                  </a:solidFill>
                  <a:latin typeface="Calibri"/>
                  <a:ea typeface="Calibri"/>
                  <a:cs typeface="Calibri"/>
                </a:rPr>
                <a:t>Historical delay data</a:t>
              </a:r>
            </a:p>
          </p:txBody>
        </p:sp>
      </p:grpSp>
      <p:sp>
        <p:nvSpPr>
          <p:cNvPr id="64" name="Shape 25">
            <a:extLst>
              <a:ext uri="{FF2B5EF4-FFF2-40B4-BE49-F238E27FC236}">
                <a16:creationId xmlns:a16="http://schemas.microsoft.com/office/drawing/2014/main" id="{E3F85B00-58A9-6858-D795-AD107DFFDD44}"/>
              </a:ext>
            </a:extLst>
          </p:cNvPr>
          <p:cNvSpPr/>
          <p:nvPr/>
        </p:nvSpPr>
        <p:spPr>
          <a:xfrm>
            <a:off x="1319738" y="1851488"/>
            <a:ext cx="0" cy="447648"/>
          </a:xfrm>
          <a:prstGeom prst="line">
            <a:avLst/>
          </a:prstGeom>
          <a:noFill/>
          <a:ln w="19050">
            <a:solidFill>
              <a:srgbClr val="94A3B8"/>
            </a:solidFill>
            <a:prstDash val="dash"/>
            <a:headEnd type="none"/>
            <a:tailEnd type="triangle"/>
          </a:ln>
        </p:spPr>
        <p:txBody>
          <a:bodyPr/>
          <a:lstStyle/>
          <a:p>
            <a:endParaRPr lang="en-US"/>
          </a:p>
        </p:txBody>
      </p:sp>
      <p:sp>
        <p:nvSpPr>
          <p:cNvPr id="65" name="Shape 25">
            <a:extLst>
              <a:ext uri="{FF2B5EF4-FFF2-40B4-BE49-F238E27FC236}">
                <a16:creationId xmlns:a16="http://schemas.microsoft.com/office/drawing/2014/main" id="{765039F5-A6FD-CA51-BD6E-D0ECC2CA24F3}"/>
              </a:ext>
            </a:extLst>
          </p:cNvPr>
          <p:cNvSpPr/>
          <p:nvPr/>
        </p:nvSpPr>
        <p:spPr>
          <a:xfrm>
            <a:off x="1328267" y="3327152"/>
            <a:ext cx="0" cy="447648"/>
          </a:xfrm>
          <a:prstGeom prst="line">
            <a:avLst/>
          </a:prstGeom>
          <a:noFill/>
          <a:ln w="19050">
            <a:solidFill>
              <a:srgbClr val="94A3B8"/>
            </a:solidFill>
            <a:prstDash val="dash"/>
            <a:headEnd type="triangle"/>
            <a:tailEnd type="none"/>
          </a:ln>
        </p:spPr>
        <p:txBody>
          <a:bodyPr/>
          <a:lstStyle/>
          <a:p>
            <a:endParaRPr lang="en-US"/>
          </a:p>
        </p:txBody>
      </p:sp>
      <p:sp>
        <p:nvSpPr>
          <p:cNvPr id="66" name="Shape 25">
            <a:extLst>
              <a:ext uri="{FF2B5EF4-FFF2-40B4-BE49-F238E27FC236}">
                <a16:creationId xmlns:a16="http://schemas.microsoft.com/office/drawing/2014/main" id="{27B68F7D-9033-4E55-3573-144FF5F5BD32}"/>
              </a:ext>
            </a:extLst>
          </p:cNvPr>
          <p:cNvSpPr/>
          <p:nvPr/>
        </p:nvSpPr>
        <p:spPr>
          <a:xfrm>
            <a:off x="7388725" y="3327152"/>
            <a:ext cx="0" cy="447648"/>
          </a:xfrm>
          <a:prstGeom prst="line">
            <a:avLst/>
          </a:prstGeom>
          <a:noFill/>
          <a:ln w="19050">
            <a:solidFill>
              <a:srgbClr val="94A3B8"/>
            </a:solidFill>
            <a:prstDash val="dash"/>
            <a:headEnd type="triangle"/>
            <a:tailEnd type="none"/>
          </a:ln>
        </p:spPr>
        <p:txBody>
          <a:bodyPr/>
          <a:lstStyle/>
          <a:p>
            <a:endParaRPr lang="en-US"/>
          </a:p>
        </p:txBody>
      </p:sp>
      <p:sp>
        <p:nvSpPr>
          <p:cNvPr id="67" name="Shape 25">
            <a:extLst>
              <a:ext uri="{FF2B5EF4-FFF2-40B4-BE49-F238E27FC236}">
                <a16:creationId xmlns:a16="http://schemas.microsoft.com/office/drawing/2014/main" id="{1E3E66B5-4D72-3190-4016-684B394D4561}"/>
              </a:ext>
            </a:extLst>
          </p:cNvPr>
          <p:cNvSpPr/>
          <p:nvPr/>
        </p:nvSpPr>
        <p:spPr>
          <a:xfrm>
            <a:off x="7410051" y="1851488"/>
            <a:ext cx="0" cy="447648"/>
          </a:xfrm>
          <a:prstGeom prst="line">
            <a:avLst/>
          </a:prstGeom>
          <a:noFill/>
          <a:ln w="19050">
            <a:solidFill>
              <a:srgbClr val="94A3B8"/>
            </a:solidFill>
            <a:prstDash val="dash"/>
            <a:headEnd type="none"/>
            <a:tailEnd type="triangle"/>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5726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WORKFLOW</a:t>
            </a:r>
            <a:endParaRPr lang="en-US" sz="1000"/>
          </a:p>
        </p:txBody>
      </p:sp>
      <p:sp>
        <p:nvSpPr>
          <p:cNvPr id="3" name="Text 1"/>
          <p:cNvSpPr/>
          <p:nvPr/>
        </p:nvSpPr>
        <p:spPr>
          <a:xfrm>
            <a:off x="457200" y="443211"/>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a:ea typeface="Trebuchet MS" pitchFamily="34" charset="-122"/>
                <a:cs typeface="Trebuchet MS" pitchFamily="34" charset="-120"/>
              </a:rPr>
              <a:t>Development Process</a:t>
            </a:r>
            <a:endParaRPr lang="en-US" sz="2600">
              <a:latin typeface="Trebuchet MS"/>
            </a:endParaRPr>
          </a:p>
        </p:txBody>
      </p:sp>
      <p:sp>
        <p:nvSpPr>
          <p:cNvPr id="4" name="Shape 2"/>
          <p:cNvSpPr/>
          <p:nvPr/>
        </p:nvSpPr>
        <p:spPr>
          <a:xfrm>
            <a:off x="457199" y="975474"/>
            <a:ext cx="8403950" cy="3823079"/>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975474"/>
            <a:ext cx="73152" cy="3823079"/>
          </a:xfrm>
          <a:prstGeom prst="rect">
            <a:avLst/>
          </a:prstGeom>
          <a:solidFill>
            <a:srgbClr val="028090"/>
          </a:solidFill>
          <a:ln w="12700">
            <a:solidFill>
              <a:srgbClr val="333333"/>
            </a:solidFill>
            <a:prstDash val="solid"/>
          </a:ln>
        </p:spPr>
        <p:txBody>
          <a:bodyPr/>
          <a:lstStyle/>
          <a:p>
            <a:endParaRPr lang="en-US"/>
          </a:p>
        </p:txBody>
      </p:sp>
      <p:sp>
        <p:nvSpPr>
          <p:cNvPr id="6" name="Text 4"/>
          <p:cNvSpPr/>
          <p:nvPr/>
        </p:nvSpPr>
        <p:spPr>
          <a:xfrm>
            <a:off x="640080" y="1311891"/>
            <a:ext cx="3474720" cy="365760"/>
          </a:xfrm>
          <a:prstGeom prst="rect">
            <a:avLst/>
          </a:prstGeom>
          <a:noFill/>
          <a:ln/>
        </p:spPr>
        <p:txBody>
          <a:bodyPr wrap="square" lIns="0" tIns="0" rIns="0" bIns="0" rtlCol="0" anchor="ctr"/>
          <a:lstStyle/>
          <a:p>
            <a:pPr marL="0" indent="0">
              <a:buNone/>
            </a:pPr>
            <a:endParaRPr lang="en-US" sz="1600" b="1">
              <a:solidFill>
                <a:srgbClr val="0F172A"/>
              </a:solidFill>
              <a:latin typeface="Trebuchet MS"/>
            </a:endParaRPr>
          </a:p>
        </p:txBody>
      </p:sp>
      <p:sp>
        <p:nvSpPr>
          <p:cNvPr id="7" name="Text 5"/>
          <p:cNvSpPr/>
          <p:nvPr/>
        </p:nvSpPr>
        <p:spPr>
          <a:xfrm>
            <a:off x="640079" y="1012323"/>
            <a:ext cx="3931068" cy="960974"/>
          </a:xfrm>
          <a:prstGeom prst="rect">
            <a:avLst/>
          </a:prstGeom>
          <a:noFill/>
          <a:ln/>
        </p:spPr>
        <p:txBody>
          <a:bodyPr wrap="square" lIns="0" tIns="0" rIns="0" bIns="0" rtlCol="0" anchor="ctr"/>
          <a:lstStyle/>
          <a:p>
            <a:pPr>
              <a:spcAft>
                <a:spcPts val="600"/>
              </a:spcAft>
            </a:pPr>
            <a:r>
              <a:rPr lang="en-US" sz="1100" b="1" dirty="0">
                <a:solidFill>
                  <a:srgbClr val="0F172A"/>
                </a:solidFill>
                <a:latin typeface="Calibri"/>
                <a:ea typeface="Calibri"/>
                <a:cs typeface="Calibri"/>
              </a:rPr>
              <a:t>GitHub Board tracking: </a:t>
            </a:r>
            <a:r>
              <a:rPr lang="en-US" sz="1100" dirty="0">
                <a:solidFill>
                  <a:srgbClr val="475569"/>
                </a:solidFill>
                <a:latin typeface="Calibri"/>
                <a:ea typeface="Calibri"/>
                <a:cs typeface="Calibri"/>
              </a:rPr>
              <a:t>Managed work via project board containing </a:t>
            </a:r>
            <a:r>
              <a:rPr lang="en-US" sz="1100" b="1" dirty="0">
                <a:solidFill>
                  <a:srgbClr val="1D4ED8"/>
                </a:solidFill>
                <a:latin typeface="Calibri"/>
                <a:ea typeface="Calibri"/>
                <a:cs typeface="Calibri"/>
              </a:rPr>
              <a:t>80+ tracked issues</a:t>
            </a:r>
            <a:r>
              <a:rPr lang="en-US" sz="1100" dirty="0">
                <a:solidFill>
                  <a:srgbClr val="475569"/>
                </a:solidFill>
                <a:latin typeface="Calibri"/>
                <a:ea typeface="Calibri"/>
                <a:cs typeface="Calibri"/>
              </a:rPr>
              <a:t> detailing features, bugs, tasks, and refactors. </a:t>
            </a:r>
          </a:p>
          <a:p>
            <a:pPr>
              <a:spcAft>
                <a:spcPts val="600"/>
              </a:spcAft>
            </a:pPr>
            <a:endParaRPr lang="en-US" sz="600" b="1" dirty="0">
              <a:solidFill>
                <a:srgbClr val="0F172A"/>
              </a:solidFill>
              <a:latin typeface="Calibri"/>
              <a:ea typeface="Calibri"/>
              <a:cs typeface="Calibri"/>
            </a:endParaRPr>
          </a:p>
          <a:p>
            <a:pPr>
              <a:spcAft>
                <a:spcPts val="600"/>
              </a:spcAft>
            </a:pPr>
            <a:r>
              <a:rPr lang="en-US" sz="1100" b="1">
                <a:solidFill>
                  <a:srgbClr val="0F172A"/>
                </a:solidFill>
                <a:latin typeface="Calibri"/>
                <a:ea typeface="Calibri"/>
                <a:cs typeface="Calibri"/>
              </a:rPr>
              <a:t>Feature branch strategy: </a:t>
            </a:r>
            <a:r>
              <a:rPr lang="en-US" sz="1100">
                <a:solidFill>
                  <a:srgbClr val="475569"/>
                </a:solidFill>
                <a:latin typeface="Calibri"/>
                <a:ea typeface="Calibri"/>
                <a:cs typeface="Calibri"/>
              </a:rPr>
              <a:t>No direct commits to master. Mandatory pull requests for code changes.</a:t>
            </a:r>
          </a:p>
        </p:txBody>
      </p:sp>
      <p:sp>
        <p:nvSpPr>
          <p:cNvPr id="21" name="Text 19"/>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22" name="Text 20"/>
          <p:cNvSpPr/>
          <p:nvPr/>
        </p:nvSpPr>
        <p:spPr>
          <a:xfrm>
            <a:off x="7315200" y="4800600"/>
            <a:ext cx="1371600" cy="274320"/>
          </a:xfrm>
          <a:prstGeom prst="rect">
            <a:avLst/>
          </a:prstGeom>
          <a:noFill/>
          <a:ln/>
        </p:spPr>
        <p:txBody>
          <a:bodyPr wrap="square" lIns="0" tIns="0" rIns="0" bIns="0" rtlCol="0" anchor="ctr"/>
          <a:lstStyle/>
          <a:p>
            <a:pPr algn="r"/>
            <a:r>
              <a:rPr lang="en-US" sz="1000">
                <a:solidFill>
                  <a:srgbClr val="94A3B8"/>
                </a:solidFill>
                <a:latin typeface="Calibri"/>
                <a:ea typeface="Calibri"/>
                <a:cs typeface="Calibri"/>
              </a:rPr>
              <a:t>Slide 5 of 10</a:t>
            </a:r>
            <a:endParaRPr lang="en-US" sz="1000">
              <a:latin typeface="Calibri"/>
              <a:ea typeface="Calibri"/>
              <a:cs typeface="Calibri"/>
            </a:endParaRPr>
          </a:p>
        </p:txBody>
      </p:sp>
      <p:pic>
        <p:nvPicPr>
          <p:cNvPr id="23" name="Bildobjekt 22" descr="En bild som visar text, skärmbild, programvara, Multimedieprogram&#10;&#10;AI-genererat innehåll kan vara felaktigt.">
            <a:extLst>
              <a:ext uri="{FF2B5EF4-FFF2-40B4-BE49-F238E27FC236}">
                <a16:creationId xmlns:a16="http://schemas.microsoft.com/office/drawing/2014/main" id="{F95FA0DD-7239-0CD3-6B42-41B239F8E34F}"/>
              </a:ext>
            </a:extLst>
          </p:cNvPr>
          <p:cNvPicPr>
            <a:picLocks noChangeAspect="1"/>
          </p:cNvPicPr>
          <p:nvPr/>
        </p:nvPicPr>
        <p:blipFill>
          <a:blip r:embed="rId3"/>
          <a:stretch>
            <a:fillRect/>
          </a:stretch>
        </p:blipFill>
        <p:spPr>
          <a:xfrm>
            <a:off x="1377570" y="2011881"/>
            <a:ext cx="6393124" cy="2775109"/>
          </a:xfrm>
          <a:prstGeom prst="rect">
            <a:avLst/>
          </a:prstGeom>
        </p:spPr>
      </p:pic>
      <p:sp>
        <p:nvSpPr>
          <p:cNvPr id="25" name="Text 5">
            <a:extLst>
              <a:ext uri="{FF2B5EF4-FFF2-40B4-BE49-F238E27FC236}">
                <a16:creationId xmlns:a16="http://schemas.microsoft.com/office/drawing/2014/main" id="{992D4421-ADD4-7D79-7157-1A289E3066A3}"/>
              </a:ext>
            </a:extLst>
          </p:cNvPr>
          <p:cNvSpPr/>
          <p:nvPr/>
        </p:nvSpPr>
        <p:spPr>
          <a:xfrm>
            <a:off x="4661904" y="1080561"/>
            <a:ext cx="3935332" cy="824497"/>
          </a:xfrm>
          <a:prstGeom prst="rect">
            <a:avLst/>
          </a:prstGeom>
          <a:noFill/>
          <a:ln/>
        </p:spPr>
        <p:txBody>
          <a:bodyPr wrap="square" lIns="0" tIns="0" rIns="0" bIns="0" rtlCol="0" anchor="ctr"/>
          <a:lstStyle/>
          <a:p>
            <a:pPr>
              <a:spcAft>
                <a:spcPts val="600"/>
              </a:spcAft>
            </a:pPr>
            <a:r>
              <a:rPr lang="en-US" sz="1100" b="1" dirty="0">
                <a:solidFill>
                  <a:srgbClr val="0F172A"/>
                </a:solidFill>
                <a:latin typeface="Calibri"/>
                <a:ea typeface="Calibri"/>
                <a:cs typeface="Calibri"/>
              </a:rPr>
              <a:t>Review gates: </a:t>
            </a:r>
            <a:r>
              <a:rPr lang="en-US" sz="1100" dirty="0">
                <a:solidFill>
                  <a:srgbClr val="475569"/>
                </a:solidFill>
                <a:latin typeface="Calibri"/>
                <a:ea typeface="Calibri"/>
                <a:cs typeface="Calibri"/>
              </a:rPr>
              <a:t>Utilized GitHub Copilot for PR checks, followed by human visual code inspections.</a:t>
            </a:r>
            <a:br>
              <a:rPr lang="en-US" sz="1100" dirty="0">
                <a:latin typeface="Calibri"/>
                <a:ea typeface="Calibri"/>
                <a:cs typeface="Calibri"/>
              </a:rPr>
            </a:br>
            <a:endParaRPr lang="en-US" sz="1000">
              <a:solidFill>
                <a:srgbClr val="475569"/>
              </a:solidFill>
              <a:latin typeface="Calibri"/>
              <a:ea typeface="Calibri"/>
              <a:cs typeface="Calibri"/>
            </a:endParaRPr>
          </a:p>
          <a:p>
            <a:pPr>
              <a:spcAft>
                <a:spcPts val="600"/>
              </a:spcAft>
            </a:pPr>
            <a:r>
              <a:rPr lang="en-US" sz="1100" b="1">
                <a:solidFill>
                  <a:srgbClr val="0F172A"/>
                </a:solidFill>
                <a:latin typeface="Calibri"/>
                <a:ea typeface="Calibri"/>
                <a:cs typeface="Calibri"/>
              </a:rPr>
              <a:t>GitHub workflows: </a:t>
            </a:r>
            <a:r>
              <a:rPr lang="en-US" sz="1100">
                <a:solidFill>
                  <a:srgbClr val="475569"/>
                </a:solidFill>
                <a:latin typeface="Calibri"/>
                <a:ea typeface="Calibri"/>
                <a:cs typeface="Calibri"/>
              </a:rPr>
              <a:t>Enable automated tests, formatting, linting and deployments of changes</a:t>
            </a:r>
          </a:p>
        </p:txBody>
      </p:sp>
      <p:pic>
        <p:nvPicPr>
          <p:cNvPr id="8" name="Picture 7" descr="A black text on a white background&#10;&#10;AI-generated content may be incorrect.">
            <a:extLst>
              <a:ext uri="{FF2B5EF4-FFF2-40B4-BE49-F238E27FC236}">
                <a16:creationId xmlns:a16="http://schemas.microsoft.com/office/drawing/2014/main" id="{00CF1954-438D-38B3-7C7E-4CAE9E73066E}"/>
              </a:ext>
            </a:extLst>
          </p:cNvPr>
          <p:cNvPicPr>
            <a:picLocks noChangeAspect="1"/>
          </p:cNvPicPr>
          <p:nvPr/>
        </p:nvPicPr>
        <p:blipFill>
          <a:blip r:embed="rId4"/>
          <a:stretch>
            <a:fillRect/>
          </a:stretch>
        </p:blipFill>
        <p:spPr>
          <a:xfrm>
            <a:off x="6877690" y="114726"/>
            <a:ext cx="1990725" cy="7429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r>
              <a:rPr lang="en-US" sz="1000" b="1" kern="0" spc="200">
                <a:solidFill>
                  <a:srgbClr val="028090"/>
                </a:solidFill>
                <a:ea typeface="+mn-lt"/>
                <a:cs typeface="+mn-lt"/>
              </a:rPr>
              <a:t>USER CONSULTATIONS</a:t>
            </a:r>
          </a:p>
        </p:txBody>
      </p:sp>
      <p:sp>
        <p:nvSpPr>
          <p:cNvPr id="3" name="Text 1"/>
          <p:cNvSpPr/>
          <p:nvPr/>
        </p:nvSpPr>
        <p:spPr>
          <a:xfrm>
            <a:off x="457200" y="502920"/>
            <a:ext cx="8229600" cy="411480"/>
          </a:xfrm>
          <a:prstGeom prst="rect">
            <a:avLst/>
          </a:prstGeom>
          <a:noFill/>
          <a:ln/>
        </p:spPr>
        <p:txBody>
          <a:bodyPr wrap="square" lIns="0" tIns="0" rIns="0" bIns="0" rtlCol="0" anchor="ctr"/>
          <a:lstStyle/>
          <a:p>
            <a:r>
              <a:rPr lang="en-US" sz="2600" b="1">
                <a:solidFill>
                  <a:srgbClr val="0F172A"/>
                </a:solidFill>
                <a:latin typeface="Trebuchet MS"/>
              </a:rPr>
              <a:t>Attention to details</a:t>
            </a:r>
            <a:endParaRPr lang="en-US"/>
          </a:p>
        </p:txBody>
      </p:sp>
      <p:sp>
        <p:nvSpPr>
          <p:cNvPr id="5" name="Text 2"/>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6" name="Text 3"/>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12 of 15</a:t>
            </a:r>
            <a:endParaRPr lang="en-US" sz="1000">
              <a:latin typeface="Calibri"/>
              <a:ea typeface="Calibri"/>
              <a:cs typeface="Calibri"/>
            </a:endParaRPr>
          </a:p>
        </p:txBody>
      </p:sp>
      <p:sp>
        <p:nvSpPr>
          <p:cNvPr id="8" name="TextBox 7">
            <a:extLst>
              <a:ext uri="{FF2B5EF4-FFF2-40B4-BE49-F238E27FC236}">
                <a16:creationId xmlns:a16="http://schemas.microsoft.com/office/drawing/2014/main" id="{955F9C34-ACE0-72AE-1A46-E8FD3B43A14F}"/>
              </a:ext>
            </a:extLst>
          </p:cNvPr>
          <p:cNvSpPr txBox="1"/>
          <p:nvPr/>
        </p:nvSpPr>
        <p:spPr>
          <a:xfrm>
            <a:off x="375183" y="1273877"/>
            <a:ext cx="3141068"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600">
                <a:ea typeface="+mn-lt"/>
                <a:cs typeface="+mn-lt"/>
              </a:rPr>
              <a:t>Searching for "</a:t>
            </a:r>
            <a:r>
              <a:rPr lang="en-US" sz="1600" err="1">
                <a:ea typeface="+mn-lt"/>
                <a:cs typeface="+mn-lt"/>
              </a:rPr>
              <a:t>Fruangen</a:t>
            </a:r>
            <a:r>
              <a:rPr lang="en-US" sz="1600">
                <a:ea typeface="+mn-lt"/>
                <a:cs typeface="+mn-lt"/>
              </a:rPr>
              <a:t>" now correctly shows "</a:t>
            </a:r>
            <a:r>
              <a:rPr lang="en-US" sz="1600" err="1">
                <a:ea typeface="+mn-lt"/>
                <a:cs typeface="+mn-lt"/>
              </a:rPr>
              <a:t>Fruängen</a:t>
            </a:r>
            <a:r>
              <a:rPr lang="en-US" sz="1600">
                <a:ea typeface="+mn-lt"/>
                <a:cs typeface="+mn-lt"/>
              </a:rPr>
              <a:t>" </a:t>
            </a:r>
          </a:p>
          <a:p>
            <a:pPr marL="285750" indent="-285750">
              <a:buFont typeface="Arial"/>
              <a:buChar char="•"/>
            </a:pPr>
            <a:endParaRPr lang="en-US" sz="1600">
              <a:ea typeface="+mn-lt"/>
              <a:cs typeface="+mn-lt"/>
            </a:endParaRPr>
          </a:p>
          <a:p>
            <a:pPr marL="285750" indent="-285750">
              <a:buFont typeface="Arial"/>
              <a:buChar char="•"/>
            </a:pPr>
            <a:r>
              <a:rPr lang="en-US" sz="1600">
                <a:ea typeface="+mn-lt"/>
                <a:cs typeface="+mn-lt"/>
              </a:rPr>
              <a:t>Markers on map stop getting smaller after a certain zoom level</a:t>
            </a:r>
          </a:p>
          <a:p>
            <a:pPr marL="285750" indent="-285750">
              <a:buFont typeface="Arial"/>
              <a:buChar char="•"/>
            </a:pPr>
            <a:endParaRPr lang="en-US" sz="1600">
              <a:ea typeface="+mn-lt"/>
              <a:cs typeface="+mn-lt"/>
            </a:endParaRPr>
          </a:p>
          <a:p>
            <a:pPr marL="285750" indent="-285750">
              <a:buFont typeface="Arial"/>
              <a:buChar char="•"/>
            </a:pPr>
            <a:r>
              <a:rPr lang="en-US" sz="1600">
                <a:ea typeface="+mn-lt"/>
                <a:cs typeface="+mn-lt"/>
              </a:rPr>
              <a:t>Search bar has more top padding</a:t>
            </a:r>
            <a:endParaRPr lang="en-US" sz="1600">
              <a:ea typeface="Calibri"/>
              <a:cs typeface="Calibri"/>
            </a:endParaRPr>
          </a:p>
        </p:txBody>
      </p:sp>
      <p:pic>
        <p:nvPicPr>
          <p:cNvPr id="9" name="Picture 8" descr="A map of a city&#10;&#10;AI-generated content may be incorrect.">
            <a:extLst>
              <a:ext uri="{FF2B5EF4-FFF2-40B4-BE49-F238E27FC236}">
                <a16:creationId xmlns:a16="http://schemas.microsoft.com/office/drawing/2014/main" id="{B6F715F0-6796-1CB0-B21B-F8D198E6A9FF}"/>
              </a:ext>
            </a:extLst>
          </p:cNvPr>
          <p:cNvPicPr>
            <a:picLocks noChangeAspect="1"/>
          </p:cNvPicPr>
          <p:nvPr/>
        </p:nvPicPr>
        <p:blipFill>
          <a:blip r:embed="rId3"/>
          <a:stretch>
            <a:fillRect/>
          </a:stretch>
        </p:blipFill>
        <p:spPr>
          <a:xfrm>
            <a:off x="3771900" y="2589233"/>
            <a:ext cx="5166360" cy="2552787"/>
          </a:xfrm>
          <a:prstGeom prst="rect">
            <a:avLst/>
          </a:prstGeom>
        </p:spPr>
      </p:pic>
      <p:pic>
        <p:nvPicPr>
          <p:cNvPr id="10" name="Picture 9" descr="A map of a city&#10;&#10;AI-generated content may be incorrect.">
            <a:extLst>
              <a:ext uri="{FF2B5EF4-FFF2-40B4-BE49-F238E27FC236}">
                <a16:creationId xmlns:a16="http://schemas.microsoft.com/office/drawing/2014/main" id="{C75C3406-398A-5B2E-370F-FC6DEFF5ED62}"/>
              </a:ext>
            </a:extLst>
          </p:cNvPr>
          <p:cNvPicPr>
            <a:picLocks noChangeAspect="1"/>
          </p:cNvPicPr>
          <p:nvPr/>
        </p:nvPicPr>
        <p:blipFill>
          <a:blip r:embed="rId4"/>
          <a:stretch>
            <a:fillRect/>
          </a:stretch>
        </p:blipFill>
        <p:spPr>
          <a:xfrm>
            <a:off x="3771900" y="2083"/>
            <a:ext cx="5166360" cy="2551581"/>
          </a:xfrm>
          <a:prstGeom prst="rect">
            <a:avLst/>
          </a:prstGeom>
        </p:spPr>
      </p:pic>
      <p:sp>
        <p:nvSpPr>
          <p:cNvPr id="7" name="Rektangel 6">
            <a:extLst>
              <a:ext uri="{FF2B5EF4-FFF2-40B4-BE49-F238E27FC236}">
                <a16:creationId xmlns:a16="http://schemas.microsoft.com/office/drawing/2014/main" id="{2993E53C-7E74-09D7-43FC-8C3F2104E9BD}"/>
              </a:ext>
            </a:extLst>
          </p:cNvPr>
          <p:cNvSpPr/>
          <p:nvPr/>
        </p:nvSpPr>
        <p:spPr>
          <a:xfrm>
            <a:off x="6243850" y="3710484"/>
            <a:ext cx="272955" cy="28148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Rektangel 10">
            <a:extLst>
              <a:ext uri="{FF2B5EF4-FFF2-40B4-BE49-F238E27FC236}">
                <a16:creationId xmlns:a16="http://schemas.microsoft.com/office/drawing/2014/main" id="{DC4FD280-980E-E879-5432-7134E10C2926}"/>
              </a:ext>
            </a:extLst>
          </p:cNvPr>
          <p:cNvSpPr/>
          <p:nvPr/>
        </p:nvSpPr>
        <p:spPr>
          <a:xfrm>
            <a:off x="3964629" y="2646468"/>
            <a:ext cx="1126657" cy="39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ktangel 10">
            <a:extLst>
              <a:ext uri="{FF2B5EF4-FFF2-40B4-BE49-F238E27FC236}">
                <a16:creationId xmlns:a16="http://schemas.microsoft.com/office/drawing/2014/main" id="{FF9CDFBF-21CD-ADF5-2281-5AFB620DEE6F}"/>
              </a:ext>
            </a:extLst>
          </p:cNvPr>
          <p:cNvSpPr/>
          <p:nvPr/>
        </p:nvSpPr>
        <p:spPr>
          <a:xfrm>
            <a:off x="7777677" y="2852208"/>
            <a:ext cx="1090081" cy="10508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96C4F055-9E4C-34BD-8287-F2F789D5D1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C0419E-9266-3D8C-59C3-FFFBEB02B04D}"/>
              </a:ext>
            </a:extLst>
          </p:cNvPr>
          <p:cNvSpPr/>
          <p:nvPr/>
        </p:nvSpPr>
        <p:spPr>
          <a:xfrm>
            <a:off x="457200" y="240453"/>
            <a:ext cx="8229600" cy="228600"/>
          </a:xfrm>
          <a:prstGeom prst="rect">
            <a:avLst/>
          </a:prstGeom>
          <a:noFill/>
          <a:ln/>
        </p:spPr>
        <p:txBody>
          <a:bodyPr wrap="square" lIns="0" tIns="0" rIns="0" bIns="0" rtlCol="0" anchor="ctr"/>
          <a:lstStyle/>
          <a:p>
            <a:r>
              <a:rPr lang="en-US" sz="1000" b="1" kern="0" spc="200">
                <a:solidFill>
                  <a:srgbClr val="028090"/>
                </a:solidFill>
                <a:latin typeface="Calibri"/>
                <a:ea typeface="Calibri"/>
                <a:cs typeface="Calibri"/>
              </a:rPr>
              <a:t>USER CONSULTATIONS</a:t>
            </a:r>
            <a:endParaRPr lang="en-US"/>
          </a:p>
        </p:txBody>
      </p:sp>
      <p:sp>
        <p:nvSpPr>
          <p:cNvPr id="3" name="Text 1">
            <a:extLst>
              <a:ext uri="{FF2B5EF4-FFF2-40B4-BE49-F238E27FC236}">
                <a16:creationId xmlns:a16="http://schemas.microsoft.com/office/drawing/2014/main" id="{9F866D3D-4DA6-D7CD-5696-38616C76A3DE}"/>
              </a:ext>
            </a:extLst>
          </p:cNvPr>
          <p:cNvSpPr/>
          <p:nvPr/>
        </p:nvSpPr>
        <p:spPr>
          <a:xfrm>
            <a:off x="457200" y="435187"/>
            <a:ext cx="8229600" cy="411480"/>
          </a:xfrm>
          <a:prstGeom prst="rect">
            <a:avLst/>
          </a:prstGeom>
          <a:noFill/>
          <a:ln/>
        </p:spPr>
        <p:txBody>
          <a:bodyPr wrap="square" lIns="0" tIns="0" rIns="0" bIns="0" rtlCol="0" anchor="ctr"/>
          <a:lstStyle/>
          <a:p>
            <a:r>
              <a:rPr lang="en-US" sz="2600" b="1">
                <a:solidFill>
                  <a:srgbClr val="0F172A"/>
                </a:solidFill>
                <a:latin typeface="Trebuchet MS"/>
              </a:rPr>
              <a:t>Mobile adaption</a:t>
            </a:r>
            <a:endParaRPr lang="en-US"/>
          </a:p>
        </p:txBody>
      </p:sp>
      <p:sp>
        <p:nvSpPr>
          <p:cNvPr id="5" name="Text 2">
            <a:extLst>
              <a:ext uri="{FF2B5EF4-FFF2-40B4-BE49-F238E27FC236}">
                <a16:creationId xmlns:a16="http://schemas.microsoft.com/office/drawing/2014/main" id="{B2BB7079-3CD8-D33A-34FC-0EE219591DCF}"/>
              </a:ext>
            </a:extLst>
          </p:cNvPr>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6" name="Text 3">
            <a:extLst>
              <a:ext uri="{FF2B5EF4-FFF2-40B4-BE49-F238E27FC236}">
                <a16:creationId xmlns:a16="http://schemas.microsoft.com/office/drawing/2014/main" id="{B9189E2F-238A-0B43-39E2-DFB976162248}"/>
              </a:ext>
            </a:extLst>
          </p:cNvPr>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7 of 10</a:t>
            </a:r>
            <a:endParaRPr lang="en-US" sz="1000">
              <a:latin typeface="Calibri"/>
              <a:ea typeface="Calibri"/>
              <a:cs typeface="Calibri"/>
            </a:endParaRPr>
          </a:p>
        </p:txBody>
      </p:sp>
      <p:pic>
        <p:nvPicPr>
          <p:cNvPr id="11" name="Picture 10" descr="A screenshot of a phone&#10;&#10;AI-generated content may be incorrect.">
            <a:extLst>
              <a:ext uri="{FF2B5EF4-FFF2-40B4-BE49-F238E27FC236}">
                <a16:creationId xmlns:a16="http://schemas.microsoft.com/office/drawing/2014/main" id="{9FD75C03-20B2-E28A-F2BD-7B7826479E0B}"/>
              </a:ext>
            </a:extLst>
          </p:cNvPr>
          <p:cNvPicPr>
            <a:picLocks noChangeAspect="1"/>
          </p:cNvPicPr>
          <p:nvPr/>
        </p:nvPicPr>
        <p:blipFill>
          <a:blip r:embed="rId3"/>
          <a:stretch>
            <a:fillRect/>
          </a:stretch>
        </p:blipFill>
        <p:spPr>
          <a:xfrm>
            <a:off x="6856273" y="1058333"/>
            <a:ext cx="1717953" cy="3742267"/>
          </a:xfrm>
          <a:prstGeom prst="rect">
            <a:avLst/>
          </a:prstGeom>
        </p:spPr>
      </p:pic>
      <p:pic>
        <p:nvPicPr>
          <p:cNvPr id="12" name="Picture 11" descr="A screenshot of a phone&#10;&#10;AI-generated content may be incorrect.">
            <a:extLst>
              <a:ext uri="{FF2B5EF4-FFF2-40B4-BE49-F238E27FC236}">
                <a16:creationId xmlns:a16="http://schemas.microsoft.com/office/drawing/2014/main" id="{7A97F278-AA7E-E037-073E-B99EDE76D42B}"/>
              </a:ext>
            </a:extLst>
          </p:cNvPr>
          <p:cNvPicPr>
            <a:picLocks noChangeAspect="1"/>
          </p:cNvPicPr>
          <p:nvPr/>
        </p:nvPicPr>
        <p:blipFill>
          <a:blip r:embed="rId4"/>
          <a:stretch>
            <a:fillRect/>
          </a:stretch>
        </p:blipFill>
        <p:spPr>
          <a:xfrm>
            <a:off x="4849673" y="1058333"/>
            <a:ext cx="1710952" cy="3738033"/>
          </a:xfrm>
          <a:prstGeom prst="rect">
            <a:avLst/>
          </a:prstGeom>
        </p:spPr>
      </p:pic>
      <p:pic>
        <p:nvPicPr>
          <p:cNvPr id="13" name="Picture 12" descr="A screenshot of a phone&#10;&#10;AI-generated content may be incorrect.">
            <a:extLst>
              <a:ext uri="{FF2B5EF4-FFF2-40B4-BE49-F238E27FC236}">
                <a16:creationId xmlns:a16="http://schemas.microsoft.com/office/drawing/2014/main" id="{9A3421DE-4719-BE5C-82B2-27FB18E760EF}"/>
              </a:ext>
            </a:extLst>
          </p:cNvPr>
          <p:cNvPicPr>
            <a:picLocks noChangeAspect="1"/>
          </p:cNvPicPr>
          <p:nvPr/>
        </p:nvPicPr>
        <p:blipFill>
          <a:blip r:embed="rId5"/>
          <a:stretch>
            <a:fillRect/>
          </a:stretch>
        </p:blipFill>
        <p:spPr>
          <a:xfrm>
            <a:off x="334164" y="1058334"/>
            <a:ext cx="1706572" cy="3742267"/>
          </a:xfrm>
          <a:prstGeom prst="rect">
            <a:avLst/>
          </a:prstGeom>
        </p:spPr>
      </p:pic>
      <p:pic>
        <p:nvPicPr>
          <p:cNvPr id="14" name="Picture 13" descr="A screenshot of a phone&#10;&#10;AI-generated content may be incorrect.">
            <a:extLst>
              <a:ext uri="{FF2B5EF4-FFF2-40B4-BE49-F238E27FC236}">
                <a16:creationId xmlns:a16="http://schemas.microsoft.com/office/drawing/2014/main" id="{27D4F35C-77E5-9296-6AFA-589EDB5F2F52}"/>
              </a:ext>
            </a:extLst>
          </p:cNvPr>
          <p:cNvPicPr>
            <a:picLocks noChangeAspect="1"/>
          </p:cNvPicPr>
          <p:nvPr/>
        </p:nvPicPr>
        <p:blipFill>
          <a:blip r:embed="rId6"/>
          <a:stretch>
            <a:fillRect/>
          </a:stretch>
        </p:blipFill>
        <p:spPr>
          <a:xfrm>
            <a:off x="2265954" y="1058334"/>
            <a:ext cx="1695326" cy="3733799"/>
          </a:xfrm>
          <a:prstGeom prst="rect">
            <a:avLst/>
          </a:prstGeom>
        </p:spPr>
      </p:pic>
      <p:sp>
        <p:nvSpPr>
          <p:cNvPr id="15" name="TextBox 14">
            <a:extLst>
              <a:ext uri="{FF2B5EF4-FFF2-40B4-BE49-F238E27FC236}">
                <a16:creationId xmlns:a16="http://schemas.microsoft.com/office/drawing/2014/main" id="{B0CA094B-F921-7339-4746-46F12CB78EE9}"/>
              </a:ext>
            </a:extLst>
          </p:cNvPr>
          <p:cNvSpPr txBox="1"/>
          <p:nvPr/>
        </p:nvSpPr>
        <p:spPr>
          <a:xfrm>
            <a:off x="725838" y="818875"/>
            <a:ext cx="91614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ea typeface="Calibri"/>
                <a:cs typeface="Calibri"/>
              </a:rPr>
              <a:t>Before</a:t>
            </a:r>
            <a:endParaRPr lang="en-US"/>
          </a:p>
        </p:txBody>
      </p:sp>
      <p:sp>
        <p:nvSpPr>
          <p:cNvPr id="16" name="TextBox 15">
            <a:extLst>
              <a:ext uri="{FF2B5EF4-FFF2-40B4-BE49-F238E27FC236}">
                <a16:creationId xmlns:a16="http://schemas.microsoft.com/office/drawing/2014/main" id="{DA6A1903-C706-B4DB-9FFA-019DD0294343}"/>
              </a:ext>
            </a:extLst>
          </p:cNvPr>
          <p:cNvSpPr txBox="1"/>
          <p:nvPr/>
        </p:nvSpPr>
        <p:spPr>
          <a:xfrm>
            <a:off x="2656238" y="818875"/>
            <a:ext cx="91614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ea typeface="Calibri"/>
                <a:cs typeface="Calibri"/>
              </a:rPr>
              <a:t>After</a:t>
            </a:r>
          </a:p>
        </p:txBody>
      </p:sp>
      <p:sp>
        <p:nvSpPr>
          <p:cNvPr id="17" name="TextBox 16">
            <a:extLst>
              <a:ext uri="{FF2B5EF4-FFF2-40B4-BE49-F238E27FC236}">
                <a16:creationId xmlns:a16="http://schemas.microsoft.com/office/drawing/2014/main" id="{E99B06B3-BBD3-2508-BDBB-7689395720C3}"/>
              </a:ext>
            </a:extLst>
          </p:cNvPr>
          <p:cNvSpPr txBox="1"/>
          <p:nvPr/>
        </p:nvSpPr>
        <p:spPr>
          <a:xfrm>
            <a:off x="5247037" y="818874"/>
            <a:ext cx="91614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ea typeface="Calibri"/>
                <a:cs typeface="Calibri"/>
              </a:rPr>
              <a:t>Before</a:t>
            </a:r>
            <a:endParaRPr lang="en-US"/>
          </a:p>
        </p:txBody>
      </p:sp>
      <p:sp>
        <p:nvSpPr>
          <p:cNvPr id="18" name="TextBox 17">
            <a:extLst>
              <a:ext uri="{FF2B5EF4-FFF2-40B4-BE49-F238E27FC236}">
                <a16:creationId xmlns:a16="http://schemas.microsoft.com/office/drawing/2014/main" id="{ED4B1C44-DFF8-1710-5CBC-13B64E7D9E8B}"/>
              </a:ext>
            </a:extLst>
          </p:cNvPr>
          <p:cNvSpPr txBox="1"/>
          <p:nvPr/>
        </p:nvSpPr>
        <p:spPr>
          <a:xfrm>
            <a:off x="7253638" y="818875"/>
            <a:ext cx="91614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ea typeface="Calibri"/>
                <a:cs typeface="Calibri"/>
              </a:rPr>
              <a:t>After</a:t>
            </a:r>
          </a:p>
        </p:txBody>
      </p:sp>
    </p:spTree>
    <p:extLst>
      <p:ext uri="{BB962C8B-B14F-4D97-AF65-F5344CB8AC3E}">
        <p14:creationId xmlns:p14="http://schemas.microsoft.com/office/powerpoint/2010/main" val="5937449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LESSONS</a:t>
            </a:r>
            <a:endParaRPr lang="en-US" sz="1000"/>
          </a:p>
        </p:txBody>
      </p:sp>
      <p:sp>
        <p:nvSpPr>
          <p:cNvPr id="3" name="Text 1"/>
          <p:cNvSpPr/>
          <p:nvPr/>
        </p:nvSpPr>
        <p:spPr>
          <a:xfrm>
            <a:off x="457200" y="502920"/>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pitchFamily="34" charset="0"/>
                <a:ea typeface="Trebuchet MS" pitchFamily="34" charset="-122"/>
                <a:cs typeface="Trebuchet MS" pitchFamily="34" charset="-120"/>
              </a:rPr>
              <a:t>Challenges &amp; Lessons Learned</a:t>
            </a:r>
            <a:endParaRPr lang="en-US" sz="2600"/>
          </a:p>
        </p:txBody>
      </p:sp>
      <p:sp>
        <p:nvSpPr>
          <p:cNvPr id="4" name="Shape 2"/>
          <p:cNvSpPr/>
          <p:nvPr/>
        </p:nvSpPr>
        <p:spPr>
          <a:xfrm>
            <a:off x="457200" y="1188720"/>
            <a:ext cx="3931920" cy="3200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188720"/>
            <a:ext cx="73152" cy="3200400"/>
          </a:xfrm>
          <a:prstGeom prst="rect">
            <a:avLst/>
          </a:prstGeom>
          <a:solidFill>
            <a:srgbClr val="DC2626"/>
          </a:solidFill>
          <a:ln w="12700">
            <a:solidFill>
              <a:srgbClr val="333333"/>
            </a:solidFill>
            <a:prstDash val="solid"/>
          </a:ln>
        </p:spPr>
        <p:txBody>
          <a:bodyPr/>
          <a:lstStyle/>
          <a:p>
            <a:endParaRPr lang="en-US"/>
          </a:p>
        </p:txBody>
      </p:sp>
      <p:sp>
        <p:nvSpPr>
          <p:cNvPr id="6" name="Text 4"/>
          <p:cNvSpPr/>
          <p:nvPr/>
        </p:nvSpPr>
        <p:spPr>
          <a:xfrm>
            <a:off x="640080" y="1371600"/>
            <a:ext cx="3566160" cy="365760"/>
          </a:xfrm>
          <a:prstGeom prst="rect">
            <a:avLst/>
          </a:prstGeom>
          <a:noFill/>
          <a:ln/>
        </p:spPr>
        <p:txBody>
          <a:bodyPr wrap="square" lIns="0" tIns="0" rIns="0" bIns="0" rtlCol="0" anchor="ctr"/>
          <a:lstStyle/>
          <a:p>
            <a:pPr marL="0" indent="0">
              <a:buNone/>
            </a:pPr>
            <a:r>
              <a:rPr lang="en-US" sz="1600" b="1">
                <a:solidFill>
                  <a:srgbClr val="0F172A"/>
                </a:solidFill>
                <a:latin typeface="Trebuchet MS"/>
                <a:ea typeface="Trebuchet MS" pitchFamily="34" charset="-122"/>
                <a:cs typeface="Trebuchet MS" pitchFamily="34" charset="-120"/>
              </a:rPr>
              <a:t>Key Technical Challenges</a:t>
            </a:r>
            <a:endParaRPr lang="en-US" sz="1600" b="1">
              <a:solidFill>
                <a:srgbClr val="0F172A"/>
              </a:solidFill>
              <a:latin typeface="Trebuchet MS"/>
            </a:endParaRPr>
          </a:p>
        </p:txBody>
      </p:sp>
      <p:sp>
        <p:nvSpPr>
          <p:cNvPr id="7" name="Text 5"/>
          <p:cNvSpPr/>
          <p:nvPr/>
        </p:nvSpPr>
        <p:spPr>
          <a:xfrm>
            <a:off x="640080" y="1737360"/>
            <a:ext cx="3566160" cy="2560320"/>
          </a:xfrm>
          <a:prstGeom prst="rect">
            <a:avLst/>
          </a:prstGeom>
          <a:noFill/>
          <a:ln/>
        </p:spPr>
        <p:txBody>
          <a:bodyPr wrap="square" lIns="0" tIns="0" rIns="0" bIns="0" rtlCol="0" anchor="ctr"/>
          <a:lstStyle/>
          <a:p>
            <a:pPr marL="0" indent="0">
              <a:spcAft>
                <a:spcPts val="500"/>
              </a:spcAft>
              <a:buNone/>
            </a:pPr>
            <a:r>
              <a:rPr lang="en-US" sz="1200" b="1" err="1">
                <a:solidFill>
                  <a:srgbClr val="0F172A"/>
                </a:solidFill>
                <a:latin typeface="Calibri"/>
                <a:ea typeface="Calibri"/>
                <a:cs typeface="Calibri"/>
              </a:rPr>
              <a:t>Firestore</a:t>
            </a:r>
            <a:r>
              <a:rPr lang="en-US" sz="1200" b="1">
                <a:solidFill>
                  <a:srgbClr val="0F172A"/>
                </a:solidFill>
                <a:latin typeface="Calibri"/>
                <a:ea typeface="Calibri"/>
                <a:cs typeface="Calibri"/>
              </a:rPr>
              <a:t> Constraints: </a:t>
            </a:r>
            <a:r>
              <a:rPr lang="en-US" sz="1200">
                <a:solidFill>
                  <a:srgbClr val="475569"/>
                </a:solidFill>
                <a:latin typeface="Calibri"/>
                <a:ea typeface="Calibri"/>
                <a:cs typeface="Calibri"/>
              </a:rPr>
              <a:t>Limited querying capabilities for complex aggregations forced a full database rewrite.
</a:t>
            </a:r>
            <a:endParaRPr lang="en-US" sz="1200">
              <a:latin typeface="Calibri"/>
              <a:ea typeface="Calibri"/>
              <a:cs typeface="Calibri"/>
            </a:endParaRPr>
          </a:p>
          <a:p>
            <a:pPr marL="0" indent="0">
              <a:spcAft>
                <a:spcPts val="500"/>
              </a:spcAft>
              <a:buNone/>
            </a:pPr>
            <a:r>
              <a:rPr lang="en-US" sz="1200" b="1">
                <a:solidFill>
                  <a:srgbClr val="0F172A"/>
                </a:solidFill>
                <a:latin typeface="Calibri"/>
                <a:ea typeface="Calibri"/>
                <a:cs typeface="Calibri"/>
              </a:rPr>
              <a:t>Mobile Oversight: </a:t>
            </a:r>
            <a:r>
              <a:rPr lang="en-US" sz="1200">
                <a:solidFill>
                  <a:srgbClr val="475569"/>
                </a:solidFill>
                <a:latin typeface="Calibri"/>
                <a:ea typeface="Calibri"/>
                <a:cs typeface="Calibri"/>
              </a:rPr>
              <a:t>Building desktop-first left mobile layouts broken, requiring massive UI adjustments late in project.
</a:t>
            </a:r>
            <a:endParaRPr lang="en-US" sz="1200">
              <a:latin typeface="Calibri"/>
              <a:ea typeface="Calibri"/>
              <a:cs typeface="Calibri"/>
            </a:endParaRPr>
          </a:p>
          <a:p>
            <a:pPr marL="0" indent="0">
              <a:spcAft>
                <a:spcPts val="500"/>
              </a:spcAft>
              <a:buNone/>
            </a:pPr>
            <a:r>
              <a:rPr lang="en-US" sz="1200" b="1">
                <a:solidFill>
                  <a:srgbClr val="0F172A"/>
                </a:solidFill>
                <a:latin typeface="Calibri"/>
                <a:ea typeface="Calibri"/>
                <a:cs typeface="Calibri"/>
              </a:rPr>
              <a:t>Architectural Leakage: </a:t>
            </a:r>
            <a:r>
              <a:rPr lang="en-US" sz="1200">
                <a:solidFill>
                  <a:srgbClr val="475569"/>
                </a:solidFill>
                <a:latin typeface="Calibri"/>
                <a:ea typeface="Calibri"/>
                <a:cs typeface="Calibri"/>
              </a:rPr>
              <a:t>Isolate </a:t>
            </a:r>
            <a:r>
              <a:rPr lang="en-US" sz="1200" err="1">
                <a:solidFill>
                  <a:srgbClr val="475569"/>
                </a:solidFill>
                <a:latin typeface="Calibri"/>
                <a:ea typeface="Calibri"/>
                <a:cs typeface="Calibri"/>
              </a:rPr>
              <a:t>Isbusiness</a:t>
            </a:r>
            <a:r>
              <a:rPr lang="en-US" sz="1200">
                <a:solidFill>
                  <a:srgbClr val="475569"/>
                </a:solidFill>
                <a:latin typeface="Calibri"/>
                <a:ea typeface="Calibri"/>
                <a:cs typeface="Calibri"/>
              </a:rPr>
              <a:t> </a:t>
            </a:r>
            <a:r>
              <a:rPr lang="en-US" sz="1200" err="1">
                <a:solidFill>
                  <a:srgbClr val="475569"/>
                </a:solidFill>
                <a:latin typeface="Calibri"/>
                <a:ea typeface="Calibri"/>
                <a:cs typeface="Calibri"/>
              </a:rPr>
              <a:t>thunks</a:t>
            </a:r>
            <a:r>
              <a:rPr lang="en-US" sz="1200">
                <a:solidFill>
                  <a:srgbClr val="475569"/>
                </a:solidFill>
                <a:latin typeface="Calibri"/>
                <a:ea typeface="Calibri"/>
                <a:cs typeface="Calibri"/>
              </a:rPr>
              <a:t> from views required constant code audits.</a:t>
            </a:r>
            <a:endParaRPr lang="en-US" sz="1200">
              <a:latin typeface="Calibri"/>
              <a:ea typeface="Calibri"/>
              <a:cs typeface="Calibri"/>
            </a:endParaRPr>
          </a:p>
        </p:txBody>
      </p:sp>
      <p:sp>
        <p:nvSpPr>
          <p:cNvPr id="8" name="Shape 6"/>
          <p:cNvSpPr/>
          <p:nvPr/>
        </p:nvSpPr>
        <p:spPr>
          <a:xfrm>
            <a:off x="4754880" y="1188720"/>
            <a:ext cx="3931920" cy="320040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54880" y="1188720"/>
            <a:ext cx="73152" cy="3200400"/>
          </a:xfrm>
          <a:prstGeom prst="rect">
            <a:avLst/>
          </a:prstGeom>
          <a:solidFill>
            <a:srgbClr val="16A34A"/>
          </a:solidFill>
          <a:ln w="12700">
            <a:solidFill>
              <a:srgbClr val="333333"/>
            </a:solidFill>
            <a:prstDash val="solid"/>
          </a:ln>
        </p:spPr>
        <p:txBody>
          <a:bodyPr/>
          <a:lstStyle/>
          <a:p>
            <a:endParaRPr lang="en-US"/>
          </a:p>
        </p:txBody>
      </p:sp>
      <p:sp>
        <p:nvSpPr>
          <p:cNvPr id="10" name="Text 8"/>
          <p:cNvSpPr/>
          <p:nvPr/>
        </p:nvSpPr>
        <p:spPr>
          <a:xfrm>
            <a:off x="4937760" y="1371600"/>
            <a:ext cx="3566160" cy="365760"/>
          </a:xfrm>
          <a:prstGeom prst="rect">
            <a:avLst/>
          </a:prstGeom>
          <a:noFill/>
          <a:ln/>
        </p:spPr>
        <p:txBody>
          <a:bodyPr wrap="square" lIns="0" tIns="0" rIns="0" bIns="0" rtlCol="0" anchor="ctr"/>
          <a:lstStyle/>
          <a:p>
            <a:pPr marL="0" indent="0">
              <a:buNone/>
            </a:pPr>
            <a:r>
              <a:rPr lang="en-US" sz="1600" b="1">
                <a:solidFill>
                  <a:srgbClr val="0F172A"/>
                </a:solidFill>
                <a:latin typeface="Trebuchet MS"/>
                <a:ea typeface="Trebuchet MS" pitchFamily="34" charset="-122"/>
                <a:cs typeface="Trebuchet MS" pitchFamily="34" charset="-120"/>
              </a:rPr>
              <a:t>Valuable Project Lessons</a:t>
            </a:r>
            <a:endParaRPr lang="en-US" sz="1600" b="1">
              <a:solidFill>
                <a:srgbClr val="0F172A"/>
              </a:solidFill>
              <a:latin typeface="Trebuchet MS"/>
            </a:endParaRPr>
          </a:p>
        </p:txBody>
      </p:sp>
      <p:sp>
        <p:nvSpPr>
          <p:cNvPr id="11" name="Text 9"/>
          <p:cNvSpPr/>
          <p:nvPr/>
        </p:nvSpPr>
        <p:spPr>
          <a:xfrm>
            <a:off x="4937760" y="1737360"/>
            <a:ext cx="3566160" cy="2560320"/>
          </a:xfrm>
          <a:prstGeom prst="rect">
            <a:avLst/>
          </a:prstGeom>
          <a:noFill/>
          <a:ln/>
        </p:spPr>
        <p:txBody>
          <a:bodyPr wrap="square" lIns="0" tIns="0" rIns="0" bIns="0" rtlCol="0" anchor="ctr"/>
          <a:lstStyle/>
          <a:p>
            <a:pPr marL="0" indent="0">
              <a:spcAft>
                <a:spcPts val="500"/>
              </a:spcAft>
              <a:buNone/>
            </a:pPr>
            <a:r>
              <a:rPr lang="en-US" sz="1200" b="1">
                <a:solidFill>
                  <a:srgbClr val="0F172A"/>
                </a:solidFill>
                <a:ea typeface="Calibri"/>
                <a:cs typeface="Calibri"/>
              </a:rPr>
              <a:t>Consultations</a:t>
            </a:r>
            <a:r>
              <a:rPr lang="en-US" sz="1200" b="1">
                <a:solidFill>
                  <a:srgbClr val="0F172A"/>
                </a:solidFill>
                <a:latin typeface="Calibri"/>
                <a:ea typeface="Calibri"/>
                <a:cs typeface="Calibri"/>
              </a:rPr>
              <a:t> are Key: </a:t>
            </a:r>
            <a:r>
              <a:rPr lang="en-US" sz="1200">
                <a:solidFill>
                  <a:srgbClr val="475569"/>
                </a:solidFill>
                <a:latin typeface="Calibri"/>
                <a:ea typeface="Calibri"/>
                <a:cs typeface="Calibri"/>
              </a:rPr>
              <a:t>Real users exposed critical flaws (like keyboard accents) that developers overlooked.
</a:t>
            </a:r>
            <a:endParaRPr lang="en-US" sz="1200">
              <a:latin typeface="Calibri"/>
              <a:ea typeface="Calibri"/>
              <a:cs typeface="Calibri"/>
            </a:endParaRPr>
          </a:p>
          <a:p>
            <a:pPr marL="0" indent="0">
              <a:spcAft>
                <a:spcPts val="500"/>
              </a:spcAft>
              <a:buNone/>
            </a:pPr>
            <a:r>
              <a:rPr lang="en-US" sz="1200" b="1">
                <a:solidFill>
                  <a:srgbClr val="0F172A"/>
                </a:solidFill>
                <a:latin typeface="Calibri"/>
                <a:ea typeface="Calibri"/>
                <a:cs typeface="Calibri"/>
              </a:rPr>
              <a:t>Refactor Early: </a:t>
            </a:r>
            <a:r>
              <a:rPr lang="en-US" sz="1200">
                <a:solidFill>
                  <a:srgbClr val="475569"/>
                </a:solidFill>
                <a:latin typeface="Calibri"/>
                <a:ea typeface="Calibri"/>
                <a:cs typeface="Calibri"/>
              </a:rPr>
              <a:t>Clearing architectural debt when noticed saved countless hours later in integration.
</a:t>
            </a:r>
            <a:endParaRPr lang="en-US" sz="1200">
              <a:latin typeface="Calibri"/>
              <a:ea typeface="Calibri"/>
              <a:cs typeface="Calibri"/>
            </a:endParaRPr>
          </a:p>
          <a:p>
            <a:pPr marL="0" indent="0">
              <a:spcAft>
                <a:spcPts val="500"/>
              </a:spcAft>
              <a:buNone/>
            </a:pPr>
            <a:r>
              <a:rPr lang="en-US" sz="1200" b="1">
                <a:solidFill>
                  <a:srgbClr val="0F172A"/>
                </a:solidFill>
                <a:latin typeface="Calibri"/>
                <a:ea typeface="Calibri"/>
                <a:cs typeface="Calibri"/>
              </a:rPr>
              <a:t>Details win UX: </a:t>
            </a:r>
            <a:r>
              <a:rPr lang="en-US" sz="1200">
                <a:solidFill>
                  <a:srgbClr val="475569"/>
                </a:solidFill>
                <a:latin typeface="Calibri"/>
                <a:ea typeface="Calibri"/>
                <a:cs typeface="Calibri"/>
              </a:rPr>
              <a:t>Features like cross-tab syncing and responsive panels created the winning UX edge.</a:t>
            </a:r>
          </a:p>
          <a:p>
            <a:pPr>
              <a:spcAft>
                <a:spcPts val="500"/>
              </a:spcAft>
            </a:pPr>
            <a:endParaRPr lang="en-US" sz="1200">
              <a:solidFill>
                <a:srgbClr val="475569"/>
              </a:solidFill>
              <a:latin typeface="Calibri"/>
              <a:ea typeface="Calibri"/>
              <a:cs typeface="Calibri"/>
            </a:endParaRPr>
          </a:p>
          <a:p>
            <a:pPr>
              <a:spcAft>
                <a:spcPts val="500"/>
              </a:spcAft>
            </a:pPr>
            <a:r>
              <a:rPr lang="en-US" sz="1200" b="1">
                <a:latin typeface="Calibri"/>
                <a:ea typeface="Calibri"/>
                <a:cs typeface="Calibri"/>
              </a:rPr>
              <a:t>Don’t force login:</a:t>
            </a:r>
            <a:r>
              <a:rPr lang="en-US" sz="1200" b="1">
                <a:solidFill>
                  <a:srgbClr val="475569"/>
                </a:solidFill>
                <a:latin typeface="Calibri"/>
                <a:ea typeface="Calibri"/>
                <a:cs typeface="Calibri"/>
              </a:rPr>
              <a:t> </a:t>
            </a:r>
            <a:r>
              <a:rPr lang="en-US" sz="1200">
                <a:solidFill>
                  <a:srgbClr val="475569"/>
                </a:solidFill>
                <a:latin typeface="Calibri"/>
                <a:ea typeface="Calibri"/>
                <a:cs typeface="Calibri"/>
              </a:rPr>
              <a:t>Allow use of most features without login, user accounts only enhance experience. </a:t>
            </a:r>
          </a:p>
        </p:txBody>
      </p:sp>
      <p:sp>
        <p:nvSpPr>
          <p:cNvPr id="12" name="Text 10"/>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13" name="Text 11"/>
          <p:cNvSpPr/>
          <p:nvPr/>
        </p:nvSpPr>
        <p:spPr>
          <a:xfrm>
            <a:off x="7315200" y="4800600"/>
            <a:ext cx="1371600" cy="274320"/>
          </a:xfrm>
          <a:prstGeom prst="rect">
            <a:avLst/>
          </a:prstGeom>
          <a:noFill/>
          <a:ln/>
        </p:spPr>
        <p:txBody>
          <a:bodyPr wrap="square" lIns="0" tIns="0" rIns="0" bIns="0" rtlCol="0" anchor="ctr"/>
          <a:lstStyle/>
          <a:p>
            <a:pPr algn="r"/>
            <a:r>
              <a:rPr lang="en-US" sz="1000">
                <a:solidFill>
                  <a:srgbClr val="94A3B8"/>
                </a:solidFill>
                <a:latin typeface="Calibri"/>
                <a:ea typeface="Calibri"/>
                <a:cs typeface="Calibri"/>
              </a:rPr>
              <a:t>Slide 8 of 10</a:t>
            </a:r>
            <a:endParaRPr lang="en-US" sz="1000">
              <a:latin typeface="Calibri"/>
              <a:ea typeface="Calibri"/>
              <a:cs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marL="0" indent="0">
              <a:buNone/>
            </a:pPr>
            <a:r>
              <a:rPr lang="en-US" sz="1000" b="1" kern="0" spc="200">
                <a:solidFill>
                  <a:srgbClr val="028090"/>
                </a:solidFill>
                <a:latin typeface="Calibri" pitchFamily="34" charset="0"/>
                <a:ea typeface="Calibri" pitchFamily="34" charset="-122"/>
                <a:cs typeface="Calibri" pitchFamily="34" charset="-120"/>
              </a:rPr>
              <a:t>RETROSPECTIVE</a:t>
            </a:r>
            <a:endParaRPr lang="en-US" sz="1000"/>
          </a:p>
        </p:txBody>
      </p:sp>
      <p:sp>
        <p:nvSpPr>
          <p:cNvPr id="3" name="Text 1"/>
          <p:cNvSpPr/>
          <p:nvPr/>
        </p:nvSpPr>
        <p:spPr>
          <a:xfrm>
            <a:off x="457200" y="502920"/>
            <a:ext cx="8229600" cy="411480"/>
          </a:xfrm>
          <a:prstGeom prst="rect">
            <a:avLst/>
          </a:prstGeom>
          <a:noFill/>
          <a:ln/>
        </p:spPr>
        <p:txBody>
          <a:bodyPr wrap="square" lIns="0" tIns="0" rIns="0" bIns="0" rtlCol="0" anchor="ctr"/>
          <a:lstStyle/>
          <a:p>
            <a:pPr marL="0" indent="0">
              <a:buNone/>
            </a:pPr>
            <a:r>
              <a:rPr lang="en-US" sz="2600" b="1">
                <a:solidFill>
                  <a:srgbClr val="0F172A"/>
                </a:solidFill>
                <a:latin typeface="Trebuchet MS" pitchFamily="34" charset="0"/>
                <a:ea typeface="Trebuchet MS" pitchFamily="34" charset="-122"/>
                <a:cs typeface="Trebuchet MS" pitchFamily="34" charset="-120"/>
              </a:rPr>
              <a:t>What We'd Do Differently</a:t>
            </a:r>
            <a:endParaRPr lang="en-US" sz="2600"/>
          </a:p>
        </p:txBody>
      </p:sp>
      <p:sp>
        <p:nvSpPr>
          <p:cNvPr id="4" name="Shape 2"/>
          <p:cNvSpPr/>
          <p:nvPr/>
        </p:nvSpPr>
        <p:spPr>
          <a:xfrm>
            <a:off x="457200" y="1188720"/>
            <a:ext cx="3931920" cy="146304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188720"/>
            <a:ext cx="73152" cy="1463040"/>
          </a:xfrm>
          <a:prstGeom prst="rect">
            <a:avLst/>
          </a:prstGeom>
          <a:solidFill>
            <a:srgbClr val="1D4ED8"/>
          </a:solidFill>
          <a:ln w="12700">
            <a:solidFill>
              <a:srgbClr val="333333"/>
            </a:solidFill>
            <a:prstDash val="solid"/>
          </a:ln>
        </p:spPr>
        <p:txBody>
          <a:bodyPr/>
          <a:lstStyle/>
          <a:p>
            <a:endParaRPr lang="en-US"/>
          </a:p>
        </p:txBody>
      </p:sp>
      <p:sp>
        <p:nvSpPr>
          <p:cNvPr id="6" name="Text 4"/>
          <p:cNvSpPr/>
          <p:nvPr/>
        </p:nvSpPr>
        <p:spPr>
          <a:xfrm>
            <a:off x="640080" y="1371600"/>
            <a:ext cx="3657600" cy="1097280"/>
          </a:xfrm>
          <a:prstGeom prst="rect">
            <a:avLst/>
          </a:prstGeom>
          <a:noFill/>
          <a:ln/>
        </p:spPr>
        <p:txBody>
          <a:bodyPr wrap="square" lIns="0" tIns="0" rIns="0" bIns="0" rtlCol="0" anchor="ctr"/>
          <a:lstStyle/>
          <a:p>
            <a:pPr marL="0" indent="0">
              <a:buNone/>
            </a:pPr>
            <a:r>
              <a:rPr lang="en-US" sz="1400" b="1">
                <a:solidFill>
                  <a:srgbClr val="0F172A"/>
                </a:solidFill>
                <a:latin typeface="Trebuchet MS" pitchFamily="34" charset="0"/>
                <a:ea typeface="Trebuchet MS" pitchFamily="34" charset="-122"/>
                <a:cs typeface="Trebuchet MS" pitchFamily="34" charset="-120"/>
              </a:rPr>
              <a:t>1. Mobile-First Design
</a:t>
            </a:r>
            <a:endParaRPr lang="en-US" sz="1400"/>
          </a:p>
          <a:p>
            <a:pPr marL="0" indent="0">
              <a:buNone/>
            </a:pPr>
            <a:r>
              <a:rPr lang="en-US" sz="1100">
                <a:solidFill>
                  <a:srgbClr val="475569"/>
                </a:solidFill>
                <a:latin typeface="Calibri" pitchFamily="34" charset="0"/>
                <a:ea typeface="Calibri" pitchFamily="34" charset="-122"/>
                <a:cs typeface="Calibri" pitchFamily="34" charset="-120"/>
              </a:rPr>
              <a:t>Design layouts for mobile screens from day one rather than adapting a complex desktop view at the end.</a:t>
            </a:r>
            <a:endParaRPr lang="en-US" sz="1400"/>
          </a:p>
        </p:txBody>
      </p:sp>
      <p:sp>
        <p:nvSpPr>
          <p:cNvPr id="7" name="Shape 5"/>
          <p:cNvSpPr/>
          <p:nvPr/>
        </p:nvSpPr>
        <p:spPr>
          <a:xfrm>
            <a:off x="447305" y="2941604"/>
            <a:ext cx="3931920" cy="146304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47305" y="2941604"/>
            <a:ext cx="73152" cy="1463040"/>
          </a:xfrm>
          <a:prstGeom prst="rect">
            <a:avLst/>
          </a:prstGeom>
          <a:solidFill>
            <a:srgbClr val="028090"/>
          </a:solidFill>
          <a:ln w="12700">
            <a:solidFill>
              <a:srgbClr val="333333"/>
            </a:solidFill>
            <a:prstDash val="solid"/>
          </a:ln>
        </p:spPr>
        <p:txBody>
          <a:bodyPr/>
          <a:lstStyle/>
          <a:p>
            <a:endParaRPr lang="en-US"/>
          </a:p>
        </p:txBody>
      </p:sp>
      <p:sp>
        <p:nvSpPr>
          <p:cNvPr id="9" name="Text 7"/>
          <p:cNvSpPr/>
          <p:nvPr/>
        </p:nvSpPr>
        <p:spPr>
          <a:xfrm>
            <a:off x="630185" y="3124484"/>
            <a:ext cx="3657600" cy="1097280"/>
          </a:xfrm>
          <a:prstGeom prst="rect">
            <a:avLst/>
          </a:prstGeom>
          <a:noFill/>
          <a:ln/>
        </p:spPr>
        <p:txBody>
          <a:bodyPr wrap="square" lIns="0" tIns="0" rIns="0" bIns="0" rtlCol="0" anchor="ctr"/>
          <a:lstStyle/>
          <a:p>
            <a:pPr marL="0" indent="0">
              <a:buNone/>
            </a:pPr>
            <a:r>
              <a:rPr lang="en-US" sz="1400" b="1">
                <a:solidFill>
                  <a:srgbClr val="0F172A"/>
                </a:solidFill>
                <a:latin typeface="Trebuchet MS"/>
                <a:ea typeface="Trebuchet MS" pitchFamily="34" charset="-122"/>
                <a:cs typeface="Trebuchet MS" pitchFamily="34" charset="-120"/>
              </a:rPr>
              <a:t>3. Thorough Database/Cloud Evaluation
</a:t>
            </a:r>
            <a:endParaRPr lang="en-US" sz="1400">
              <a:latin typeface="Trebuchet MS"/>
            </a:endParaRPr>
          </a:p>
          <a:p>
            <a:pPr marL="0" indent="0">
              <a:buNone/>
            </a:pPr>
            <a:r>
              <a:rPr lang="en-US" sz="1100">
                <a:solidFill>
                  <a:srgbClr val="475569"/>
                </a:solidFill>
                <a:latin typeface="Calibri"/>
                <a:ea typeface="Calibri"/>
                <a:cs typeface="Calibri"/>
              </a:rPr>
              <a:t>Calculate query complexity and pricing schemes before locking in </a:t>
            </a:r>
            <a:r>
              <a:rPr lang="en-US" sz="1100" err="1">
                <a:solidFill>
                  <a:srgbClr val="475569"/>
                </a:solidFill>
                <a:latin typeface="Calibri"/>
                <a:ea typeface="Calibri"/>
                <a:cs typeface="Calibri"/>
              </a:rPr>
              <a:t>Firestore</a:t>
            </a:r>
            <a:r>
              <a:rPr lang="en-US" sz="1100">
                <a:solidFill>
                  <a:srgbClr val="475569"/>
                </a:solidFill>
                <a:latin typeface="Calibri"/>
                <a:ea typeface="Calibri"/>
                <a:cs typeface="Calibri"/>
              </a:rPr>
              <a:t>/GCP, avoiding database migrations.</a:t>
            </a:r>
            <a:endParaRPr lang="en-US" sz="1400">
              <a:latin typeface="Calibri"/>
              <a:ea typeface="Calibri"/>
              <a:cs typeface="Calibri"/>
            </a:endParaRPr>
          </a:p>
        </p:txBody>
      </p:sp>
      <p:sp>
        <p:nvSpPr>
          <p:cNvPr id="10" name="Shape 8"/>
          <p:cNvSpPr/>
          <p:nvPr/>
        </p:nvSpPr>
        <p:spPr>
          <a:xfrm>
            <a:off x="4739185" y="1190255"/>
            <a:ext cx="3931920" cy="146304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11" name="Shape 9"/>
          <p:cNvSpPr/>
          <p:nvPr/>
        </p:nvSpPr>
        <p:spPr>
          <a:xfrm>
            <a:off x="4739185" y="1190255"/>
            <a:ext cx="73152" cy="1463040"/>
          </a:xfrm>
          <a:prstGeom prst="rect">
            <a:avLst/>
          </a:prstGeom>
          <a:solidFill>
            <a:srgbClr val="DC2626"/>
          </a:solidFill>
          <a:ln w="12700">
            <a:solidFill>
              <a:srgbClr val="333333"/>
            </a:solidFill>
            <a:prstDash val="solid"/>
          </a:ln>
        </p:spPr>
        <p:txBody>
          <a:bodyPr/>
          <a:lstStyle/>
          <a:p>
            <a:endParaRPr lang="en-US"/>
          </a:p>
        </p:txBody>
      </p:sp>
      <p:sp>
        <p:nvSpPr>
          <p:cNvPr id="12" name="Text 10"/>
          <p:cNvSpPr/>
          <p:nvPr/>
        </p:nvSpPr>
        <p:spPr>
          <a:xfrm>
            <a:off x="4922065" y="1373135"/>
            <a:ext cx="3657600" cy="1097280"/>
          </a:xfrm>
          <a:prstGeom prst="rect">
            <a:avLst/>
          </a:prstGeom>
          <a:noFill/>
          <a:ln/>
        </p:spPr>
        <p:txBody>
          <a:bodyPr wrap="square" lIns="0" tIns="0" rIns="0" bIns="0" rtlCol="0" anchor="ctr"/>
          <a:lstStyle/>
          <a:p>
            <a:r>
              <a:rPr lang="en-US" sz="1400" b="1">
                <a:solidFill>
                  <a:srgbClr val="0F172A"/>
                </a:solidFill>
                <a:latin typeface="Trebuchet MS"/>
                <a:ea typeface="Trebuchet MS" pitchFamily="34" charset="-122"/>
                <a:cs typeface="Trebuchet MS" pitchFamily="34" charset="-120"/>
              </a:rPr>
              <a:t>2. Automated Code Review Earlier</a:t>
            </a:r>
            <a:endParaRPr lang="en-US" sz="1400" err="1">
              <a:latin typeface="Trebuchet MS"/>
            </a:endParaRPr>
          </a:p>
          <a:p>
            <a:endParaRPr lang="en-US" sz="1400" b="1">
              <a:solidFill>
                <a:srgbClr val="0F172A"/>
              </a:solidFill>
              <a:latin typeface="Trebuchet MS"/>
              <a:ea typeface="Calibri"/>
              <a:cs typeface="Calibri"/>
            </a:endParaRPr>
          </a:p>
          <a:p>
            <a:r>
              <a:rPr lang="en-US" sz="1100">
                <a:solidFill>
                  <a:srgbClr val="475569"/>
                </a:solidFill>
                <a:latin typeface="Calibri"/>
                <a:ea typeface="Calibri"/>
                <a:cs typeface="Calibri"/>
              </a:rPr>
              <a:t>Using automated code review to catch bugs, anti-patterns faster, saving manual review time. Started using it half-way</a:t>
            </a:r>
            <a:endParaRPr lang="en-US"/>
          </a:p>
        </p:txBody>
      </p:sp>
      <p:sp>
        <p:nvSpPr>
          <p:cNvPr id="13" name="Shape 11"/>
          <p:cNvSpPr/>
          <p:nvPr/>
        </p:nvSpPr>
        <p:spPr>
          <a:xfrm>
            <a:off x="4754880" y="2926080"/>
            <a:ext cx="3931920" cy="1463040"/>
          </a:xfrm>
          <a:prstGeom prst="rect">
            <a:avLst/>
          </a:prstGeom>
          <a:solidFill>
            <a:srgbClr val="FFFFFF"/>
          </a:solidFill>
          <a:ln w="12700">
            <a:solidFill>
              <a:srgbClr val="E2E8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4754880" y="2926080"/>
            <a:ext cx="73152" cy="1463040"/>
          </a:xfrm>
          <a:prstGeom prst="rect">
            <a:avLst/>
          </a:prstGeom>
          <a:solidFill>
            <a:srgbClr val="16A34A"/>
          </a:solidFill>
          <a:ln w="12700">
            <a:solidFill>
              <a:srgbClr val="333333"/>
            </a:solidFill>
            <a:prstDash val="solid"/>
          </a:ln>
        </p:spPr>
        <p:txBody>
          <a:bodyPr/>
          <a:lstStyle/>
          <a:p>
            <a:endParaRPr lang="en-US"/>
          </a:p>
        </p:txBody>
      </p:sp>
      <p:sp>
        <p:nvSpPr>
          <p:cNvPr id="15" name="Text 13"/>
          <p:cNvSpPr/>
          <p:nvPr/>
        </p:nvSpPr>
        <p:spPr>
          <a:xfrm>
            <a:off x="4937760" y="3108960"/>
            <a:ext cx="3657600" cy="1097280"/>
          </a:xfrm>
          <a:prstGeom prst="rect">
            <a:avLst/>
          </a:prstGeom>
          <a:noFill/>
          <a:ln/>
        </p:spPr>
        <p:txBody>
          <a:bodyPr wrap="square" lIns="0" tIns="0" rIns="0" bIns="0" rtlCol="0" anchor="ctr"/>
          <a:lstStyle/>
          <a:p>
            <a:r>
              <a:rPr lang="en-US" sz="1400" b="1">
                <a:solidFill>
                  <a:srgbClr val="0F172A"/>
                </a:solidFill>
                <a:latin typeface="Trebuchet MS"/>
                <a:ea typeface="Trebuchet MS" pitchFamily="34" charset="-122"/>
                <a:cs typeface="Trebuchet MS" pitchFamily="34" charset="-120"/>
              </a:rPr>
              <a:t>4. Built a backend from the start
</a:t>
            </a:r>
            <a:endParaRPr lang="en-US" sz="1400">
              <a:latin typeface="Trebuchet MS"/>
            </a:endParaRPr>
          </a:p>
          <a:p>
            <a:r>
              <a:rPr lang="en-US" sz="1100">
                <a:solidFill>
                  <a:srgbClr val="475569"/>
                </a:solidFill>
                <a:latin typeface="Calibri"/>
                <a:ea typeface="Calibri"/>
                <a:cs typeface="Calibri"/>
              </a:rPr>
              <a:t>Features were limited due to focus of the course being just frontend. Building a proper backend from the start would have saved us time and allowed for stretch goals.</a:t>
            </a:r>
          </a:p>
        </p:txBody>
      </p:sp>
      <p:sp>
        <p:nvSpPr>
          <p:cNvPr id="16" name="Text 14"/>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94A3B8"/>
                </a:solidFill>
                <a:latin typeface="Calibri" pitchFamily="34" charset="0"/>
                <a:ea typeface="Calibri" pitchFamily="34" charset="-122"/>
                <a:cs typeface="Calibri" pitchFamily="34" charset="-120"/>
              </a:rPr>
              <a:t>Förseningskartan | UX Prize Presentation</a:t>
            </a:r>
            <a:endParaRPr lang="en-US" sz="1000"/>
          </a:p>
        </p:txBody>
      </p:sp>
      <p:sp>
        <p:nvSpPr>
          <p:cNvPr id="17" name="Text 15"/>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94A3B8"/>
                </a:solidFill>
                <a:latin typeface="Calibri"/>
                <a:ea typeface="Calibri"/>
                <a:cs typeface="Calibri"/>
              </a:rPr>
              <a:t>Slide 9 of 10</a:t>
            </a:r>
            <a:endParaRPr lang="en-US" sz="1000">
              <a:latin typeface="Calibri"/>
              <a:ea typeface="Calibri"/>
              <a:cs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457200" y="-457200"/>
            <a:ext cx="1828800" cy="1828800"/>
          </a:xfrm>
          <a:prstGeom prst="ellipse">
            <a:avLst/>
          </a:prstGeom>
          <a:solidFill>
            <a:srgbClr val="38BDF8">
              <a:alpha val="10000"/>
            </a:srgbClr>
          </a:solidFill>
          <a:ln w="12700">
            <a:solidFill>
              <a:srgbClr val="333333"/>
            </a:solidFill>
            <a:prstDash val="solid"/>
          </a:ln>
        </p:spPr>
        <p:txBody>
          <a:bodyPr/>
          <a:lstStyle/>
          <a:p>
            <a:endParaRPr lang="en-US"/>
          </a:p>
        </p:txBody>
      </p:sp>
      <p:sp>
        <p:nvSpPr>
          <p:cNvPr id="3" name="Text 1"/>
          <p:cNvSpPr/>
          <p:nvPr/>
        </p:nvSpPr>
        <p:spPr>
          <a:xfrm>
            <a:off x="914400" y="187543"/>
            <a:ext cx="7315200" cy="1816517"/>
          </a:xfrm>
          <a:prstGeom prst="rect">
            <a:avLst/>
          </a:prstGeom>
          <a:noFill/>
          <a:ln/>
        </p:spPr>
        <p:txBody>
          <a:bodyPr wrap="square" lIns="0" tIns="0" rIns="0" bIns="0" rtlCol="0" anchor="ctr"/>
          <a:lstStyle/>
          <a:p>
            <a:pPr algn="ctr"/>
            <a:r>
              <a:rPr lang="en-US" sz="4000" b="1">
                <a:solidFill>
                  <a:srgbClr val="FFFFFF"/>
                </a:solidFill>
                <a:latin typeface="Trebuchet MS"/>
                <a:ea typeface="Trebuchet MS" pitchFamily="34" charset="-122"/>
                <a:cs typeface="Trebuchet MS" pitchFamily="34" charset="-120"/>
              </a:rPr>
              <a:t>FÖRSENINGSKARTAN</a:t>
            </a:r>
            <a:r>
              <a:rPr lang="en-US" sz="4000" b="1" dirty="0">
                <a:solidFill>
                  <a:srgbClr val="FFFFFF"/>
                </a:solidFill>
                <a:latin typeface="Trebuchet MS"/>
                <a:ea typeface="Trebuchet MS" pitchFamily="34" charset="-122"/>
                <a:cs typeface="Trebuchet MS" pitchFamily="34" charset="-120"/>
              </a:rPr>
              <a:t>
</a:t>
            </a:r>
            <a:endParaRPr lang="en-US" sz="2000" b="1">
              <a:solidFill>
                <a:srgbClr val="FFFFFF"/>
              </a:solidFill>
              <a:latin typeface="Trebuchet MS"/>
            </a:endParaRPr>
          </a:p>
          <a:p>
            <a:pPr marL="0" indent="0" algn="ctr">
              <a:buNone/>
            </a:pPr>
            <a:r>
              <a:rPr lang="en-US" sz="2000" b="1">
                <a:solidFill>
                  <a:srgbClr val="E0F2FE"/>
                </a:solidFill>
                <a:latin typeface="Calibri" pitchFamily="34" charset="0"/>
                <a:ea typeface="Calibri" pitchFamily="34" charset="-122"/>
                <a:cs typeface="Calibri" pitchFamily="34" charset="-120"/>
              </a:rPr>
              <a:t>Thank you for listening! Any questions?</a:t>
            </a:r>
            <a:endParaRPr lang="en-US" sz="4000"/>
          </a:p>
        </p:txBody>
      </p:sp>
      <p:sp>
        <p:nvSpPr>
          <p:cNvPr id="4" name="Text 2"/>
          <p:cNvSpPr/>
          <p:nvPr/>
        </p:nvSpPr>
        <p:spPr>
          <a:xfrm>
            <a:off x="914400" y="3886200"/>
            <a:ext cx="7315200" cy="914400"/>
          </a:xfrm>
          <a:prstGeom prst="rect">
            <a:avLst/>
          </a:prstGeom>
          <a:noFill/>
          <a:ln/>
        </p:spPr>
        <p:txBody>
          <a:bodyPr wrap="square" lIns="0" tIns="0" rIns="0" bIns="0" rtlCol="0" anchor="ctr"/>
          <a:lstStyle/>
          <a:p>
            <a:pPr marL="0" indent="0" algn="ctr">
              <a:buNone/>
            </a:pPr>
            <a:endParaRPr lang="en-US" sz="1200" b="1" dirty="0">
              <a:solidFill>
                <a:srgbClr val="38BDF8"/>
              </a:solidFill>
              <a:ea typeface="Calibri"/>
              <a:cs typeface="Calibri"/>
            </a:endParaRPr>
          </a:p>
          <a:p>
            <a:pPr marL="0" indent="0" algn="ctr">
              <a:buNone/>
            </a:pPr>
            <a:r>
              <a:rPr lang="en-US" sz="1200" b="1" dirty="0">
                <a:solidFill>
                  <a:srgbClr val="E2E8F0"/>
                </a:solidFill>
                <a:latin typeface="Calibri"/>
                <a:ea typeface="Calibri"/>
                <a:cs typeface="Calibri"/>
              </a:rPr>
              <a:t>Source Code: </a:t>
            </a:r>
            <a:r>
              <a:rPr lang="en-US" sz="1200" b="1" dirty="0">
                <a:solidFill>
                  <a:srgbClr val="38BDF8"/>
                </a:solidFill>
                <a:latin typeface="Calibri"/>
                <a:ea typeface="Calibri"/>
                <a:cs typeface="Calibri"/>
              </a:rPr>
              <a:t>github.com/</a:t>
            </a:r>
            <a:r>
              <a:rPr lang="en-US" sz="1200" b="1" dirty="0" err="1">
                <a:solidFill>
                  <a:srgbClr val="38BDF8"/>
                </a:solidFill>
                <a:latin typeface="Calibri"/>
                <a:ea typeface="Calibri"/>
                <a:cs typeface="Calibri"/>
              </a:rPr>
              <a:t>mattiaskvist</a:t>
            </a:r>
            <a:r>
              <a:rPr lang="en-US" sz="1200" b="1" dirty="0">
                <a:solidFill>
                  <a:srgbClr val="38BDF8"/>
                </a:solidFill>
                <a:latin typeface="Calibri"/>
                <a:ea typeface="Calibri"/>
                <a:cs typeface="Calibri"/>
              </a:rPr>
              <a:t>/</a:t>
            </a:r>
            <a:r>
              <a:rPr lang="en-US" sz="1200" b="1" dirty="0" err="1">
                <a:solidFill>
                  <a:srgbClr val="38BDF8"/>
                </a:solidFill>
                <a:latin typeface="Calibri"/>
                <a:ea typeface="Calibri"/>
                <a:cs typeface="Calibri"/>
              </a:rPr>
              <a:t>forseningskartan</a:t>
            </a:r>
            <a:endParaRPr lang="en-US" sz="1200" dirty="0" err="1">
              <a:latin typeface="Calibri"/>
              <a:ea typeface="Calibri"/>
              <a:cs typeface="Calibri"/>
            </a:endParaRPr>
          </a:p>
        </p:txBody>
      </p:sp>
      <p:sp>
        <p:nvSpPr>
          <p:cNvPr id="5" name="Text 3"/>
          <p:cNvSpPr/>
          <p:nvPr/>
        </p:nvSpPr>
        <p:spPr>
          <a:xfrm>
            <a:off x="457200" y="4800600"/>
            <a:ext cx="6400800" cy="274320"/>
          </a:xfrm>
          <a:prstGeom prst="rect">
            <a:avLst/>
          </a:prstGeom>
          <a:noFill/>
          <a:ln/>
        </p:spPr>
        <p:txBody>
          <a:bodyPr wrap="square" lIns="0" tIns="0" rIns="0" bIns="0" rtlCol="0" anchor="ctr"/>
          <a:lstStyle/>
          <a:p>
            <a:pPr marL="0" indent="0">
              <a:buNone/>
            </a:pPr>
            <a:r>
              <a:rPr lang="en-US" sz="1000">
                <a:solidFill>
                  <a:srgbClr val="64748B"/>
                </a:solidFill>
                <a:latin typeface="Calibri" pitchFamily="34" charset="0"/>
                <a:ea typeface="Calibri" pitchFamily="34" charset="-122"/>
                <a:cs typeface="Calibri" pitchFamily="34" charset="-120"/>
              </a:rPr>
              <a:t>Förseningskartan | UX Prize Presentation</a:t>
            </a:r>
            <a:endParaRPr lang="en-US" sz="1000"/>
          </a:p>
        </p:txBody>
      </p:sp>
      <p:sp>
        <p:nvSpPr>
          <p:cNvPr id="6" name="Text 4"/>
          <p:cNvSpPr/>
          <p:nvPr/>
        </p:nvSpPr>
        <p:spPr>
          <a:xfrm>
            <a:off x="7315200" y="4800600"/>
            <a:ext cx="1371600" cy="274320"/>
          </a:xfrm>
          <a:prstGeom prst="rect">
            <a:avLst/>
          </a:prstGeom>
          <a:noFill/>
          <a:ln/>
        </p:spPr>
        <p:txBody>
          <a:bodyPr wrap="square" lIns="0" tIns="0" rIns="0" bIns="0" rtlCol="0" anchor="ctr"/>
          <a:lstStyle/>
          <a:p>
            <a:pPr marL="0" indent="0" algn="r">
              <a:buNone/>
            </a:pPr>
            <a:r>
              <a:rPr lang="en-US" sz="1000">
                <a:solidFill>
                  <a:srgbClr val="64748B"/>
                </a:solidFill>
                <a:latin typeface="Calibri"/>
                <a:ea typeface="Calibri"/>
                <a:cs typeface="Calibri"/>
              </a:rPr>
              <a:t>Slide 10 of 10</a:t>
            </a:r>
            <a:endParaRPr lang="en-US" sz="1000">
              <a:latin typeface="Calibri"/>
              <a:ea typeface="Calibri"/>
              <a:cs typeface="Calibri"/>
            </a:endParaRPr>
          </a:p>
        </p:txBody>
      </p:sp>
      <p:pic>
        <p:nvPicPr>
          <p:cNvPr id="7" name="Bildobjekt 6" descr="En bild som visar mönster, symbol, Grafik, logotyp&#10;&#10;AI-genererat innehåll kan vara felaktigt.">
            <a:extLst>
              <a:ext uri="{FF2B5EF4-FFF2-40B4-BE49-F238E27FC236}">
                <a16:creationId xmlns:a16="http://schemas.microsoft.com/office/drawing/2014/main" id="{B1B9C0D6-6237-2D40-3B96-C9DB6EC20764}"/>
              </a:ext>
            </a:extLst>
          </p:cNvPr>
          <p:cNvPicPr>
            <a:picLocks noChangeAspect="1"/>
          </p:cNvPicPr>
          <p:nvPr/>
        </p:nvPicPr>
        <p:blipFill>
          <a:blip r:embed="rId3"/>
          <a:stretch>
            <a:fillRect/>
          </a:stretch>
        </p:blipFill>
        <p:spPr>
          <a:xfrm>
            <a:off x="3577042" y="2002272"/>
            <a:ext cx="1995067" cy="195760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10</Slides>
  <Notes>10</Notes>
  <HiddenSlides>0</HiddenSlide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Förseningskartan — UX Prize Presentation</dc:title>
  <dc:subject>PptxGenJS Presentation</dc:subject>
  <dc:creator>Daniel Ruijs &amp; Mattias Kvist</dc:creator>
  <cp:revision>31</cp:revision>
  <dcterms:created xsi:type="dcterms:W3CDTF">2026-05-24T15:03:59Z</dcterms:created>
  <dcterms:modified xsi:type="dcterms:W3CDTF">2026-05-28T08:58:07Z</dcterms:modified>
</cp:coreProperties>
</file>